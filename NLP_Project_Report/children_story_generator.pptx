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b="1" sz="1400">
                <a:solidFill>
                  <a:srgbClr val="1B1B1F"/>
                </a:solidFill>
                <a:latin typeface="Fraunces"/>
              </a:rPr>
              <a:t>Story length (words)</a:t>
            </a:r>
          </a:p>
        </c:rich>
      </c:tx>
      <c:layout/>
      <c:overlay val="0"/>
    </c:title>
    <c:autoTitleDeleted val="0"/>
    <c:plotArea>
      <c:barChart>
        <c:barDir val="col"/>
        <c:grouping val="clustered"/>
        <c:ser>
          <c:idx val="0"/>
          <c:order val="0"/>
          <c:tx>
            <c:strRef>
              <c:f>Sheet1!$B$1</c:f>
              <c:strCache>
                <c:ptCount val="1"/>
                <c:pt idx="0">
                  <c:v>Stories</c:v>
                </c:pt>
              </c:strCache>
            </c:strRef>
          </c:tx>
          <c:spPr>
            <a:solidFill>
              <a:srgbClr val="1F5B4D"/>
            </a:solidFill>
            <a:ln w="31750">
              <a:solidFill>
                <a:srgbClr val="1F5B4D"/>
              </a:solidFill>
            </a:ln>
          </c:spPr>
          <c:cat>
            <c:strRef>
              <c:f>Sheet1!$A$2:$A$13</c:f>
              <c:strCache>
                <c:ptCount val="12"/>
                <c:pt idx="0">
                  <c:v>50</c:v>
                </c:pt>
                <c:pt idx="1">
                  <c:v>100</c:v>
                </c:pt>
                <c:pt idx="2">
                  <c:v>150</c:v>
                </c:pt>
                <c:pt idx="3">
                  <c:v>200</c:v>
                </c:pt>
                <c:pt idx="4">
                  <c:v>250</c:v>
                </c:pt>
                <c:pt idx="5">
                  <c:v>300</c:v>
                </c:pt>
                <c:pt idx="6">
                  <c:v>350</c:v>
                </c:pt>
                <c:pt idx="7">
                  <c:v>400</c:v>
                </c:pt>
                <c:pt idx="8">
                  <c:v>450</c:v>
                </c:pt>
                <c:pt idx="9">
                  <c:v>500</c:v>
                </c:pt>
                <c:pt idx="10">
                  <c:v>550</c:v>
                </c:pt>
                <c:pt idx="11">
                  <c:v>600</c:v>
                </c:pt>
              </c:strCache>
            </c:strRef>
          </c:cat>
          <c:val>
            <c:numRef>
              <c:f>Sheet1!$B$2:$B$13</c:f>
              <c:numCache>
                <c:formatCode>General</c:formatCode>
                <c:ptCount val="12"/>
                <c:pt idx="0">
                  <c:v>10</c:v>
                </c:pt>
                <c:pt idx="1">
                  <c:v>70</c:v>
                </c:pt>
                <c:pt idx="2">
                  <c:v>200</c:v>
                </c:pt>
                <c:pt idx="3">
                  <c:v>380</c:v>
                </c:pt>
                <c:pt idx="4">
                  <c:v>580</c:v>
                </c:pt>
                <c:pt idx="5">
                  <c:v>710</c:v>
                </c:pt>
                <c:pt idx="6">
                  <c:v>690</c:v>
                </c:pt>
                <c:pt idx="7">
                  <c:v>540</c:v>
                </c:pt>
                <c:pt idx="8">
                  <c:v>360</c:v>
                </c:pt>
                <c:pt idx="9">
                  <c:v>200</c:v>
                </c:pt>
                <c:pt idx="10">
                  <c:v>90</c:v>
                </c:pt>
                <c:pt idx="11">
                  <c:v>30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85861"/>
                </a:solidFill>
                <a:latin typeface="Space Grotesk"/>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100">
                <a:solidFill>
                  <a:srgbClr val="585861"/>
                </a:solidFill>
                <a:latin typeface="Space Grotesk"/>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b="1" sz="1400">
                <a:solidFill>
                  <a:srgbClr val="1B1B1F"/>
                </a:solidFill>
                <a:latin typeface="Fraunces"/>
              </a:rPr>
              <a:t>Samples per age band</a:t>
            </a:r>
          </a:p>
        </c:rich>
      </c:tx>
      <c:layout/>
      <c:overlay val="0"/>
    </c:title>
    <c:autoTitleDeleted val="0"/>
    <c:plotArea>
      <c:barChart>
        <c:barDir val="col"/>
        <c:grouping val="clustered"/>
        <c:ser>
          <c:idx val="0"/>
          <c:order val="0"/>
          <c:tx>
            <c:strRef>
              <c:f>Sheet1!$B$1</c:f>
              <c:strCache>
                <c:ptCount val="1"/>
                <c:pt idx="0">
                  <c:v>Samples</c:v>
                </c:pt>
              </c:strCache>
            </c:strRef>
          </c:tx>
          <c:spPr>
            <a:solidFill>
              <a:srgbClr val="1F5B4D"/>
            </a:solidFill>
            <a:ln w="31750">
              <a:solidFill>
                <a:srgbClr val="1F5B4D"/>
              </a:solidFill>
            </a:ln>
          </c:spPr>
          <c:cat>
            <c:strRef>
              <c:f>Sheet1!$A$2:$A$6</c:f>
              <c:strCache>
                <c:ptCount val="5"/>
                <c:pt idx="0">
                  <c:v>3-4</c:v>
                </c:pt>
                <c:pt idx="1">
                  <c:v>5-6</c:v>
                </c:pt>
                <c:pt idx="2">
                  <c:v>7-8</c:v>
                </c:pt>
                <c:pt idx="3">
                  <c:v>9-10</c:v>
                </c:pt>
                <c:pt idx="4">
                  <c:v>11-12</c:v>
                </c:pt>
              </c:strCache>
            </c:strRef>
          </c:cat>
          <c:val>
            <c:numRef>
              <c:f>Sheet1!$B$2:$B$6</c:f>
              <c:numCache>
                <c:formatCode>General</c:formatCode>
                <c:ptCount val="5"/>
                <c:pt idx="0">
                  <c:v>2000</c:v>
                </c:pt>
                <c:pt idx="1">
                  <c:v>2000</c:v>
                </c:pt>
                <c:pt idx="2">
                  <c:v>2000</c:v>
                </c:pt>
                <c:pt idx="3">
                  <c:v>2000</c:v>
                </c:pt>
                <c:pt idx="4">
                  <c:v>2000</c:v>
                </c:pt>
              </c:numCache>
            </c:numRef>
          </c:val>
        </c:ser>
        <c:dLbls>
          <c:txPr>
            <a:bodyPr/>
            <a:lstStyle/>
            <a:p>
              <a:pPr>
                <a:defRPr sz="1100">
                  <a:solidFill>
                    <a:srgbClr val="1B1B1F"/>
                  </a:solidFill>
                  <a:latin typeface="Space Grotesk"/>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85861"/>
                </a:solidFill>
                <a:latin typeface="Space Grotesk"/>
              </a:defRPr>
            </a:pPr>
          </a:p>
        </c:txPr>
        <c:crossAx val="-2113994440"/>
        <c:crosses val="autoZero"/>
        <c:auto val="1"/>
        <c:lblAlgn val="ctr"/>
        <c:lblOffset val="100"/>
        <c:noMultiLvlLbl val="0"/>
      </c:catAx>
      <c:valAx>
        <c:axId val="-2113994440"/>
        <c:scaling>
          <c:max val="2500.0"/>
          <c:min val="0.0"/>
        </c:scaling>
        <c:delete val="0"/>
        <c:axPos val="l"/>
        <c:majorGridlines/>
        <c:majorTickMark val="out"/>
        <c:minorTickMark val="none"/>
        <c:tickLblPos val="nextTo"/>
        <c:txPr>
          <a:bodyPr/>
          <a:lstStyle/>
          <a:p>
            <a:pPr>
              <a:defRPr sz="1100">
                <a:solidFill>
                  <a:srgbClr val="585861"/>
                </a:solidFill>
                <a:latin typeface="Space Grotesk"/>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b="1" sz="1500">
                <a:solidFill>
                  <a:srgbClr val="1B1B1F"/>
                </a:solidFill>
                <a:latin typeface="Fraunces"/>
              </a:rPr>
              <a:t>Training memory by regime (GB, 2B model)</a:t>
            </a:r>
          </a:p>
        </c:rich>
      </c:tx>
      <c:layout/>
      <c:overlay val="0"/>
    </c:title>
    <c:autoTitleDeleted val="0"/>
    <c:plotArea>
      <c:barChart>
        <c:barDir val="col"/>
        <c:grouping val="clustered"/>
        <c:ser>
          <c:idx val="0"/>
          <c:order val="0"/>
          <c:tx>
            <c:strRef>
              <c:f>Sheet1!$B$1</c:f>
              <c:strCache>
                <c:ptCount val="1"/>
                <c:pt idx="0">
                  <c:v>Training memory (GB)</c:v>
                </c:pt>
              </c:strCache>
            </c:strRef>
          </c:tx>
          <c:spPr>
            <a:solidFill>
              <a:srgbClr val="1F5B4D"/>
            </a:solidFill>
            <a:ln w="31750">
              <a:solidFill>
                <a:srgbClr val="1F5B4D"/>
              </a:solidFill>
            </a:ln>
          </c:spPr>
          <c:cat>
            <c:strRef>
              <c:f>Sheet1!$A$2:$A$4</c:f>
              <c:strCache>
                <c:ptCount val="3"/>
                <c:pt idx="0">
                  <c:v>FP16 full FT</c:v>
                </c:pt>
                <c:pt idx="1">
                  <c:v>8-bit</c:v>
                </c:pt>
                <c:pt idx="2">
                  <c:v>QLoRA NF4</c:v>
                </c:pt>
              </c:strCache>
            </c:strRef>
          </c:cat>
          <c:val>
            <c:numRef>
              <c:f>Sheet1!$B$2:$B$4</c:f>
              <c:numCache>
                <c:formatCode>General</c:formatCode>
                <c:ptCount val="3"/>
                <c:pt idx="0">
                  <c:v>16.0</c:v>
                </c:pt>
                <c:pt idx="1">
                  <c:v>9.0</c:v>
                </c:pt>
                <c:pt idx="2">
                  <c:v>6.0</c:v>
                </c:pt>
              </c:numCache>
            </c:numRef>
          </c:val>
        </c:ser>
        <c:dLbls>
          <c:numFmt formatCode="0.0&quot; GB&quot;" sourceLinked="0"/>
          <c:txPr>
            <a:bodyPr/>
            <a:lstStyle/>
            <a:p>
              <a:pPr>
                <a:defRPr sz="1300" b="1">
                  <a:solidFill>
                    <a:srgbClr val="1B1B1F"/>
                  </a:solidFill>
                  <a:latin typeface="Space Grotesk"/>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85861"/>
                </a:solidFill>
                <a:latin typeface="Space Grotesk"/>
              </a:defRPr>
            </a:pPr>
          </a:p>
        </c:txPr>
        <c:crossAx val="-2113994440"/>
        <c:crosses val="autoZero"/>
        <c:auto val="1"/>
        <c:lblAlgn val="ctr"/>
        <c:lblOffset val="100"/>
        <c:noMultiLvlLbl val="0"/>
      </c:catAx>
      <c:valAx>
        <c:axId val="-2113994440"/>
        <c:scaling>
          <c:max val="20.0"/>
          <c:min val="0.0"/>
        </c:scaling>
        <c:delete val="0"/>
        <c:axPos val="l"/>
        <c:majorGridlines/>
        <c:majorTickMark val="out"/>
        <c:minorTickMark val="none"/>
        <c:tickLblPos val="nextTo"/>
        <c:txPr>
          <a:bodyPr/>
          <a:lstStyle/>
          <a:p>
            <a:pPr>
              <a:defRPr sz="1100">
                <a:solidFill>
                  <a:srgbClr val="585861"/>
                </a:solidFill>
                <a:latin typeface="Space Grotesk"/>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b="1" sz="1500">
                <a:solidFill>
                  <a:srgbClr val="1B1B1F"/>
                </a:solidFill>
                <a:latin typeface="Fraunces"/>
              </a:rPr>
              <a:t>Training loss vs. optimizer steps</a:t>
            </a:r>
          </a:p>
        </c:rich>
      </c:tx>
      <c:layout/>
      <c:overlay val="0"/>
    </c:title>
    <c:autoTitleDeleted val="0"/>
    <c:plotArea>
      <c:lineChart>
        <c:grouping val="standard"/>
        <c:varyColors val="0"/>
        <c:ser>
          <c:idx val="0"/>
          <c:order val="0"/>
          <c:tx>
            <c:strRef>
              <c:f>Sheet1!$B$1</c:f>
              <c:strCache>
                <c:ptCount val="1"/>
                <c:pt idx="0">
                  <c:v>Cross-entropy loss</c:v>
                </c:pt>
              </c:strCache>
            </c:strRef>
          </c:tx>
          <c:spPr>
            <a:solidFill>
              <a:srgbClr val="1F5B4D"/>
            </a:solidFill>
            <a:ln w="31750">
              <a:solidFill>
                <a:srgbClr val="1F5B4D"/>
              </a:solidFill>
            </a:ln>
          </c:spPr>
          <c:marker>
            <c:symbol val="circle"/>
            <c:size val="8"/>
            <c:spPr>
              <a:solidFill>
                <a:srgbClr val="E98D5C"/>
              </a:solidFill>
              <a:ln w="9525">
                <a:solidFill>
                  <a:srgbClr val="E98D5C"/>
                </a:solidFill>
              </a:ln>
            </c:spPr>
          </c:marker>
          <c:cat>
            <c:strRef>
              <c:f>Sheet1!$A$2:$A$15</c:f>
              <c:strCache>
                <c:ptCount val="14"/>
                <c:pt idx="0">
                  <c:v>20</c:v>
                </c:pt>
                <c:pt idx="1">
                  <c:v>40</c:v>
                </c:pt>
                <c:pt idx="2">
                  <c:v>60</c:v>
                </c:pt>
                <c:pt idx="3">
                  <c:v>80</c:v>
                </c:pt>
                <c:pt idx="4">
                  <c:v>100</c:v>
                </c:pt>
                <c:pt idx="5">
                  <c:v>120</c:v>
                </c:pt>
                <c:pt idx="6">
                  <c:v>140</c:v>
                </c:pt>
                <c:pt idx="7">
                  <c:v>160</c:v>
                </c:pt>
                <c:pt idx="8">
                  <c:v>180</c:v>
                </c:pt>
                <c:pt idx="9">
                  <c:v>200</c:v>
                </c:pt>
                <c:pt idx="10">
                  <c:v>220</c:v>
                </c:pt>
                <c:pt idx="11">
                  <c:v>240</c:v>
                </c:pt>
                <c:pt idx="12">
                  <c:v>260</c:v>
                </c:pt>
                <c:pt idx="13">
                  <c:v>280</c:v>
                </c:pt>
              </c:strCache>
            </c:strRef>
          </c:cat>
          <c:val>
            <c:numRef>
              <c:f>Sheet1!$B$2:$B$15</c:f>
              <c:numCache>
                <c:formatCode>General</c:formatCode>
                <c:ptCount val="14"/>
                <c:pt idx="0">
                  <c:v>4.13</c:v>
                </c:pt>
                <c:pt idx="1">
                  <c:v>1.35</c:v>
                </c:pt>
                <c:pt idx="2">
                  <c:v>1.25</c:v>
                </c:pt>
                <c:pt idx="3">
                  <c:v>1.1</c:v>
                </c:pt>
                <c:pt idx="4">
                  <c:v>1.1</c:v>
                </c:pt>
                <c:pt idx="5">
                  <c:v>1.08</c:v>
                </c:pt>
                <c:pt idx="6">
                  <c:v>1.05</c:v>
                </c:pt>
                <c:pt idx="7">
                  <c:v>1.07</c:v>
                </c:pt>
                <c:pt idx="8">
                  <c:v>1.12</c:v>
                </c:pt>
                <c:pt idx="9">
                  <c:v>1.09</c:v>
                </c:pt>
                <c:pt idx="10">
                  <c:v>1.08</c:v>
                </c:pt>
                <c:pt idx="11">
                  <c:v>1.06</c:v>
                </c:pt>
                <c:pt idx="12">
                  <c:v>1.06</c:v>
                </c:pt>
                <c:pt idx="13">
                  <c:v>1.02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solidFill>
                  <a:srgbClr val="585861"/>
                </a:solidFill>
                <a:latin typeface="Space Grotesk"/>
              </a:defRPr>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100">
                <a:solidFill>
                  <a:srgbClr val="585861"/>
                </a:solidFill>
                <a:latin typeface="Space Grotesk"/>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b="1" sz="1500">
                <a:solidFill>
                  <a:srgbClr val="1B1B1F"/>
                </a:solidFill>
                <a:latin typeface="Fraunces"/>
              </a:rPr>
              <a:t>Artifact size on disk (GB)</a:t>
            </a:r>
          </a:p>
        </c:rich>
      </c:tx>
      <c:layout/>
      <c:overlay val="0"/>
    </c:title>
    <c:autoTitleDeleted val="0"/>
    <c:plotArea>
      <c:barChart>
        <c:barDir val="col"/>
        <c:grouping val="clustered"/>
        <c:ser>
          <c:idx val="0"/>
          <c:order val="0"/>
          <c:tx>
            <c:strRef>
              <c:f>Sheet1!$B$1</c:f>
              <c:strCache>
                <c:ptCount val="1"/>
                <c:pt idx="0">
                  <c:v>Size (GB)</c:v>
                </c:pt>
              </c:strCache>
            </c:strRef>
          </c:tx>
          <c:spPr>
            <a:solidFill>
              <a:srgbClr val="1F5B4D"/>
            </a:solidFill>
            <a:ln w="31750">
              <a:solidFill>
                <a:srgbClr val="1F5B4D"/>
              </a:solidFill>
            </a:ln>
          </c:spPr>
          <c:cat>
            <c:strRef>
              <c:f>Sheet1!$A$2:$A$4</c:f>
              <c:strCache>
                <c:ptCount val="3"/>
                <c:pt idx="0">
                  <c:v>FP16 merged</c:v>
                </c:pt>
                <c:pt idx="1">
                  <c:v>Q4_K_M GGUF</c:v>
                </c:pt>
                <c:pt idx="2">
                  <c:v>LoRA adapter</c:v>
                </c:pt>
              </c:strCache>
            </c:strRef>
          </c:cat>
          <c:val>
            <c:numRef>
              <c:f>Sheet1!$B$2:$B$4</c:f>
              <c:numCache>
                <c:formatCode>General</c:formatCode>
                <c:ptCount val="3"/>
                <c:pt idx="0">
                  <c:v>9.27</c:v>
                </c:pt>
                <c:pt idx="1">
                  <c:v>3.42</c:v>
                </c:pt>
                <c:pt idx="2">
                  <c:v>0.12</c:v>
                </c:pt>
              </c:numCache>
            </c:numRef>
          </c:val>
        </c:ser>
        <c:dLbls>
          <c:numFmt formatCode="0.00&quot; GB&quot;" sourceLinked="0"/>
          <c:txPr>
            <a:bodyPr/>
            <a:lstStyle/>
            <a:p>
              <a:pPr>
                <a:defRPr sz="1300" b="1">
                  <a:solidFill>
                    <a:srgbClr val="1B1B1F"/>
                  </a:solidFill>
                  <a:latin typeface="Space Grotesk"/>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85861"/>
                </a:solidFill>
                <a:latin typeface="Space Grotesk"/>
              </a:defRPr>
            </a:pPr>
          </a:p>
        </c:txPr>
        <c:crossAx val="-2113994440"/>
        <c:crosses val="autoZero"/>
        <c:auto val="1"/>
        <c:lblAlgn val="ctr"/>
        <c:lblOffset val="100"/>
        <c:noMultiLvlLbl val="0"/>
      </c:catAx>
      <c:valAx>
        <c:axId val="-2113994440"/>
        <c:scaling>
          <c:max val="11.0"/>
          <c:min val="0.0"/>
        </c:scaling>
        <c:delete val="0"/>
        <c:axPos val="l"/>
        <c:majorGridlines/>
        <c:majorTickMark val="out"/>
        <c:minorTickMark val="none"/>
        <c:tickLblPos val="nextTo"/>
        <c:txPr>
          <a:bodyPr/>
          <a:lstStyle/>
          <a:p>
            <a:pPr>
              <a:defRPr sz="1100">
                <a:solidFill>
                  <a:srgbClr val="585861"/>
                </a:solidFill>
                <a:latin typeface="Space Grotesk"/>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Welcome the jury and the audience. Introduce ourselves: I am Benhammadi Lokmane and my partner is Khedim Youcef, IASD group one. The topic is fine-tuning large language models to generate children's stories that adapt their vocabulary and sentence complexity to a target age band. Over the next ten minutes we will walk through the problem, our solution, our six-step approach, a live demo, and finally takeaways and limitations. I will keep slides short and pause for questions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Quick map of where we are going. Five acts. The first is framing the problem: domain-specific story generation is harder than it looks for a stock LLM. Second is our solution at a glance — what we picked and why. Third is our approach, broken into six concrete steps from dataset to deployment. Fourth is a live demo on the model running locally. Fifth is conclusions, limits and future work. Total target time is around ten minutes, leaving time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Large language models are remarkable zero-shot generalists, but when you ask them to write age-specific children's stories they drift. They ignore the age prefix, slip into adult vocabulary, and lose the simple beginning-middle-end structure that a child's storybook needs. The temptation is to fine-tune, but fully fine-tuning a 2-billion-parameter model in FP16 takes more than 16 gigabytes of VRAM. On a Kaggle T4, that is out of reach. So the real question becomes: how do we adapt a high-quality model under a hard hardware ceiling?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Three constraints, and they all bite at once. First, style adaptation — the same model has to write very differently for a three-year-old and an eleven-year-old. Vocabulary, sentence length, even tone. Second, structural constraints — children's stories need a clear arc and safe themes, which is not something a generic instruction-tuned model gives you for free. Third, resource constraints — full fine-tuning of a 2B model needs more than 16 gigabytes of VRAM, more than a single Kaggle T4 holds. So we need a method that satisfies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Today there are two paths and neither one fits. Path A is the easy one — keep the model frozen and prompt it. The catch is that style is not learned: the model ignores the age prefix and writes in a generic adult register. Path B is full fine-tuning. It works, but it needs more than 16 gigabytes of VRAM for a 2B model and produces a multi-gigabyte checkpoint that is hard to share. So we need a third path that combines the cheap training of A with the learned style of B. That is QLoRA,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This is the pipeline in one picture. Five stages. We start with a curated children's story dataset of ten thousand examples across five age bands. We fine-tune Gemma 4 E2B-IT with QLoRA — that is the trick that lets us train a 2B model on a single Kaggle T4. We merge the LoRA adapter back into the base model in FP16 on CPU. We convert that to GGUF and quantize to Q4_K_M, which gets us from 9.27 gigabytes down to 3.42. Finally we serve it through a FastAPI app that streams tokens to a small web UI. Same quality as full fine-tuning, but it runs on consumer CPU.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Why did we pick Gemma 4 E2B-IT specifically. Three reasons. First, per-layer embeddings — the E in E2B stands for effective: a secondary embedding feeds every decoder layer, so you get the depth of a larger model with the active-parameter cost of a 2B one. Second, the attention pattern alternates between sliding-window local attention and full global attention, with a shared KV cache; this is what lets it handle a 128 K-token context without blowing up memory. Third, it was designed for the edge — it fits on a 16 GB GPU for QLoRA fine-tuning, and after Q4_K_M quantization it runs on a CPU.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This is the table from the Gemma 4 model card. The family has E2B, E4B and a much larger 31B dense variant. We picked E2B because it is the smallest model that still keeps the full architecture: 35 layers, sliding and global attention, 128 K context, 262 K vocabulary, and 2.3 billion effective parameters. E4B doubles the active parameters but the marginal quality gain on children's stories did not justify doubling our memory budget. The 31B is well outside what we can fine-tune.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We deliberately set up a two-by-two. Rows: fine-tuned versus zero-shot baseline. Columns: small versus large. Top-left, GPT-2 Small fully fine-tuned — small enough we did not need QLoRA. Top-right, Gemma 4 E2B-IT with QLoRA and GGUF, which is our headline model. Bottom-left, GPT-2 XL zero-shot — same family as top-left, ten times the parameters, no fine-tuning. Bottom-right, Gemma 4 E4B-IT zero-shot in GGUF. This grid lets us answer two questions separately: does fine-tuning help on this domain, and does scale alone make up for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This is the roadmap for the next thirteen slides. Six steps. The first four are about training the model cheaply: curate the dataset, condition it on age prefixes, set up QLoRA, run on Kaggle. The last two are about deploying and judging the result: merge and quantize the weights, then deploy and evaluate. I will spend the most time on steps 3, 4 and 5 — they are where the technical decisions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one is the dataset. We started with the Children-Stories-Collection by user ajibawa-2023 on Hugging Face. Roughly nine hundred thousand stories — we did not need all of them. We subsampled ten thousand to fit Kaggle's compute quota, ninety-five percent for training and five percent for evaluation. We chose five age levels: 3-4, 5-6, 7-8, 9-10, and 11-12, and we used round-robin assignment so each level has exactly two thousand examples. The right side of the slide is a screenshot of the HF dataset viewer showing the prompt and text columns.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two is how we tell the model which age we want. We wrap each training example in Gemma's native chat template. The user turn starts with a level prefix — Age 5-6, Age 11-12, and so on — and a short style hint such as "short sentences." The model turn starts with the actual story. The reason this matters is that we do not need five separate models. One checkpoint serves all five age bands, and switching age at inference time is just changing a string in the prompt.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two also covers the dataset statistics. Three charts. Left, the distribution of story length in words — a bell shape centered around three hundred and twenty, median three hundred and twenty-one, mean three hundred and twenty-four. Middle, samples per age band — exactly two thousand per band thanks to round-robin assignment. Right, the token-length summary: mean five hundred and ninety-one tokens, standard deviation seventy-one, minimum three hundred and eighty-six, maximum eight hundred and eighty-six. The takeaway is that we deliberately balanced length across bands so the model must learn style, not story length.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three is the heart of the technical contribution: QLoRA. The diagram on the left shows the idea. The pre-trained weights — that gray box labeled W — stay frozen. We add two small trainable matrices, A and B, whose product is the same shape as W but has a much lower rank. During training only A and B receive gradients. The quantized part — the Q in QLoRA — is that we load the base weights in 4-bit NF4, which cuts the memory footprint by another factor of four. After training we merge A times B back into W, so at inference the model looks identical to a fully fine-tuned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Why does QLoRA matter? Because of this chart. Full fine-tuning of a 2B model in FP16 needs about sixteen gigabytes of VRAM — more than a single Kaggle T4 has. 8-bit gets us down to about nine. QLoRA in 4-bit NF4 drops it further to roughly six gigabytes. That number is what fits on one T4. Crossing that line is what makes the entire project doable on free-tier hardware.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four is training. These are our actual training arguments. Per-device batch size is one — that is forced by Gemma's two-hundred-and-fifty-six-thousand vocabulary, which makes cross-entropy memory-expensive. We use gradient accumulation of sixteen to simulate a true batch of sixteen. The optimizer is paged Adam in eight-bit, which keeps optimizer state on CPU when needed. Learning rate two-times-ten-to-the-minus-four, FP16 mixed precision, gradient checkpointing on, and we disable in-loop eval because every eval pass risked an OOM. The right side lists the four mitigations that kept us inside the memory budget.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Quick context for the run: dual T4 GPUs on Kaggle, sixteen gigabytes each. Nine thousand five hundred train examples, five hundred for evaluation. One epoch, which comes out to about two hundred and eighty optimizer steps with our gradient-accumulation setting. The bottom panel names the three things that kept us alive: a paged eight-bit optimizer that pages state to CPU, gradient checkpointing that trades compute for memory, and the expandable-segments CUDA allocator that avoids fragmentation when the vocabulary is enormous.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Here is the actual training loss curve from our run. The dramatic drop in the first eighty steps — from roughly four-point-one to one-point-one — is the model learning the chat-template and age-prefix structure. After that it settles into slow refinement, oscillating around one. We only ran one epoch; the curve flattens early, which suggests one epoch is enough for stylistic adaptation on this dataset. More epochs would buy us very little for the compute they cost.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five is the deployment pipeline. Four stages. Stage one was the Kaggle training run we just talked about — it produces a small LoRA adapter. Stage two merges that adapter back into the base model in FP16, which we did on CPU because the merged model is too big to fit in T4 memory in float-sixteen. Stage three calls llama.cpp's convert script to turn the safetensors model into GGUF, the format llama.cpp expects. Stage four quantizes that GGUF down to Q4_K_M — four-bit, K-quants, medium variant. Importantly, after stage one we never touch a GPU again.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And here is the payoff. Three columns. The merged FP16 checkpoint is nine-point-two-seven gigabytes — already shippable but heavy. Quantizing to Q4_K_M brings it down to three-point-four-two gigabytes, sixty-three percent smaller, and that is what we actually deploy. The third column is the LoRA adapter alone, just one hundred and twenty megabytes — small enough to email. The quantize step itself took about three-point-two minutes on a Kaggle CPU.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six, deliverables. Everything we trained is on Hugging Face under the user khedim. Three repos. The first, NLP-MINI-PROJECT, holds the fine-tuned GPT-2 Small and the root for the Gemma GGUF folder. The second is the gemma-e2b subfolder inside that repo, containing the actual three-point-four-two-gigabyte GGUF file. The third, the adapter repo, holds just the LoRA adapter weights — one hundred and twenty megabytes — for anyone who wants to fuse it into their own copy of Gemma.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six also covers evaluation. We deliberately do not lean on BLEU or ROUGE because those metrics are weak for creative writing. Instead we look at four things. A: does the model actually obey the age prefix — does Age-3-4 give us simple short sentences and Age-11-12 complex ones. B: vocabulary and sentence complexity per band. C: narrative coherence — does the story have a clear arc with a resolved ending. D: side-by-side comparisons against the zero-shot baselines. The next two slides show A and D live, which is also our demo.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How do we serve the model. The browser hits POST /generate on a small FastAPI app. The app holds one model in memory at a time, and the swap between GPT-2 and Gemma is protected by an asyncio Lock so concurrent requests cannot collide. There are two backends. For GPT-2 we use Hugging Face Transformers' TextIteratorStreamer running on a worker thread. For the Gemma GGUF we use llama-cpp-python's create_chat_completion with stream equals True. Both backends stream text/plain back token by token, so the browser sees the story unfold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The frontend is intentionally simple. Single-page HTML with vanilla JavaScript and CSS, served by the same FastAPI app at the root URL — no separate frontend build, no framework. The user fills three inputs: a free-text theme, an age band from a dropdown, and a max-tokens slider. There is also a model picker that calls slash-models to list what is available and slash-activate-model to swap the resident model. On submit we fetch slash-generate, get a ReadableStream, and render tokens into a story card as they arrive. Anything inside think tags is shown in a separate panel as the model's reasoning trace.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Demo time. I will switch to the live UI now. Make sure the model picker is on gemma-4-E2B-it-finetuned, and the age-group dropdown is on Age 3-4. I will type the prompt: 'a disobedient kid who does not want to study.' Click Generate. While it streams, point the jury at two things: the sentence length is short and the vocabulary is simple — Timmy, school, homework. The ending wraps up positively, which is the tone we want for this age band. If the live demo fails, fall back to the screenshot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Now I will switch the age-group dropdown to Age 11-12 and re-run with the same theme. Notice the model produces a sixteen-year-old protagonist named Leo, longer sentences, richer vocabulary — words like 'midterm' and 'plummeted' that we did not see in the Age 3-4 version. The ending here is also different: more realistic, somewhat melancholic. The same model is doing both — only the prefix changed.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Quick recap before the live demo. Three things to watch for. One: I will pick an age band and type a theme. The same checkpoint, same weights, generates different stories purely from the prefix. Two: tokens stream in real time over the slash-generate endpoint — you do not wait for the full story to arrive. Three: I will then switch the model picker to GPT-2 XL zero-shot, same prompt, and you will hear the difference — the zero-shot model ignores the age prefix and drifts into adult vocabulary. After that we move to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What did we build, in one sentence: an age-conditioned children's-story generator that brings a 2.3-billion-parameter LLM under 4 gigabytes on disk and serves it through a streaming web UI. Three concrete artifacts: we trained with QLoRA on a free Kaggle account using two T4 GPUs; we ship a Q4_K_M GGUF that runs on consumer CPU; and the front-end streams tokens in real time. That, plus the open weights on Hugging Face, is the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Three honest limitations. First, the 256 K vocabulary of Gemma 4 makes cross-entropy expensive to compute — we had to use a batch size of one and disable in-loop evaluation, which means we cannot watch validation loss during training. Second, catastrophic forgetting — by fine-tuning purely on children's stories we probably degraded the model's general instruction-following ability outside this domain. Third, there is no grounding — the model can occasionally hallucinate details, which is acceptable for fiction but risky for educational content.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Four directions for future work. One: retrieval-augmented generation, so the stories are grounded in a curated factual corpus and stop inventing details. Two: multi-epoch training with a real evaluation split, once we have better memory tooling — likely a different loss formulation that does not blow up on the 256 K vocabulary. Three: multilingual stories — Arabic and French would be directly relevant to ESI-SBA's audience. Four: curriculum-aware arcs that tie generated stories to explicit learning objectives, so this becomes an actual educational tool.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The stack, briefly. PyTorch for the tensor math. Transformers for model loading and the trainer abstraction. PEFT for LoRA adapter injection. BitsAndBytes for NF4 quantization during training. llama.cpp for the GGUF conversion and final quantization. Kaggle for the dual-T4 training environment. FastAPI for the inference server. Docker for environment consistency. GitHub for source control. All open-source, all reproducible from the links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Thank the jury. Briefly restate the headline: a 2.3 billion parameter LLM, fine-tuned on free Kaggle hardware, shrunk to 3.42 gigabytes, that adapts its writing to five children's age bands and runs on CPU. Open code on GitHub, open weights on Hugging Face. Invite questions. Have the live demo still up on a second screen in case a question lands on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chart" Target="../charts/char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chart" Target="../charts/char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chart" Target="../charts/chart5.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9.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ero.jpg"/>
          <p:cNvPicPr>
            <a:picLocks noChangeAspect="1"/>
          </p:cNvPicPr>
          <p:nvPr/>
        </p:nvPicPr>
        <p:blipFill>
          <a:blip r:embed="rId2"/>
          <a:stretch>
            <a:fillRect/>
          </a:stretch>
        </p:blipFill>
        <p:spPr>
          <a:xfrm>
            <a:off x="0" y="0"/>
            <a:ext cx="12191695" cy="6858000"/>
          </a:xfrm>
          <a:prstGeom prst="rect">
            <a:avLst/>
          </a:prstGeom>
        </p:spPr>
      </p:pic>
      <p:sp>
        <p:nvSpPr>
          <p:cNvPr id="3" name="Parallelogram 2"/>
          <p:cNvSpPr/>
          <p:nvPr/>
        </p:nvSpPr>
        <p:spPr>
          <a:xfrm>
            <a:off x="11338560" y="52806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flipH="1">
            <a:off x="11590020" y="52806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11590020" y="502920"/>
            <a:ext cx="0" cy="392277"/>
          </a:xfrm>
          <a:prstGeom prst="line">
            <a:avLst/>
          </a:prstGeom>
          <a:ln w="17780">
            <a:solidFill>
              <a:srgbClr val="1F5B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417320"/>
            <a:ext cx="10607040" cy="365760"/>
          </a:xfrm>
          <a:prstGeom prst="rect">
            <a:avLst/>
          </a:prstGeom>
          <a:noFill/>
        </p:spPr>
        <p:txBody>
          <a:bodyPr wrap="square" lIns="0" rIns="0" tIns="0" bIns="0" anchor="t">
            <a:spAutoFit/>
          </a:bodyPr>
          <a:lstStyle/>
          <a:p>
            <a:pPr algn="l">
              <a:lnSpc>
                <a:spcPct val="120000"/>
              </a:lnSpc>
            </a:pPr>
            <a:r>
              <a:rPr sz="1300" b="1" i="0">
                <a:solidFill>
                  <a:srgbClr val="1F5B4D"/>
                </a:solidFill>
                <a:latin typeface="Space Grotesk"/>
              </a:rPr>
              <a:t>PROJECT DEFENSE  ·  GROUP 1 — IASD</a:t>
            </a:r>
          </a:p>
        </p:txBody>
      </p:sp>
      <p:sp>
        <p:nvSpPr>
          <p:cNvPr id="7" name="TextBox 6"/>
          <p:cNvSpPr txBox="1"/>
          <p:nvPr/>
        </p:nvSpPr>
        <p:spPr>
          <a:xfrm>
            <a:off x="777240" y="1874519"/>
            <a:ext cx="10607040" cy="1828800"/>
          </a:xfrm>
          <a:prstGeom prst="rect">
            <a:avLst/>
          </a:prstGeom>
          <a:noFill/>
        </p:spPr>
        <p:txBody>
          <a:bodyPr wrap="square" lIns="0" rIns="0" tIns="0" bIns="0" anchor="t">
            <a:spAutoFit/>
          </a:bodyPr>
          <a:lstStyle/>
          <a:p>
            <a:pPr algn="l">
              <a:lnSpc>
                <a:spcPct val="108000"/>
              </a:lnSpc>
            </a:pPr>
            <a:r>
              <a:rPr sz="4600" b="1" i="0">
                <a:solidFill>
                  <a:srgbClr val="1B1B1F"/>
                </a:solidFill>
                <a:latin typeface="Fraunces"/>
              </a:rPr>
              <a:t>Fine-Tuning LLMs for
Children's Story Generation</a:t>
            </a:r>
          </a:p>
        </p:txBody>
      </p:sp>
      <p:sp>
        <p:nvSpPr>
          <p:cNvPr id="8" name="Rectangle 7"/>
          <p:cNvSpPr/>
          <p:nvPr/>
        </p:nvSpPr>
        <p:spPr>
          <a:xfrm>
            <a:off x="822960" y="3886200"/>
            <a:ext cx="731520" cy="54864"/>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54480" y="3886200"/>
            <a:ext cx="731520" cy="54864"/>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114800"/>
            <a:ext cx="10607040" cy="822960"/>
          </a:xfrm>
          <a:prstGeom prst="rect">
            <a:avLst/>
          </a:prstGeom>
          <a:noFill/>
        </p:spPr>
        <p:txBody>
          <a:bodyPr wrap="square" lIns="0" rIns="0" tIns="0" bIns="0" anchor="t">
            <a:spAutoFit/>
          </a:bodyPr>
          <a:lstStyle/>
          <a:p>
            <a:pPr algn="l">
              <a:lnSpc>
                <a:spcPct val="130000"/>
              </a:lnSpc>
            </a:pPr>
            <a:r>
              <a:rPr sz="1800" b="0" i="1">
                <a:solidFill>
                  <a:srgbClr val="585861"/>
                </a:solidFill>
                <a:latin typeface="Space Grotesk"/>
              </a:rPr>
              <a:t>Domain adaptation of Gemma 4 E2B-IT and GPT-2 with QLoRA + GGUF edge deployment</a:t>
            </a:r>
          </a:p>
        </p:txBody>
      </p:sp>
      <p:sp>
        <p:nvSpPr>
          <p:cNvPr id="11" name="TextBox 10"/>
          <p:cNvSpPr txBox="1"/>
          <p:nvPr/>
        </p:nvSpPr>
        <p:spPr>
          <a:xfrm>
            <a:off x="777240" y="5532120"/>
            <a:ext cx="6400800" cy="868680"/>
          </a:xfrm>
          <a:prstGeom prst="rect">
            <a:avLst/>
          </a:prstGeom>
          <a:noFill/>
        </p:spPr>
        <p:txBody>
          <a:bodyPr wrap="square" lIns="0" rIns="0" tIns="0" bIns="0" anchor="t">
            <a:spAutoFit/>
          </a:bodyPr>
          <a:lstStyle/>
          <a:p>
            <a:pPr algn="l">
              <a:lnSpc>
                <a:spcPct val="140000"/>
              </a:lnSpc>
            </a:pPr>
            <a:r>
              <a:rPr sz="1500" b="1" i="0">
                <a:solidFill>
                  <a:srgbClr val="1B1B1F"/>
                </a:solidFill>
                <a:latin typeface="Space Grotesk"/>
              </a:rPr>
              <a:t>Benhammadi Lokmane  ·  Khedim Youcef
ESI-SBA  ·  May 2026</a:t>
            </a:r>
          </a:p>
        </p:txBody>
      </p:sp>
      <p:sp>
        <p:nvSpPr>
          <p:cNvPr id="12" name="Rounded Rectangle 11"/>
          <p:cNvSpPr/>
          <p:nvPr/>
        </p:nvSpPr>
        <p:spPr>
          <a:xfrm>
            <a:off x="8595360" y="5120640"/>
            <a:ext cx="3017520" cy="128016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585861"/>
                </a:solidFill>
                <a:latin typeface="Space Grotesk"/>
              </a:rPr>
              <a:t>Speciality</a:t>
            </a:r>
          </a:p>
          <a:p>
            <a:pPr algn="l">
              <a:lnSpc>
                <a:spcPct val="105000"/>
              </a:lnSpc>
              <a:spcAft>
                <a:spcPts val="400"/>
              </a:spcAft>
            </a:pPr>
            <a:r>
              <a:rPr sz="2200" b="1" i="0">
                <a:solidFill>
                  <a:srgbClr val="1F5B4D"/>
                </a:solidFill>
                <a:latin typeface="Fraunces"/>
              </a:rPr>
              <a:t>IASD — NLP</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ero.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02920"/>
            <a:ext cx="10607040" cy="365760"/>
          </a:xfrm>
          <a:prstGeom prst="rect">
            <a:avLst/>
          </a:prstGeom>
          <a:noFill/>
        </p:spPr>
        <p:txBody>
          <a:bodyPr wrap="square" lIns="0" rIns="0" tIns="0" bIns="0" anchor="t">
            <a:spAutoFit/>
          </a:bodyPr>
          <a:lstStyle/>
          <a:p>
            <a:pPr algn="l">
              <a:lnSpc>
                <a:spcPct val="120000"/>
              </a:lnSpc>
            </a:pPr>
            <a:r>
              <a:rPr sz="1300" b="1" i="0">
                <a:solidFill>
                  <a:srgbClr val="1F5B4D"/>
                </a:solidFill>
                <a:latin typeface="Space Grotesk"/>
              </a:rPr>
              <a:t>AGENDA</a:t>
            </a:r>
          </a:p>
        </p:txBody>
      </p:sp>
      <p:sp>
        <p:nvSpPr>
          <p:cNvPr id="4" name="TextBox 3"/>
          <p:cNvSpPr txBox="1"/>
          <p:nvPr/>
        </p:nvSpPr>
        <p:spPr>
          <a:xfrm>
            <a:off x="777240" y="868680"/>
            <a:ext cx="10607040" cy="868680"/>
          </a:xfrm>
          <a:prstGeom prst="rect">
            <a:avLst/>
          </a:prstGeom>
          <a:noFill/>
        </p:spPr>
        <p:txBody>
          <a:bodyPr wrap="square" lIns="0" rIns="0" tIns="0" bIns="0" anchor="t">
            <a:spAutoFit/>
          </a:bodyPr>
          <a:lstStyle/>
          <a:p>
            <a:pPr algn="l">
              <a:lnSpc>
                <a:spcPct val="120000"/>
              </a:lnSpc>
            </a:pPr>
            <a:r>
              <a:rPr sz="4000" b="1" i="0">
                <a:solidFill>
                  <a:srgbClr val="1B1B1F"/>
                </a:solidFill>
                <a:latin typeface="Fraunces"/>
              </a:rPr>
              <a:t>Five acts, ten minutes</a:t>
            </a:r>
          </a:p>
        </p:txBody>
      </p:sp>
      <p:sp>
        <p:nvSpPr>
          <p:cNvPr id="5" name="Rectangle 4"/>
          <p:cNvSpPr/>
          <p:nvPr/>
        </p:nvSpPr>
        <p:spPr>
          <a:xfrm>
            <a:off x="822960" y="1783080"/>
            <a:ext cx="640080" cy="54864"/>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783080"/>
            <a:ext cx="640080" cy="54864"/>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86000"/>
            <a:ext cx="1280160" cy="713232"/>
          </a:xfrm>
          <a:prstGeom prst="rect">
            <a:avLst/>
          </a:prstGeom>
          <a:noFill/>
        </p:spPr>
        <p:txBody>
          <a:bodyPr wrap="square" lIns="0" rIns="0" tIns="0" bIns="0" anchor="ctr">
            <a:spAutoFit/>
          </a:bodyPr>
          <a:lstStyle/>
          <a:p>
            <a:pPr algn="l">
              <a:lnSpc>
                <a:spcPct val="100000"/>
              </a:lnSpc>
            </a:pPr>
            <a:r>
              <a:rPr sz="4400" b="1" i="0">
                <a:solidFill>
                  <a:srgbClr val="E98D5C"/>
                </a:solidFill>
                <a:latin typeface="Fraunces"/>
              </a:rPr>
              <a:t>01</a:t>
            </a:r>
          </a:p>
        </p:txBody>
      </p:sp>
      <p:sp>
        <p:nvSpPr>
          <p:cNvPr id="8" name="TextBox 7"/>
          <p:cNvSpPr txBox="1"/>
          <p:nvPr/>
        </p:nvSpPr>
        <p:spPr>
          <a:xfrm>
            <a:off x="2194560" y="2286000"/>
            <a:ext cx="2468880" cy="713232"/>
          </a:xfrm>
          <a:prstGeom prst="rect">
            <a:avLst/>
          </a:prstGeom>
          <a:noFill/>
        </p:spPr>
        <p:txBody>
          <a:bodyPr wrap="square" lIns="0" rIns="0" tIns="0" bIns="0" anchor="ctr">
            <a:spAutoFit/>
          </a:bodyPr>
          <a:lstStyle/>
          <a:p>
            <a:pPr algn="l">
              <a:lnSpc>
                <a:spcPct val="120000"/>
              </a:lnSpc>
            </a:pPr>
            <a:r>
              <a:rPr sz="2200" b="1" i="0">
                <a:solidFill>
                  <a:srgbClr val="1B1B1F"/>
                </a:solidFill>
                <a:latin typeface="Space Grotesk"/>
              </a:rPr>
              <a:t>Problem</a:t>
            </a:r>
          </a:p>
        </p:txBody>
      </p:sp>
      <p:sp>
        <p:nvSpPr>
          <p:cNvPr id="9" name="TextBox 8"/>
          <p:cNvSpPr txBox="1"/>
          <p:nvPr/>
        </p:nvSpPr>
        <p:spPr>
          <a:xfrm>
            <a:off x="4754880" y="2286000"/>
            <a:ext cx="6858000" cy="713232"/>
          </a:xfrm>
          <a:prstGeom prst="rect">
            <a:avLst/>
          </a:prstGeom>
          <a:noFill/>
        </p:spPr>
        <p:txBody>
          <a:bodyPr wrap="square" lIns="0" rIns="0" tIns="0" bIns="0" anchor="ctr">
            <a:spAutoFit/>
          </a:bodyPr>
          <a:lstStyle/>
          <a:p>
            <a:pPr algn="l">
              <a:lnSpc>
                <a:spcPct val="130000"/>
              </a:lnSpc>
            </a:pPr>
            <a:r>
              <a:rPr sz="1600" b="0" i="0">
                <a:solidFill>
                  <a:srgbClr val="585861"/>
                </a:solidFill>
                <a:latin typeface="Space Grotesk"/>
              </a:rPr>
              <a:t>Why zero-shot LLMs miss the mark for kids' stories.</a:t>
            </a:r>
          </a:p>
        </p:txBody>
      </p:sp>
      <p:cxnSp>
        <p:nvCxnSpPr>
          <p:cNvPr id="10" name="Connector 9"/>
          <p:cNvCxnSpPr/>
          <p:nvPr/>
        </p:nvCxnSpPr>
        <p:spPr>
          <a:xfrm>
            <a:off x="777240" y="3054096"/>
            <a:ext cx="10607040" cy="0"/>
          </a:xfrm>
          <a:prstGeom prst="line">
            <a:avLst/>
          </a:prstGeom>
          <a:ln w="6350">
            <a:solidFill>
              <a:srgbClr val="D8D2C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3108960"/>
            <a:ext cx="1280160" cy="713232"/>
          </a:xfrm>
          <a:prstGeom prst="rect">
            <a:avLst/>
          </a:prstGeom>
          <a:noFill/>
        </p:spPr>
        <p:txBody>
          <a:bodyPr wrap="square" lIns="0" rIns="0" tIns="0" bIns="0" anchor="ctr">
            <a:spAutoFit/>
          </a:bodyPr>
          <a:lstStyle/>
          <a:p>
            <a:pPr algn="l">
              <a:lnSpc>
                <a:spcPct val="100000"/>
              </a:lnSpc>
            </a:pPr>
            <a:r>
              <a:rPr sz="4400" b="1" i="0">
                <a:solidFill>
                  <a:srgbClr val="E98D5C"/>
                </a:solidFill>
                <a:latin typeface="Fraunces"/>
              </a:rPr>
              <a:t>02</a:t>
            </a:r>
          </a:p>
        </p:txBody>
      </p:sp>
      <p:sp>
        <p:nvSpPr>
          <p:cNvPr id="12" name="TextBox 11"/>
          <p:cNvSpPr txBox="1"/>
          <p:nvPr/>
        </p:nvSpPr>
        <p:spPr>
          <a:xfrm>
            <a:off x="2194560" y="3108960"/>
            <a:ext cx="2468880" cy="713232"/>
          </a:xfrm>
          <a:prstGeom prst="rect">
            <a:avLst/>
          </a:prstGeom>
          <a:noFill/>
        </p:spPr>
        <p:txBody>
          <a:bodyPr wrap="square" lIns="0" rIns="0" tIns="0" bIns="0" anchor="ctr">
            <a:spAutoFit/>
          </a:bodyPr>
          <a:lstStyle/>
          <a:p>
            <a:pPr algn="l">
              <a:lnSpc>
                <a:spcPct val="120000"/>
              </a:lnSpc>
            </a:pPr>
            <a:r>
              <a:rPr sz="2200" b="1" i="0">
                <a:solidFill>
                  <a:srgbClr val="1B1B1F"/>
                </a:solidFill>
                <a:latin typeface="Space Grotesk"/>
              </a:rPr>
              <a:t>Solution</a:t>
            </a:r>
          </a:p>
        </p:txBody>
      </p:sp>
      <p:sp>
        <p:nvSpPr>
          <p:cNvPr id="13" name="TextBox 12"/>
          <p:cNvSpPr txBox="1"/>
          <p:nvPr/>
        </p:nvSpPr>
        <p:spPr>
          <a:xfrm>
            <a:off x="4754880" y="3108960"/>
            <a:ext cx="6858000" cy="713232"/>
          </a:xfrm>
          <a:prstGeom prst="rect">
            <a:avLst/>
          </a:prstGeom>
          <a:noFill/>
        </p:spPr>
        <p:txBody>
          <a:bodyPr wrap="square" lIns="0" rIns="0" tIns="0" bIns="0" anchor="ctr">
            <a:spAutoFit/>
          </a:bodyPr>
          <a:lstStyle/>
          <a:p>
            <a:pPr algn="l">
              <a:lnSpc>
                <a:spcPct val="130000"/>
              </a:lnSpc>
            </a:pPr>
            <a:r>
              <a:rPr sz="1600" b="0" i="0">
                <a:solidFill>
                  <a:srgbClr val="585861"/>
                </a:solidFill>
                <a:latin typeface="Space Grotesk"/>
              </a:rPr>
              <a:t>QLoRA-tune Gemma 4 E2B-IT, ship as GGUF for the edge.</a:t>
            </a:r>
          </a:p>
        </p:txBody>
      </p:sp>
      <p:cxnSp>
        <p:nvCxnSpPr>
          <p:cNvPr id="14" name="Connector 13"/>
          <p:cNvCxnSpPr/>
          <p:nvPr/>
        </p:nvCxnSpPr>
        <p:spPr>
          <a:xfrm>
            <a:off x="777240" y="3877056"/>
            <a:ext cx="10607040" cy="0"/>
          </a:xfrm>
          <a:prstGeom prst="line">
            <a:avLst/>
          </a:prstGeom>
          <a:ln w="6350">
            <a:solidFill>
              <a:srgbClr val="D8D2C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3931920"/>
            <a:ext cx="1280160" cy="713232"/>
          </a:xfrm>
          <a:prstGeom prst="rect">
            <a:avLst/>
          </a:prstGeom>
          <a:noFill/>
        </p:spPr>
        <p:txBody>
          <a:bodyPr wrap="square" lIns="0" rIns="0" tIns="0" bIns="0" anchor="ctr">
            <a:spAutoFit/>
          </a:bodyPr>
          <a:lstStyle/>
          <a:p>
            <a:pPr algn="l">
              <a:lnSpc>
                <a:spcPct val="100000"/>
              </a:lnSpc>
            </a:pPr>
            <a:r>
              <a:rPr sz="4400" b="1" i="0">
                <a:solidFill>
                  <a:srgbClr val="E98D5C"/>
                </a:solidFill>
                <a:latin typeface="Fraunces"/>
              </a:rPr>
              <a:t>03</a:t>
            </a:r>
          </a:p>
        </p:txBody>
      </p:sp>
      <p:sp>
        <p:nvSpPr>
          <p:cNvPr id="16" name="TextBox 15"/>
          <p:cNvSpPr txBox="1"/>
          <p:nvPr/>
        </p:nvSpPr>
        <p:spPr>
          <a:xfrm>
            <a:off x="2194560" y="3931920"/>
            <a:ext cx="2468880" cy="713232"/>
          </a:xfrm>
          <a:prstGeom prst="rect">
            <a:avLst/>
          </a:prstGeom>
          <a:noFill/>
        </p:spPr>
        <p:txBody>
          <a:bodyPr wrap="square" lIns="0" rIns="0" tIns="0" bIns="0" anchor="ctr">
            <a:spAutoFit/>
          </a:bodyPr>
          <a:lstStyle/>
          <a:p>
            <a:pPr algn="l">
              <a:lnSpc>
                <a:spcPct val="120000"/>
              </a:lnSpc>
            </a:pPr>
            <a:r>
              <a:rPr sz="2200" b="1" i="0">
                <a:solidFill>
                  <a:srgbClr val="1B1B1F"/>
                </a:solidFill>
                <a:latin typeface="Space Grotesk"/>
              </a:rPr>
              <a:t>Approach</a:t>
            </a:r>
          </a:p>
        </p:txBody>
      </p:sp>
      <p:sp>
        <p:nvSpPr>
          <p:cNvPr id="17" name="TextBox 16"/>
          <p:cNvSpPr txBox="1"/>
          <p:nvPr/>
        </p:nvSpPr>
        <p:spPr>
          <a:xfrm>
            <a:off x="4754880" y="3931920"/>
            <a:ext cx="6858000" cy="713232"/>
          </a:xfrm>
          <a:prstGeom prst="rect">
            <a:avLst/>
          </a:prstGeom>
          <a:noFill/>
        </p:spPr>
        <p:txBody>
          <a:bodyPr wrap="square" lIns="0" rIns="0" tIns="0" bIns="0" anchor="ctr">
            <a:spAutoFit/>
          </a:bodyPr>
          <a:lstStyle/>
          <a:p>
            <a:pPr algn="l">
              <a:lnSpc>
                <a:spcPct val="130000"/>
              </a:lnSpc>
            </a:pPr>
            <a:r>
              <a:rPr sz="1600" b="0" i="0">
                <a:solidFill>
                  <a:srgbClr val="585861"/>
                </a:solidFill>
                <a:latin typeface="Space Grotesk"/>
              </a:rPr>
              <a:t>Six concrete steps from dataset to deployment.</a:t>
            </a:r>
          </a:p>
        </p:txBody>
      </p:sp>
      <p:cxnSp>
        <p:nvCxnSpPr>
          <p:cNvPr id="18" name="Connector 17"/>
          <p:cNvCxnSpPr/>
          <p:nvPr/>
        </p:nvCxnSpPr>
        <p:spPr>
          <a:xfrm>
            <a:off x="777240" y="4700016"/>
            <a:ext cx="10607040" cy="0"/>
          </a:xfrm>
          <a:prstGeom prst="line">
            <a:avLst/>
          </a:prstGeom>
          <a:ln w="6350">
            <a:solidFill>
              <a:srgbClr val="D8D2C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7240" y="4754880"/>
            <a:ext cx="1280160" cy="713232"/>
          </a:xfrm>
          <a:prstGeom prst="rect">
            <a:avLst/>
          </a:prstGeom>
          <a:noFill/>
        </p:spPr>
        <p:txBody>
          <a:bodyPr wrap="square" lIns="0" rIns="0" tIns="0" bIns="0" anchor="ctr">
            <a:spAutoFit/>
          </a:bodyPr>
          <a:lstStyle/>
          <a:p>
            <a:pPr algn="l">
              <a:lnSpc>
                <a:spcPct val="100000"/>
              </a:lnSpc>
            </a:pPr>
            <a:r>
              <a:rPr sz="4400" b="1" i="0">
                <a:solidFill>
                  <a:srgbClr val="E98D5C"/>
                </a:solidFill>
                <a:latin typeface="Fraunces"/>
              </a:rPr>
              <a:t>04</a:t>
            </a:r>
          </a:p>
        </p:txBody>
      </p:sp>
      <p:sp>
        <p:nvSpPr>
          <p:cNvPr id="20" name="TextBox 19"/>
          <p:cNvSpPr txBox="1"/>
          <p:nvPr/>
        </p:nvSpPr>
        <p:spPr>
          <a:xfrm>
            <a:off x="2194560" y="4754880"/>
            <a:ext cx="2468880" cy="713232"/>
          </a:xfrm>
          <a:prstGeom prst="rect">
            <a:avLst/>
          </a:prstGeom>
          <a:noFill/>
        </p:spPr>
        <p:txBody>
          <a:bodyPr wrap="square" lIns="0" rIns="0" tIns="0" bIns="0" anchor="ctr">
            <a:spAutoFit/>
          </a:bodyPr>
          <a:lstStyle/>
          <a:p>
            <a:pPr algn="l">
              <a:lnSpc>
                <a:spcPct val="120000"/>
              </a:lnSpc>
            </a:pPr>
            <a:r>
              <a:rPr sz="2200" b="1" i="0">
                <a:solidFill>
                  <a:srgbClr val="1B1B1F"/>
                </a:solidFill>
                <a:latin typeface="Space Grotesk"/>
              </a:rPr>
              <a:t>Live Demo</a:t>
            </a:r>
          </a:p>
        </p:txBody>
      </p:sp>
      <p:sp>
        <p:nvSpPr>
          <p:cNvPr id="21" name="TextBox 20"/>
          <p:cNvSpPr txBox="1"/>
          <p:nvPr/>
        </p:nvSpPr>
        <p:spPr>
          <a:xfrm>
            <a:off x="4754880" y="4754880"/>
            <a:ext cx="6858000" cy="713232"/>
          </a:xfrm>
          <a:prstGeom prst="rect">
            <a:avLst/>
          </a:prstGeom>
          <a:noFill/>
        </p:spPr>
        <p:txBody>
          <a:bodyPr wrap="square" lIns="0" rIns="0" tIns="0" bIns="0" anchor="ctr">
            <a:spAutoFit/>
          </a:bodyPr>
          <a:lstStyle/>
          <a:p>
            <a:pPr algn="l">
              <a:lnSpc>
                <a:spcPct val="130000"/>
              </a:lnSpc>
            </a:pPr>
            <a:r>
              <a:rPr sz="1600" b="0" i="0">
                <a:solidFill>
                  <a:srgbClr val="585861"/>
                </a:solidFill>
                <a:latin typeface="Space Grotesk"/>
              </a:rPr>
              <a:t>Switch age bands, watch tokens stream in real time.</a:t>
            </a:r>
          </a:p>
        </p:txBody>
      </p:sp>
      <p:cxnSp>
        <p:nvCxnSpPr>
          <p:cNvPr id="22" name="Connector 21"/>
          <p:cNvCxnSpPr/>
          <p:nvPr/>
        </p:nvCxnSpPr>
        <p:spPr>
          <a:xfrm>
            <a:off x="777240" y="5522976"/>
            <a:ext cx="10607040" cy="0"/>
          </a:xfrm>
          <a:prstGeom prst="line">
            <a:avLst/>
          </a:prstGeom>
          <a:ln w="6350">
            <a:solidFill>
              <a:srgbClr val="D8D2C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5577840"/>
            <a:ext cx="1280160" cy="713232"/>
          </a:xfrm>
          <a:prstGeom prst="rect">
            <a:avLst/>
          </a:prstGeom>
          <a:noFill/>
        </p:spPr>
        <p:txBody>
          <a:bodyPr wrap="square" lIns="0" rIns="0" tIns="0" bIns="0" anchor="ctr">
            <a:spAutoFit/>
          </a:bodyPr>
          <a:lstStyle/>
          <a:p>
            <a:pPr algn="l">
              <a:lnSpc>
                <a:spcPct val="100000"/>
              </a:lnSpc>
            </a:pPr>
            <a:r>
              <a:rPr sz="4400" b="1" i="0">
                <a:solidFill>
                  <a:srgbClr val="E98D5C"/>
                </a:solidFill>
                <a:latin typeface="Fraunces"/>
              </a:rPr>
              <a:t>05</a:t>
            </a:r>
          </a:p>
        </p:txBody>
      </p:sp>
      <p:sp>
        <p:nvSpPr>
          <p:cNvPr id="24" name="TextBox 23"/>
          <p:cNvSpPr txBox="1"/>
          <p:nvPr/>
        </p:nvSpPr>
        <p:spPr>
          <a:xfrm>
            <a:off x="2194560" y="5577840"/>
            <a:ext cx="2468880" cy="713232"/>
          </a:xfrm>
          <a:prstGeom prst="rect">
            <a:avLst/>
          </a:prstGeom>
          <a:noFill/>
        </p:spPr>
        <p:txBody>
          <a:bodyPr wrap="square" lIns="0" rIns="0" tIns="0" bIns="0" anchor="ctr">
            <a:spAutoFit/>
          </a:bodyPr>
          <a:lstStyle/>
          <a:p>
            <a:pPr algn="l">
              <a:lnSpc>
                <a:spcPct val="120000"/>
              </a:lnSpc>
            </a:pPr>
            <a:r>
              <a:rPr sz="2200" b="1" i="0">
                <a:solidFill>
                  <a:srgbClr val="1B1B1F"/>
                </a:solidFill>
                <a:latin typeface="Space Grotesk"/>
              </a:rPr>
              <a:t>Conclusion</a:t>
            </a:r>
          </a:p>
        </p:txBody>
      </p:sp>
      <p:sp>
        <p:nvSpPr>
          <p:cNvPr id="25" name="TextBox 24"/>
          <p:cNvSpPr txBox="1"/>
          <p:nvPr/>
        </p:nvSpPr>
        <p:spPr>
          <a:xfrm>
            <a:off x="4754880" y="5577840"/>
            <a:ext cx="6858000" cy="713232"/>
          </a:xfrm>
          <a:prstGeom prst="rect">
            <a:avLst/>
          </a:prstGeom>
          <a:noFill/>
        </p:spPr>
        <p:txBody>
          <a:bodyPr wrap="square" lIns="0" rIns="0" tIns="0" bIns="0" anchor="ctr">
            <a:spAutoFit/>
          </a:bodyPr>
          <a:lstStyle/>
          <a:p>
            <a:pPr algn="l">
              <a:lnSpc>
                <a:spcPct val="130000"/>
              </a:lnSpc>
            </a:pPr>
            <a:r>
              <a:rPr sz="1600" b="0" i="0">
                <a:solidFill>
                  <a:srgbClr val="585861"/>
                </a:solidFill>
                <a:latin typeface="Space Grotesk"/>
              </a:rPr>
              <a:t>What we built, what's still open, what comes next.</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Powerful generalists, weak on age-specific writing</a:t>
            </a:r>
          </a:p>
        </p:txBody>
      </p:sp>
      <p:sp>
        <p:nvSpPr>
          <p:cNvPr id="4" name="Rounded Rectangle 3"/>
          <p:cNvSpPr/>
          <p:nvPr/>
        </p:nvSpPr>
        <p:spPr>
          <a:xfrm>
            <a:off x="777240" y="1417320"/>
            <a:ext cx="5029200" cy="45720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200" b="1" i="0">
                <a:solidFill>
                  <a:srgbClr val="1F5B4D"/>
                </a:solidFill>
                <a:latin typeface="Space Grotesk"/>
              </a:rPr>
              <a:t>The gap</a:t>
            </a:r>
          </a:p>
          <a:p>
            <a:pPr algn="l">
              <a:lnSpc>
                <a:spcPct val="100000"/>
              </a:lnSpc>
              <a:spcBef>
                <a:spcPts val="1400"/>
              </a:spcBef>
              <a:spcAft>
                <a:spcPts val="200"/>
              </a:spcAft>
            </a:pPr>
            <a:r>
              <a:rPr sz="8000" b="1" i="0">
                <a:solidFill>
                  <a:srgbClr val="1B1B1F"/>
                </a:solidFill>
                <a:latin typeface="Fraunces"/>
              </a:rPr>
              <a:t>16+ GB</a:t>
            </a:r>
          </a:p>
          <a:p>
            <a:pPr algn="l">
              <a:lnSpc>
                <a:spcPct val="135000"/>
              </a:lnSpc>
              <a:spcAft>
                <a:spcPts val="1400"/>
              </a:spcAft>
            </a:pPr>
            <a:r>
              <a:rPr sz="1600" b="0" i="0">
                <a:solidFill>
                  <a:srgbClr val="585861"/>
                </a:solidFill>
                <a:latin typeface="Space Grotesk"/>
              </a:rPr>
              <a:t>VRAM to fully fine-tune a 2B model in FP16 — out of reach on a Kaggle notebook, let alone a laptop.</a:t>
            </a:r>
          </a:p>
          <a:p>
            <a:pPr algn="l">
              <a:lnSpc>
                <a:spcPct val="135000"/>
              </a:lnSpc>
              <a:spcAft>
                <a:spcPts val="400"/>
              </a:spcAft>
            </a:pPr>
            <a:r>
              <a:rPr sz="1500" b="0" i="1">
                <a:solidFill>
                  <a:srgbClr val="1B1B1F"/>
                </a:solidFill>
                <a:latin typeface="Space Grotesk"/>
              </a:rPr>
              <a:t>And without fine-tuning, the model drifts toward an adult register every time.</a:t>
            </a:r>
          </a:p>
        </p:txBody>
      </p:sp>
      <p:sp>
        <p:nvSpPr>
          <p:cNvPr id="5" name="Rounded Rectangle 4"/>
          <p:cNvSpPr/>
          <p:nvPr/>
        </p:nvSpPr>
        <p:spPr>
          <a:xfrm>
            <a:off x="6126480" y="1417320"/>
            <a:ext cx="5440680" cy="457200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200" b="1" i="0">
                <a:solidFill>
                  <a:srgbClr val="1F5B4D"/>
                </a:solidFill>
                <a:latin typeface="Space Grotesk"/>
              </a:rPr>
              <a:t>What goes wrong</a:t>
            </a:r>
          </a:p>
          <a:p>
            <a:pPr algn="l">
              <a:lnSpc>
                <a:spcPct val="110000"/>
              </a:lnSpc>
              <a:spcBef>
                <a:spcPts val="1000"/>
              </a:spcBef>
              <a:spcAft>
                <a:spcPts val="1000"/>
              </a:spcAft>
            </a:pPr>
            <a:r>
              <a:rPr sz="2200" b="1" i="0">
                <a:solidFill>
                  <a:srgbClr val="1B1B1F"/>
                </a:solidFill>
                <a:latin typeface="Fraunces"/>
              </a:rPr>
              <a:t>A zero-shot LLM…</a:t>
            </a:r>
          </a:p>
          <a:p>
            <a:pPr algn="l" indent="-228600" marL="228600">
              <a:lnSpc>
                <a:spcPct val="140000"/>
              </a:lnSpc>
              <a:spcAft>
                <a:spcPts val="600"/>
              </a:spcAft>
              <a:buFont typeface="Arial"/>
              <a:buChar char="•"/>
            </a:pPr>
            <a:r>
              <a:rPr sz="1600" b="0" i="0">
                <a:solidFill>
                  <a:srgbClr val="1B1B1F"/>
                </a:solidFill>
                <a:latin typeface="Space Grotesk"/>
              </a:rPr>
              <a:t>ignores age-band prefixes such as Age 3–4 vs Age 11–12,</a:t>
            </a:r>
          </a:p>
          <a:p>
            <a:pPr algn="l" indent="-228600" marL="228600">
              <a:lnSpc>
                <a:spcPct val="140000"/>
              </a:lnSpc>
              <a:spcAft>
                <a:spcPts val="600"/>
              </a:spcAft>
              <a:buFont typeface="Arial"/>
              <a:buChar char="•"/>
            </a:pPr>
            <a:r>
              <a:rPr sz="1600" b="0" i="0">
                <a:solidFill>
                  <a:srgbClr val="1B1B1F"/>
                </a:solidFill>
                <a:latin typeface="Space Grotesk"/>
              </a:rPr>
              <a:t>drifts to a generic adult register and complex vocabulary,</a:t>
            </a:r>
          </a:p>
          <a:p>
            <a:pPr algn="l" indent="-228600" marL="228600">
              <a:lnSpc>
                <a:spcPct val="140000"/>
              </a:lnSpc>
              <a:spcAft>
                <a:spcPts val="600"/>
              </a:spcAft>
              <a:buFont typeface="Arial"/>
              <a:buChar char="•"/>
            </a:pPr>
            <a:r>
              <a:rPr sz="1600" b="0" i="0">
                <a:solidFill>
                  <a:srgbClr val="1B1B1F"/>
                </a:solidFill>
                <a:latin typeface="Space Grotesk"/>
              </a:rPr>
              <a:t>hallucinates details and breaks story structure,</a:t>
            </a:r>
          </a:p>
          <a:p>
            <a:pPr algn="l" indent="-228600" marL="228600">
              <a:lnSpc>
                <a:spcPct val="140000"/>
              </a:lnSpc>
              <a:spcAft>
                <a:spcPts val="600"/>
              </a:spcAft>
              <a:buFont typeface="Arial"/>
              <a:buChar char="•"/>
            </a:pPr>
            <a:r>
              <a:rPr sz="1600" b="0" i="0">
                <a:solidFill>
                  <a:srgbClr val="1B1B1F"/>
                </a:solidFill>
                <a:latin typeface="Space Grotesk"/>
              </a:rPr>
              <a:t>trades safety for fluency without explicit constraints.</a:t>
            </a:r>
          </a:p>
        </p:txBody>
      </p:sp>
      <p:sp>
        <p:nvSpPr>
          <p:cNvPr id="6" name="Parallelogram 5"/>
          <p:cNvSpPr/>
          <p:nvPr/>
        </p:nvSpPr>
        <p:spPr>
          <a:xfrm>
            <a:off x="10835640" y="185394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flipH="1">
            <a:off x="11087100" y="185394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11087100" y="1828800"/>
            <a:ext cx="0" cy="392277"/>
          </a:xfrm>
          <a:prstGeom prst="line">
            <a:avLst/>
          </a:prstGeom>
          <a:ln w="17780">
            <a:solidFill>
              <a:srgbClr val="1F5B4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3</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Three constraints, all binding at once</a:t>
            </a:r>
          </a:p>
        </p:txBody>
      </p:sp>
      <p:sp>
        <p:nvSpPr>
          <p:cNvPr id="4" name="Rounded Rectangle 3"/>
          <p:cNvSpPr/>
          <p:nvPr/>
        </p:nvSpPr>
        <p:spPr>
          <a:xfrm>
            <a:off x="777240" y="1554480"/>
            <a:ext cx="3611880" cy="4526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0000"/>
              </a:lnSpc>
              <a:spcBef>
                <a:spcPts val="4200"/>
              </a:spcBef>
              <a:spcAft>
                <a:spcPts val="1200"/>
              </a:spcAft>
            </a:pPr>
            <a:r>
              <a:rPr sz="2200" b="1" i="0">
                <a:solidFill>
                  <a:srgbClr val="1B1B1F"/>
                </a:solidFill>
                <a:latin typeface="Fraunces"/>
              </a:rPr>
              <a:t>Style adaptation</a:t>
            </a:r>
          </a:p>
          <a:p>
            <a:pPr algn="l">
              <a:lnSpc>
                <a:spcPct val="145000"/>
              </a:lnSpc>
              <a:spcAft>
                <a:spcPts val="400"/>
              </a:spcAft>
            </a:pPr>
            <a:r>
              <a:rPr sz="1500" b="0" i="0">
                <a:solidFill>
                  <a:srgbClr val="585861"/>
                </a:solidFill>
                <a:latin typeface="Space Grotesk"/>
              </a:rPr>
              <a:t>Vocabulary and sentence complexity must shift across five age bands (3–4, 5–6, 7–8, 9–10, 11–12) — same model, different register.</a:t>
            </a:r>
          </a:p>
        </p:txBody>
      </p:sp>
      <p:sp>
        <p:nvSpPr>
          <p:cNvPr id="5" name="Rectangle 4"/>
          <p:cNvSpPr/>
          <p:nvPr/>
        </p:nvSpPr>
        <p:spPr>
          <a:xfrm>
            <a:off x="1005840" y="1828800"/>
            <a:ext cx="640080" cy="640080"/>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400" b="1" i="0">
                <a:solidFill>
                  <a:srgbClr val="FFFFFF"/>
                </a:solidFill>
                <a:latin typeface="Fraunces"/>
              </a:rPr>
              <a:t>Style</a:t>
            </a:r>
          </a:p>
        </p:txBody>
      </p:sp>
      <p:sp>
        <p:nvSpPr>
          <p:cNvPr id="6" name="Rounded Rectangle 5"/>
          <p:cNvSpPr/>
          <p:nvPr/>
        </p:nvSpPr>
        <p:spPr>
          <a:xfrm>
            <a:off x="4572000" y="1554480"/>
            <a:ext cx="3611880" cy="4526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0000"/>
              </a:lnSpc>
              <a:spcBef>
                <a:spcPts val="4200"/>
              </a:spcBef>
              <a:spcAft>
                <a:spcPts val="1200"/>
              </a:spcAft>
            </a:pPr>
            <a:r>
              <a:rPr sz="2200" b="1" i="0">
                <a:solidFill>
                  <a:srgbClr val="1B1B1F"/>
                </a:solidFill>
                <a:latin typeface="Fraunces"/>
              </a:rPr>
              <a:t>Structural constraints</a:t>
            </a:r>
          </a:p>
          <a:p>
            <a:pPr algn="l">
              <a:lnSpc>
                <a:spcPct val="145000"/>
              </a:lnSpc>
              <a:spcAft>
                <a:spcPts val="400"/>
              </a:spcAft>
            </a:pPr>
            <a:r>
              <a:rPr sz="1500" b="0" i="0">
                <a:solidFill>
                  <a:srgbClr val="585861"/>
                </a:solidFill>
                <a:latin typeface="Space Grotesk"/>
              </a:rPr>
              <a:t>Stories need a clear beginning, middle, and end, with no inappropriate themes for the target age band.</a:t>
            </a:r>
          </a:p>
        </p:txBody>
      </p:sp>
      <p:sp>
        <p:nvSpPr>
          <p:cNvPr id="7" name="Rectangle 6"/>
          <p:cNvSpPr/>
          <p:nvPr/>
        </p:nvSpPr>
        <p:spPr>
          <a:xfrm>
            <a:off x="4800600" y="1828800"/>
            <a:ext cx="640080" cy="640080"/>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400" b="1" i="0">
                <a:solidFill>
                  <a:srgbClr val="FFFFFF"/>
                </a:solidFill>
                <a:latin typeface="Fraunces"/>
              </a:rPr>
              <a:t>Form</a:t>
            </a:r>
          </a:p>
        </p:txBody>
      </p:sp>
      <p:sp>
        <p:nvSpPr>
          <p:cNvPr id="8" name="Rounded Rectangle 7"/>
          <p:cNvSpPr/>
          <p:nvPr/>
        </p:nvSpPr>
        <p:spPr>
          <a:xfrm>
            <a:off x="8366760" y="1554480"/>
            <a:ext cx="3611880" cy="4526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0000"/>
              </a:lnSpc>
              <a:spcBef>
                <a:spcPts val="4200"/>
              </a:spcBef>
              <a:spcAft>
                <a:spcPts val="1200"/>
              </a:spcAft>
            </a:pPr>
            <a:r>
              <a:rPr sz="2200" b="1" i="0">
                <a:solidFill>
                  <a:srgbClr val="1B1B1F"/>
                </a:solidFill>
                <a:latin typeface="Fraunces"/>
              </a:rPr>
              <a:t>Resource constraints</a:t>
            </a:r>
          </a:p>
          <a:p>
            <a:pPr algn="l">
              <a:lnSpc>
                <a:spcPct val="145000"/>
              </a:lnSpc>
              <a:spcAft>
                <a:spcPts val="400"/>
              </a:spcAft>
            </a:pPr>
            <a:r>
              <a:rPr sz="1500" b="0" i="0">
                <a:solidFill>
                  <a:srgbClr val="585861"/>
                </a:solidFill>
                <a:latin typeface="Space Grotesk"/>
              </a:rPr>
              <a:t>Consumer hardware: a 2B model needs ~16 GB of VRAM in FP16 for full fine-tuning, days on a single GPU.</a:t>
            </a:r>
          </a:p>
        </p:txBody>
      </p:sp>
      <p:sp>
        <p:nvSpPr>
          <p:cNvPr id="9" name="Rectangle 8"/>
          <p:cNvSpPr/>
          <p:nvPr/>
        </p:nvSpPr>
        <p:spPr>
          <a:xfrm>
            <a:off x="8595360" y="1828800"/>
            <a:ext cx="640080" cy="640080"/>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400" b="1" i="0">
                <a:solidFill>
                  <a:srgbClr val="FFFFFF"/>
                </a:solidFill>
                <a:latin typeface="Fraunces"/>
              </a:rPr>
              <a:t>Cost</a:t>
            </a:r>
          </a:p>
        </p:txBody>
      </p:sp>
      <p:sp>
        <p:nvSpPr>
          <p:cNvPr id="10" name="TextBox 9"/>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4</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Two paths today, neither one fits</a:t>
            </a:r>
          </a:p>
        </p:txBody>
      </p:sp>
      <p:sp>
        <p:nvSpPr>
          <p:cNvPr id="4" name="Rounded Rectangle 3"/>
          <p:cNvSpPr/>
          <p:nvPr/>
        </p:nvSpPr>
        <p:spPr>
          <a:xfrm>
            <a:off x="777240" y="1554480"/>
            <a:ext cx="5349240" cy="39319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585861"/>
                </a:solidFill>
                <a:latin typeface="Space Grotesk"/>
              </a:rPr>
              <a:t>PATH A</a:t>
            </a:r>
          </a:p>
          <a:p>
            <a:pPr algn="l">
              <a:lnSpc>
                <a:spcPct val="105000"/>
              </a:lnSpc>
              <a:spcBef>
                <a:spcPts val="400"/>
              </a:spcBef>
              <a:spcAft>
                <a:spcPts val="1000"/>
              </a:spcAft>
            </a:pPr>
            <a:r>
              <a:rPr sz="2400" b="1" i="0">
                <a:solidFill>
                  <a:srgbClr val="1B1B1F"/>
                </a:solidFill>
                <a:latin typeface="Fraunces"/>
              </a:rPr>
              <a:t>Zero-shot LLMs</a:t>
            </a:r>
          </a:p>
          <a:p>
            <a:pPr algn="l" indent="-228600" marL="228600">
              <a:lnSpc>
                <a:spcPct val="140000"/>
              </a:lnSpc>
              <a:spcAft>
                <a:spcPts val="400"/>
              </a:spcAft>
              <a:buFont typeface="Arial"/>
              <a:buChar char="•"/>
            </a:pPr>
            <a:r>
              <a:rPr sz="1500" b="0" i="0">
                <a:solidFill>
                  <a:srgbClr val="1B1B1F"/>
                </a:solidFill>
                <a:latin typeface="Space Grotesk"/>
              </a:rPr>
              <a:t>Ignore age-band prefixes</a:t>
            </a:r>
          </a:p>
          <a:p>
            <a:pPr algn="l" indent="-228600" marL="228600">
              <a:lnSpc>
                <a:spcPct val="140000"/>
              </a:lnSpc>
              <a:spcAft>
                <a:spcPts val="400"/>
              </a:spcAft>
              <a:buFont typeface="Arial"/>
              <a:buChar char="•"/>
            </a:pPr>
            <a:r>
              <a:rPr sz="1500" b="0" i="0">
                <a:solidFill>
                  <a:srgbClr val="1B1B1F"/>
                </a:solidFill>
                <a:latin typeface="Space Grotesk"/>
              </a:rPr>
              <a:t>Generic adult register</a:t>
            </a:r>
          </a:p>
          <a:p>
            <a:pPr algn="l" indent="-228600" marL="228600">
              <a:lnSpc>
                <a:spcPct val="140000"/>
              </a:lnSpc>
              <a:spcAft>
                <a:spcPts val="400"/>
              </a:spcAft>
              <a:buFont typeface="Arial"/>
              <a:buChar char="•"/>
            </a:pPr>
            <a:r>
              <a:rPr sz="1500" b="0" i="0">
                <a:solidFill>
                  <a:srgbClr val="1B1B1F"/>
                </a:solidFill>
                <a:latin typeface="Space Grotesk"/>
              </a:rPr>
              <a:t>Long, complex sentences</a:t>
            </a:r>
          </a:p>
          <a:p>
            <a:pPr algn="l" indent="-228600" marL="228600">
              <a:lnSpc>
                <a:spcPct val="140000"/>
              </a:lnSpc>
              <a:spcAft>
                <a:spcPts val="400"/>
              </a:spcAft>
              <a:buFont typeface="Arial"/>
              <a:buChar char="•"/>
            </a:pPr>
            <a:r>
              <a:rPr sz="1500" b="0" i="0">
                <a:solidFill>
                  <a:srgbClr val="1B1B1F"/>
                </a:solidFill>
                <a:latin typeface="Space Grotesk"/>
              </a:rPr>
              <a:t>Drift away from kids' tone</a:t>
            </a:r>
          </a:p>
          <a:p>
            <a:pPr algn="l">
              <a:lnSpc>
                <a:spcPct val="130000"/>
              </a:lnSpc>
              <a:spcBef>
                <a:spcPts val="800"/>
              </a:spcBef>
              <a:spcAft>
                <a:spcPts val="400"/>
              </a:spcAft>
            </a:pPr>
            <a:r>
              <a:rPr sz="1200" b="0" i="1">
                <a:solidFill>
                  <a:srgbClr val="585861"/>
                </a:solidFill>
                <a:latin typeface="Space Grotesk"/>
              </a:rPr>
              <a:t>Cheap. Fast. But style is not learned.</a:t>
            </a:r>
          </a:p>
        </p:txBody>
      </p:sp>
      <p:sp>
        <p:nvSpPr>
          <p:cNvPr id="5" name="Rounded Rectangle 4"/>
          <p:cNvSpPr/>
          <p:nvPr/>
        </p:nvSpPr>
        <p:spPr>
          <a:xfrm>
            <a:off x="6400800" y="1554480"/>
            <a:ext cx="5349240" cy="39319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585861"/>
                </a:solidFill>
                <a:latin typeface="Space Grotesk"/>
              </a:rPr>
              <a:t>PATH B</a:t>
            </a:r>
          </a:p>
          <a:p>
            <a:pPr algn="l">
              <a:lnSpc>
                <a:spcPct val="105000"/>
              </a:lnSpc>
              <a:spcBef>
                <a:spcPts val="400"/>
              </a:spcBef>
              <a:spcAft>
                <a:spcPts val="1000"/>
              </a:spcAft>
            </a:pPr>
            <a:r>
              <a:rPr sz="2400" b="1" i="0">
                <a:solidFill>
                  <a:srgbClr val="1B1B1F"/>
                </a:solidFill>
                <a:latin typeface="Fraunces"/>
              </a:rPr>
              <a:t>Full fine-tuning</a:t>
            </a:r>
          </a:p>
          <a:p>
            <a:pPr algn="l" indent="-228600" marL="228600">
              <a:lnSpc>
                <a:spcPct val="140000"/>
              </a:lnSpc>
              <a:spcAft>
                <a:spcPts val="400"/>
              </a:spcAft>
              <a:buFont typeface="Arial"/>
              <a:buChar char="•"/>
            </a:pPr>
            <a:r>
              <a:rPr sz="1500" b="0" i="0">
                <a:solidFill>
                  <a:srgbClr val="1B1B1F"/>
                </a:solidFill>
                <a:latin typeface="Space Grotesk"/>
              </a:rPr>
              <a:t>≥ 16 GB VRAM for a 2B model in FP16</a:t>
            </a:r>
          </a:p>
          <a:p>
            <a:pPr algn="l" indent="-228600" marL="228600">
              <a:lnSpc>
                <a:spcPct val="140000"/>
              </a:lnSpc>
              <a:spcAft>
                <a:spcPts val="400"/>
              </a:spcAft>
              <a:buFont typeface="Arial"/>
              <a:buChar char="•"/>
            </a:pPr>
            <a:r>
              <a:rPr sz="1500" b="0" i="0">
                <a:solidFill>
                  <a:srgbClr val="1B1B1F"/>
                </a:solidFill>
                <a:latin typeface="Space Grotesk"/>
              </a:rPr>
              <a:t>Days on a single consumer GPU</a:t>
            </a:r>
          </a:p>
          <a:p>
            <a:pPr algn="l" indent="-228600" marL="228600">
              <a:lnSpc>
                <a:spcPct val="140000"/>
              </a:lnSpc>
              <a:spcAft>
                <a:spcPts val="400"/>
              </a:spcAft>
              <a:buFont typeface="Arial"/>
              <a:buChar char="•"/>
            </a:pPr>
            <a:r>
              <a:rPr sz="1500" b="0" i="0">
                <a:solidFill>
                  <a:srgbClr val="1B1B1F"/>
                </a:solidFill>
                <a:latin typeface="Space Grotesk"/>
              </a:rPr>
              <a:t>Full-weight checkpoints (≥ 4 GB)</a:t>
            </a:r>
          </a:p>
          <a:p>
            <a:pPr algn="l" indent="-228600" marL="228600">
              <a:lnSpc>
                <a:spcPct val="140000"/>
              </a:lnSpc>
              <a:spcAft>
                <a:spcPts val="400"/>
              </a:spcAft>
              <a:buFont typeface="Arial"/>
              <a:buChar char="•"/>
            </a:pPr>
            <a:r>
              <a:rPr sz="1500" b="0" i="0">
                <a:solidFill>
                  <a:srgbClr val="1B1B1F"/>
                </a:solidFill>
                <a:latin typeface="Space Grotesk"/>
              </a:rPr>
              <a:t>Hard to share, hard to iterate</a:t>
            </a:r>
          </a:p>
          <a:p>
            <a:pPr algn="l">
              <a:lnSpc>
                <a:spcPct val="130000"/>
              </a:lnSpc>
              <a:spcBef>
                <a:spcPts val="800"/>
              </a:spcBef>
              <a:spcAft>
                <a:spcPts val="400"/>
              </a:spcAft>
            </a:pPr>
            <a:r>
              <a:rPr sz="1200" b="0" i="1">
                <a:solidFill>
                  <a:srgbClr val="E98D5C"/>
                </a:solidFill>
                <a:latin typeface="Space Grotesk"/>
              </a:rPr>
              <a:t>Style is learned. But the cost is prohibitive.</a:t>
            </a:r>
          </a:p>
        </p:txBody>
      </p:sp>
      <p:sp>
        <p:nvSpPr>
          <p:cNvPr id="6" name="Rounded Rectangle 5"/>
          <p:cNvSpPr/>
          <p:nvPr/>
        </p:nvSpPr>
        <p:spPr>
          <a:xfrm>
            <a:off x="1828800" y="5760720"/>
            <a:ext cx="8531352" cy="59436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0" bIns="0" wrap="square"/>
          <a:lstStyle/>
          <a:p>
            <a:pPr algn="ctr">
              <a:lnSpc>
                <a:spcPct val="100000"/>
              </a:lnSpc>
            </a:pPr>
            <a:r>
              <a:rPr sz="1800" b="1" i="0">
                <a:solidFill>
                  <a:srgbClr val="1F5B4D"/>
                </a:solidFill>
                <a:latin typeface="Fraunces"/>
              </a:rPr>
              <a:t>We need a third path: cheap to train, full to deploy.</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5</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Our solution: QLoRA + GGUF, end to end</a:t>
            </a:r>
          </a:p>
        </p:txBody>
      </p:sp>
      <p:sp>
        <p:nvSpPr>
          <p:cNvPr id="4" name="TextBox 3"/>
          <p:cNvSpPr txBox="1"/>
          <p:nvPr/>
        </p:nvSpPr>
        <p:spPr>
          <a:xfrm>
            <a:off x="777240" y="1097280"/>
            <a:ext cx="10698480" cy="548640"/>
          </a:xfrm>
          <a:prstGeom prst="rect">
            <a:avLst/>
          </a:prstGeom>
          <a:noFill/>
        </p:spPr>
        <p:txBody>
          <a:bodyPr wrap="square" lIns="0" rIns="0" tIns="0" bIns="0" anchor="t">
            <a:spAutoFit/>
          </a:bodyPr>
          <a:lstStyle/>
          <a:p>
            <a:pPr algn="l">
              <a:lnSpc>
                <a:spcPct val="135000"/>
              </a:lnSpc>
            </a:pPr>
            <a:r>
              <a:rPr sz="1800" b="0" i="0">
                <a:solidFill>
                  <a:srgbClr val="585861"/>
                </a:solidFill>
                <a:latin typeface="Space Grotesk"/>
              </a:rPr>
              <a:t>Fine-tune Gemma 4 E2B-IT with QLoRA, merge, quantize to GGUF, serve through FastAPI.</a:t>
            </a:r>
          </a:p>
        </p:txBody>
      </p:sp>
      <p:sp>
        <p:nvSpPr>
          <p:cNvPr id="5" name="Rounded Rectangle 4"/>
          <p:cNvSpPr/>
          <p:nvPr/>
        </p:nvSpPr>
        <p:spPr>
          <a:xfrm>
            <a:off x="777240" y="2286000"/>
            <a:ext cx="1832457"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000" b="1" i="0">
                <a:solidFill>
                  <a:srgbClr val="1F5B4D"/>
                </a:solidFill>
                <a:latin typeface="Space Grotesk"/>
              </a:rPr>
              <a:t>STAGE 1</a:t>
            </a:r>
          </a:p>
          <a:p>
            <a:pPr algn="ctr">
              <a:lnSpc>
                <a:spcPct val="110000"/>
              </a:lnSpc>
              <a:spcBef>
                <a:spcPts val="1000"/>
              </a:spcBef>
              <a:spcAft>
                <a:spcPts val="800"/>
              </a:spcAft>
            </a:pPr>
            <a:r>
              <a:rPr sz="1800" b="1" i="0">
                <a:solidFill>
                  <a:srgbClr val="1B1B1F"/>
                </a:solidFill>
                <a:latin typeface="Fraunces"/>
              </a:rPr>
              <a:t>Dataset</a:t>
            </a:r>
          </a:p>
          <a:p>
            <a:pPr algn="ctr">
              <a:lnSpc>
                <a:spcPct val="130000"/>
              </a:lnSpc>
              <a:spcAft>
                <a:spcPts val="400"/>
              </a:spcAft>
            </a:pPr>
            <a:r>
              <a:rPr sz="1200" b="0" i="0">
                <a:solidFill>
                  <a:srgbClr val="585861"/>
                </a:solidFill>
                <a:latin typeface="Space Grotesk"/>
              </a:rPr>
              <a:t>10K stories
5 age bands</a:t>
            </a:r>
          </a:p>
        </p:txBody>
      </p:sp>
      <p:sp>
        <p:nvSpPr>
          <p:cNvPr id="6" name="Right Arrow 5"/>
          <p:cNvSpPr/>
          <p:nvPr/>
        </p:nvSpPr>
        <p:spPr>
          <a:xfrm>
            <a:off x="2609697" y="3291840"/>
            <a:ext cx="384048"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93745" y="2286000"/>
            <a:ext cx="1832457"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000" b="1" i="0">
                <a:solidFill>
                  <a:srgbClr val="1F5B4D"/>
                </a:solidFill>
                <a:latin typeface="Space Grotesk"/>
              </a:rPr>
              <a:t>STAGE 2</a:t>
            </a:r>
          </a:p>
          <a:p>
            <a:pPr algn="ctr">
              <a:lnSpc>
                <a:spcPct val="110000"/>
              </a:lnSpc>
              <a:spcBef>
                <a:spcPts val="1000"/>
              </a:spcBef>
              <a:spcAft>
                <a:spcPts val="800"/>
              </a:spcAft>
            </a:pPr>
            <a:r>
              <a:rPr sz="1800" b="1" i="0">
                <a:solidFill>
                  <a:srgbClr val="1B1B1F"/>
                </a:solidFill>
                <a:latin typeface="Fraunces"/>
              </a:rPr>
              <a:t>QLoRA
Fine-Tune</a:t>
            </a:r>
          </a:p>
          <a:p>
            <a:pPr algn="ctr">
              <a:lnSpc>
                <a:spcPct val="130000"/>
              </a:lnSpc>
              <a:spcAft>
                <a:spcPts val="400"/>
              </a:spcAft>
            </a:pPr>
            <a:r>
              <a:rPr sz="1200" b="0" i="0">
                <a:solidFill>
                  <a:srgbClr val="585861"/>
                </a:solidFill>
                <a:latin typeface="Space Grotesk"/>
              </a:rPr>
              <a:t>NF4 + LoRA
on 2×T4</a:t>
            </a:r>
          </a:p>
        </p:txBody>
      </p:sp>
      <p:sp>
        <p:nvSpPr>
          <p:cNvPr id="8" name="Right Arrow 7"/>
          <p:cNvSpPr/>
          <p:nvPr/>
        </p:nvSpPr>
        <p:spPr>
          <a:xfrm>
            <a:off x="4826202" y="3291840"/>
            <a:ext cx="384048"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210250" y="2286000"/>
            <a:ext cx="1832457"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000" b="1" i="0">
                <a:solidFill>
                  <a:srgbClr val="1F5B4D"/>
                </a:solidFill>
                <a:latin typeface="Space Grotesk"/>
              </a:rPr>
              <a:t>STAGE 3</a:t>
            </a:r>
          </a:p>
          <a:p>
            <a:pPr algn="ctr">
              <a:lnSpc>
                <a:spcPct val="110000"/>
              </a:lnSpc>
              <a:spcBef>
                <a:spcPts val="1000"/>
              </a:spcBef>
              <a:spcAft>
                <a:spcPts val="800"/>
              </a:spcAft>
            </a:pPr>
            <a:r>
              <a:rPr sz="1800" b="1" i="0">
                <a:solidFill>
                  <a:srgbClr val="1B1B1F"/>
                </a:solidFill>
                <a:latin typeface="Fraunces"/>
              </a:rPr>
              <a:t>Merge
FP16</a:t>
            </a:r>
          </a:p>
          <a:p>
            <a:pPr algn="ctr">
              <a:lnSpc>
                <a:spcPct val="130000"/>
              </a:lnSpc>
              <a:spcAft>
                <a:spcPts val="400"/>
              </a:spcAft>
            </a:pPr>
            <a:r>
              <a:rPr sz="1200" b="0" i="0">
                <a:solidFill>
                  <a:srgbClr val="585861"/>
                </a:solidFill>
                <a:latin typeface="Space Grotesk"/>
              </a:rPr>
              <a:t>merge_and_
unload()</a:t>
            </a:r>
          </a:p>
        </p:txBody>
      </p:sp>
      <p:sp>
        <p:nvSpPr>
          <p:cNvPr id="10" name="Right Arrow 9"/>
          <p:cNvSpPr/>
          <p:nvPr/>
        </p:nvSpPr>
        <p:spPr>
          <a:xfrm>
            <a:off x="7042707" y="3291840"/>
            <a:ext cx="384048"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26755" y="2286000"/>
            <a:ext cx="1832457"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000" b="1" i="0">
                <a:solidFill>
                  <a:srgbClr val="1F5B4D"/>
                </a:solidFill>
                <a:latin typeface="Space Grotesk"/>
              </a:rPr>
              <a:t>STAGE 4</a:t>
            </a:r>
          </a:p>
          <a:p>
            <a:pPr algn="ctr">
              <a:lnSpc>
                <a:spcPct val="110000"/>
              </a:lnSpc>
              <a:spcBef>
                <a:spcPts val="1000"/>
              </a:spcBef>
              <a:spcAft>
                <a:spcPts val="800"/>
              </a:spcAft>
            </a:pPr>
            <a:r>
              <a:rPr sz="1800" b="1" i="0">
                <a:solidFill>
                  <a:srgbClr val="1B1B1F"/>
                </a:solidFill>
                <a:latin typeface="Fraunces"/>
              </a:rPr>
              <a:t>GGUF
Quantize</a:t>
            </a:r>
          </a:p>
          <a:p>
            <a:pPr algn="ctr">
              <a:lnSpc>
                <a:spcPct val="130000"/>
              </a:lnSpc>
              <a:spcAft>
                <a:spcPts val="400"/>
              </a:spcAft>
            </a:pPr>
            <a:r>
              <a:rPr sz="1200" b="0" i="0">
                <a:solidFill>
                  <a:srgbClr val="585861"/>
                </a:solidFill>
                <a:latin typeface="Space Grotesk"/>
              </a:rPr>
              <a:t>Q4_K_M
3.42 GB</a:t>
            </a:r>
          </a:p>
        </p:txBody>
      </p:sp>
      <p:sp>
        <p:nvSpPr>
          <p:cNvPr id="12" name="Right Arrow 11"/>
          <p:cNvSpPr/>
          <p:nvPr/>
        </p:nvSpPr>
        <p:spPr>
          <a:xfrm>
            <a:off x="9259212" y="3291840"/>
            <a:ext cx="384048"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43260" y="2286000"/>
            <a:ext cx="1832457"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000" b="1" i="0">
                <a:solidFill>
                  <a:srgbClr val="1F5B4D"/>
                </a:solidFill>
                <a:latin typeface="Space Grotesk"/>
              </a:rPr>
              <a:t>STAGE 5</a:t>
            </a:r>
          </a:p>
          <a:p>
            <a:pPr algn="ctr">
              <a:lnSpc>
                <a:spcPct val="110000"/>
              </a:lnSpc>
              <a:spcBef>
                <a:spcPts val="1000"/>
              </a:spcBef>
              <a:spcAft>
                <a:spcPts val="800"/>
              </a:spcAft>
            </a:pPr>
            <a:r>
              <a:rPr sz="1800" b="1" i="0">
                <a:solidFill>
                  <a:srgbClr val="1B1B1F"/>
                </a:solidFill>
                <a:latin typeface="Fraunces"/>
              </a:rPr>
              <a:t>FastAPI
+ Web UI</a:t>
            </a:r>
          </a:p>
          <a:p>
            <a:pPr algn="ctr">
              <a:lnSpc>
                <a:spcPct val="130000"/>
              </a:lnSpc>
              <a:spcAft>
                <a:spcPts val="400"/>
              </a:spcAft>
            </a:pPr>
            <a:r>
              <a:rPr sz="1200" b="0" i="0">
                <a:solidFill>
                  <a:srgbClr val="585861"/>
                </a:solidFill>
                <a:latin typeface="Space Grotesk"/>
              </a:rPr>
              <a:t>Streaming
token-by-token</a:t>
            </a:r>
          </a:p>
        </p:txBody>
      </p:sp>
      <p:sp>
        <p:nvSpPr>
          <p:cNvPr id="14" name="TextBox 13"/>
          <p:cNvSpPr txBox="1"/>
          <p:nvPr/>
        </p:nvSpPr>
        <p:spPr>
          <a:xfrm>
            <a:off x="777240" y="5120640"/>
            <a:ext cx="10698480" cy="457200"/>
          </a:xfrm>
          <a:prstGeom prst="rect">
            <a:avLst/>
          </a:prstGeom>
          <a:noFill/>
        </p:spPr>
        <p:txBody>
          <a:bodyPr wrap="square" lIns="0" rIns="0" tIns="0" bIns="0" anchor="t">
            <a:spAutoFit/>
          </a:bodyPr>
          <a:lstStyle/>
          <a:p>
            <a:pPr algn="ctr">
              <a:lnSpc>
                <a:spcPct val="135000"/>
              </a:lnSpc>
            </a:pPr>
            <a:r>
              <a:rPr sz="1500" b="0" i="1">
                <a:solidFill>
                  <a:srgbClr val="1B1B1F"/>
                </a:solidFill>
                <a:latin typeface="Space Grotesk"/>
              </a:rPr>
              <a:t>From a 16-GB-VRAM training need to a 3.42-GB CPU-runnable model — same quality, edge-deployable.</a:t>
            </a:r>
          </a:p>
        </p:txBody>
      </p:sp>
      <p:sp>
        <p:nvSpPr>
          <p:cNvPr id="15" name="TextBox 14"/>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Why Gemma 4 E2B-IT</a:t>
            </a:r>
          </a:p>
        </p:txBody>
      </p:sp>
      <p:sp>
        <p:nvSpPr>
          <p:cNvPr id="4" name="TextBox 3"/>
          <p:cNvSpPr txBox="1"/>
          <p:nvPr/>
        </p:nvSpPr>
        <p:spPr>
          <a:xfrm>
            <a:off x="777240" y="1097280"/>
            <a:ext cx="10698480" cy="548640"/>
          </a:xfrm>
          <a:prstGeom prst="rect">
            <a:avLst/>
          </a:prstGeom>
          <a:noFill/>
        </p:spPr>
        <p:txBody>
          <a:bodyPr wrap="square" lIns="0" rIns="0" tIns="0" bIns="0" anchor="t">
            <a:spAutoFit/>
          </a:bodyPr>
          <a:lstStyle/>
          <a:p>
            <a:pPr algn="l">
              <a:lnSpc>
                <a:spcPct val="135000"/>
              </a:lnSpc>
            </a:pPr>
            <a:r>
              <a:rPr sz="1800" b="0" i="0">
                <a:solidFill>
                  <a:srgbClr val="585861"/>
                </a:solidFill>
                <a:latin typeface="Space Grotesk"/>
              </a:rPr>
              <a:t>Three architectural choices made it the right base for edge deployment.</a:t>
            </a:r>
          </a:p>
        </p:txBody>
      </p:sp>
      <p:sp>
        <p:nvSpPr>
          <p:cNvPr id="5" name="Rounded Rectangle 4"/>
          <p:cNvSpPr/>
          <p:nvPr/>
        </p:nvSpPr>
        <p:spPr>
          <a:xfrm>
            <a:off x="777240" y="2103120"/>
            <a:ext cx="361188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5000"/>
              </a:lnSpc>
              <a:spcBef>
                <a:spcPts val="3000"/>
              </a:spcBef>
              <a:spcAft>
                <a:spcPts val="1000"/>
              </a:spcAft>
            </a:pPr>
            <a:r>
              <a:rPr sz="2000" b="1" i="0">
                <a:solidFill>
                  <a:srgbClr val="1B1B1F"/>
                </a:solidFill>
                <a:latin typeface="Fraunces"/>
              </a:rPr>
              <a:t>Per-Layer Embeddings</a:t>
            </a:r>
          </a:p>
          <a:p>
            <a:pPr algn="l">
              <a:lnSpc>
                <a:spcPct val="150000"/>
              </a:lnSpc>
              <a:spcAft>
                <a:spcPts val="400"/>
              </a:spcAft>
            </a:pPr>
            <a:r>
              <a:rPr sz="1400" b="0" i="0">
                <a:solidFill>
                  <a:srgbClr val="585861"/>
                </a:solidFill>
                <a:latin typeface="Space Grotesk"/>
              </a:rPr>
              <a:t>A secondary embedding signal feeds every decoder layer — representational depth without paying for it in active parameters.</a:t>
            </a:r>
          </a:p>
        </p:txBody>
      </p:sp>
      <p:sp>
        <p:nvSpPr>
          <p:cNvPr id="6" name="Rectangle 5"/>
          <p:cNvSpPr/>
          <p:nvPr/>
        </p:nvSpPr>
        <p:spPr>
          <a:xfrm>
            <a:off x="1005840" y="2377440"/>
            <a:ext cx="868680" cy="365760"/>
          </a:xfrm>
          <a:prstGeom prst="rect">
            <a:avLst/>
          </a:prstGeom>
          <a:solidFill>
            <a:srgbClr val="E7EFE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100" b="1" i="0">
                <a:solidFill>
                  <a:srgbClr val="1F5B4D"/>
                </a:solidFill>
                <a:latin typeface="Space Grotesk"/>
              </a:rPr>
              <a:t>PLE</a:t>
            </a:r>
          </a:p>
        </p:txBody>
      </p:sp>
      <p:sp>
        <p:nvSpPr>
          <p:cNvPr id="7" name="Rounded Rectangle 6"/>
          <p:cNvSpPr/>
          <p:nvPr/>
        </p:nvSpPr>
        <p:spPr>
          <a:xfrm>
            <a:off x="4572000" y="2103120"/>
            <a:ext cx="361188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5000"/>
              </a:lnSpc>
              <a:spcBef>
                <a:spcPts val="3000"/>
              </a:spcBef>
              <a:spcAft>
                <a:spcPts val="1000"/>
              </a:spcAft>
            </a:pPr>
            <a:r>
              <a:rPr sz="2000" b="1" i="0">
                <a:solidFill>
                  <a:srgbClr val="1B1B1F"/>
                </a:solidFill>
                <a:latin typeface="Fraunces"/>
              </a:rPr>
              <a:t>Sliding + global attention</a:t>
            </a:r>
          </a:p>
          <a:p>
            <a:pPr algn="l">
              <a:lnSpc>
                <a:spcPct val="150000"/>
              </a:lnSpc>
              <a:spcAft>
                <a:spcPts val="400"/>
              </a:spcAft>
            </a:pPr>
            <a:r>
              <a:rPr sz="1400" b="0" i="0">
                <a:solidFill>
                  <a:srgbClr val="585861"/>
                </a:solidFill>
                <a:latin typeface="Space Grotesk"/>
              </a:rPr>
              <a:t>Alternating local/full attention with shared KV cache keeps memory low across a 128 K-token context window.</a:t>
            </a:r>
          </a:p>
        </p:txBody>
      </p:sp>
      <p:sp>
        <p:nvSpPr>
          <p:cNvPr id="8" name="Rectangle 7"/>
          <p:cNvSpPr/>
          <p:nvPr/>
        </p:nvSpPr>
        <p:spPr>
          <a:xfrm>
            <a:off x="4800600" y="2377440"/>
            <a:ext cx="868680" cy="365760"/>
          </a:xfrm>
          <a:prstGeom prst="rect">
            <a:avLst/>
          </a:prstGeom>
          <a:solidFill>
            <a:srgbClr val="E7EFE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100" b="1" i="0">
                <a:solidFill>
                  <a:srgbClr val="1F5B4D"/>
                </a:solidFill>
                <a:latin typeface="Space Grotesk"/>
              </a:rPr>
              <a:t>ATTN</a:t>
            </a:r>
          </a:p>
        </p:txBody>
      </p:sp>
      <p:sp>
        <p:nvSpPr>
          <p:cNvPr id="9" name="Rounded Rectangle 8"/>
          <p:cNvSpPr/>
          <p:nvPr/>
        </p:nvSpPr>
        <p:spPr>
          <a:xfrm>
            <a:off x="8366760" y="2103120"/>
            <a:ext cx="361188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5000"/>
              </a:lnSpc>
              <a:spcBef>
                <a:spcPts val="3000"/>
              </a:spcBef>
              <a:spcAft>
                <a:spcPts val="1000"/>
              </a:spcAft>
            </a:pPr>
            <a:r>
              <a:rPr sz="2000" b="1" i="0">
                <a:solidFill>
                  <a:srgbClr val="1B1B1F"/>
                </a:solidFill>
                <a:latin typeface="Fraunces"/>
              </a:rPr>
              <a:t>Edge-optimized</a:t>
            </a:r>
          </a:p>
          <a:p>
            <a:pPr algn="l">
              <a:lnSpc>
                <a:spcPct val="150000"/>
              </a:lnSpc>
              <a:spcAft>
                <a:spcPts val="400"/>
              </a:spcAft>
            </a:pPr>
            <a:r>
              <a:rPr sz="1400" b="0" i="0">
                <a:solidFill>
                  <a:srgbClr val="585861"/>
                </a:solidFill>
                <a:latin typeface="Space Grotesk"/>
              </a:rPr>
              <a:t>Fits on a 16 GB GPU for QLoRA fine-tuning; runs entirely on consumer CPU after Q4_K_M quantization.</a:t>
            </a:r>
          </a:p>
        </p:txBody>
      </p:sp>
      <p:sp>
        <p:nvSpPr>
          <p:cNvPr id="10" name="Rectangle 9"/>
          <p:cNvSpPr/>
          <p:nvPr/>
        </p:nvSpPr>
        <p:spPr>
          <a:xfrm>
            <a:off x="8595360" y="2377440"/>
            <a:ext cx="868680" cy="365760"/>
          </a:xfrm>
          <a:prstGeom prst="rect">
            <a:avLst/>
          </a:prstGeom>
          <a:solidFill>
            <a:srgbClr val="E7EFE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100" b="1" i="0">
                <a:solidFill>
                  <a:srgbClr val="1F5B4D"/>
                </a:solidFill>
                <a:latin typeface="Space Grotesk"/>
              </a:rPr>
              <a:t>EDGE</a:t>
            </a:r>
          </a:p>
        </p:txBody>
      </p:sp>
      <p:sp>
        <p:nvSpPr>
          <p:cNvPr id="11" name="TextBox 10"/>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7</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Gemma 4 family at a glance</a:t>
            </a:r>
          </a:p>
        </p:txBody>
      </p:sp>
      <p:pic>
        <p:nvPicPr>
          <p:cNvPr id="4" name="Picture 3" descr="fig3_gemma_family.png"/>
          <p:cNvPicPr>
            <a:picLocks noChangeAspect="1"/>
          </p:cNvPicPr>
          <p:nvPr/>
        </p:nvPicPr>
        <p:blipFill>
          <a:blip r:embed="rId3"/>
          <a:stretch>
            <a:fillRect/>
          </a:stretch>
        </p:blipFill>
        <p:spPr>
          <a:xfrm>
            <a:off x="1854891" y="1371600"/>
            <a:ext cx="5738713" cy="4572000"/>
          </a:xfrm>
          <a:prstGeom prst="rect">
            <a:avLst/>
          </a:prstGeom>
        </p:spPr>
      </p:pic>
      <p:sp>
        <p:nvSpPr>
          <p:cNvPr id="5" name="Rounded Rectangle 4"/>
          <p:cNvSpPr/>
          <p:nvPr/>
        </p:nvSpPr>
        <p:spPr>
          <a:xfrm>
            <a:off x="7863840" y="2194560"/>
            <a:ext cx="3749039" cy="1828800"/>
          </a:xfrm>
          <a:prstGeom prst="roundRect">
            <a:avLst>
              <a:gd name="adj" fmla="val 8000"/>
            </a:avLst>
          </a:prstGeom>
          <a:solidFill>
            <a:srgbClr val="E98D5C"/>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FFFFFF"/>
                </a:solidFill>
                <a:latin typeface="Space Grotesk"/>
              </a:rPr>
              <a:t>OUR PICK</a:t>
            </a:r>
          </a:p>
          <a:p>
            <a:pPr algn="l">
              <a:lnSpc>
                <a:spcPct val="110000"/>
              </a:lnSpc>
              <a:spcBef>
                <a:spcPts val="400"/>
              </a:spcBef>
              <a:spcAft>
                <a:spcPts val="600"/>
              </a:spcAft>
            </a:pPr>
            <a:r>
              <a:rPr sz="2200" b="1" i="0">
                <a:solidFill>
                  <a:srgbClr val="FFFFFF"/>
                </a:solidFill>
                <a:latin typeface="Fraunces"/>
              </a:rPr>
              <a:t>Gemma 4 E2B-IT</a:t>
            </a:r>
          </a:p>
          <a:p>
            <a:pPr algn="l">
              <a:lnSpc>
                <a:spcPct val="130000"/>
              </a:lnSpc>
              <a:spcAft>
                <a:spcPts val="400"/>
              </a:spcAft>
            </a:pPr>
            <a:r>
              <a:rPr sz="1300" b="0" i="0">
                <a:solidFill>
                  <a:srgbClr val="FFFFFF"/>
                </a:solidFill>
                <a:latin typeface="Space Grotesk"/>
              </a:rPr>
              <a:t>2.3 B effective · 35 layers · 128 K context</a:t>
            </a:r>
          </a:p>
        </p:txBody>
      </p:sp>
      <p:sp>
        <p:nvSpPr>
          <p:cNvPr id="6" name="TextBox 5"/>
          <p:cNvSpPr txBox="1"/>
          <p:nvPr/>
        </p:nvSpPr>
        <p:spPr>
          <a:xfrm>
            <a:off x="7863840" y="4206240"/>
            <a:ext cx="3749039" cy="1463040"/>
          </a:xfrm>
          <a:prstGeom prst="rect">
            <a:avLst/>
          </a:prstGeom>
          <a:noFill/>
        </p:spPr>
        <p:txBody>
          <a:bodyPr wrap="square" lIns="0" rIns="0" tIns="0" bIns="0" anchor="t">
            <a:spAutoFit/>
          </a:bodyPr>
          <a:lstStyle/>
          <a:p>
            <a:pPr algn="l">
              <a:lnSpc>
                <a:spcPct val="140000"/>
              </a:lnSpc>
            </a:pPr>
            <a:r>
              <a:rPr sz="1300" b="0" i="0">
                <a:solidFill>
                  <a:srgbClr val="585861"/>
                </a:solidFill>
                <a:latin typeface="Space Grotesk"/>
              </a:rPr>
              <a:t>Smallest model in the family that still keeps the
full Gemma 4 architecture — sliding attention, shared
KV cache, 256 K vocabulary.</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8</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Dual-model strategy: isolate scale from fine-tuning</a:t>
            </a:r>
          </a:p>
        </p:txBody>
      </p:sp>
      <p:sp>
        <p:nvSpPr>
          <p:cNvPr id="4" name="TextBox 3"/>
          <p:cNvSpPr txBox="1"/>
          <p:nvPr/>
        </p:nvSpPr>
        <p:spPr>
          <a:xfrm>
            <a:off x="3200400" y="1371600"/>
            <a:ext cx="3200400" cy="365760"/>
          </a:xfrm>
          <a:prstGeom prst="rect">
            <a:avLst/>
          </a:prstGeom>
          <a:noFill/>
        </p:spPr>
        <p:txBody>
          <a:bodyPr wrap="square" lIns="0" rIns="0" tIns="0" bIns="0" anchor="t">
            <a:spAutoFit/>
          </a:bodyPr>
          <a:lstStyle/>
          <a:p>
            <a:pPr algn="ctr">
              <a:lnSpc>
                <a:spcPct val="120000"/>
              </a:lnSpc>
            </a:pPr>
            <a:r>
              <a:rPr sz="1200" b="1" i="0">
                <a:solidFill>
                  <a:srgbClr val="585861"/>
                </a:solidFill>
                <a:latin typeface="Space Grotesk"/>
              </a:rPr>
              <a:t>SMALL</a:t>
            </a:r>
          </a:p>
        </p:txBody>
      </p:sp>
      <p:sp>
        <p:nvSpPr>
          <p:cNvPr id="5" name="TextBox 4"/>
          <p:cNvSpPr txBox="1"/>
          <p:nvPr/>
        </p:nvSpPr>
        <p:spPr>
          <a:xfrm>
            <a:off x="6492240" y="1371600"/>
            <a:ext cx="3200400" cy="365760"/>
          </a:xfrm>
          <a:prstGeom prst="rect">
            <a:avLst/>
          </a:prstGeom>
          <a:noFill/>
        </p:spPr>
        <p:txBody>
          <a:bodyPr wrap="square" lIns="0" rIns="0" tIns="0" bIns="0" anchor="t">
            <a:spAutoFit/>
          </a:bodyPr>
          <a:lstStyle/>
          <a:p>
            <a:pPr algn="ctr">
              <a:lnSpc>
                <a:spcPct val="120000"/>
              </a:lnSpc>
            </a:pPr>
            <a:r>
              <a:rPr sz="1200" b="1" i="0">
                <a:solidFill>
                  <a:srgbClr val="585861"/>
                </a:solidFill>
                <a:latin typeface="Space Grotesk"/>
              </a:rPr>
              <a:t>LARGE</a:t>
            </a:r>
          </a:p>
        </p:txBody>
      </p:sp>
      <p:sp>
        <p:nvSpPr>
          <p:cNvPr id="6" name="TextBox 5"/>
          <p:cNvSpPr txBox="1"/>
          <p:nvPr/>
        </p:nvSpPr>
        <p:spPr>
          <a:xfrm>
            <a:off x="777240" y="2286000"/>
            <a:ext cx="2331720" cy="1554480"/>
          </a:xfrm>
          <a:prstGeom prst="rect">
            <a:avLst/>
          </a:prstGeom>
          <a:noFill/>
        </p:spPr>
        <p:txBody>
          <a:bodyPr wrap="square" lIns="0" rIns="0" tIns="0" bIns="0" anchor="ctr">
            <a:spAutoFit/>
          </a:bodyPr>
          <a:lstStyle/>
          <a:p>
            <a:pPr algn="r">
              <a:lnSpc>
                <a:spcPct val="120000"/>
              </a:lnSpc>
            </a:pPr>
            <a:r>
              <a:rPr sz="1800" b="1" i="0">
                <a:solidFill>
                  <a:srgbClr val="1B1B1F"/>
                </a:solidFill>
                <a:latin typeface="Fraunces"/>
              </a:rPr>
              <a:t>Fine-tuned</a:t>
            </a:r>
          </a:p>
        </p:txBody>
      </p:sp>
      <p:sp>
        <p:nvSpPr>
          <p:cNvPr id="7" name="TextBox 6"/>
          <p:cNvSpPr txBox="1"/>
          <p:nvPr/>
        </p:nvSpPr>
        <p:spPr>
          <a:xfrm>
            <a:off x="777240" y="4023360"/>
            <a:ext cx="2331720" cy="1554480"/>
          </a:xfrm>
          <a:prstGeom prst="rect">
            <a:avLst/>
          </a:prstGeom>
          <a:noFill/>
        </p:spPr>
        <p:txBody>
          <a:bodyPr wrap="square" lIns="0" rIns="0" tIns="0" bIns="0" anchor="ctr">
            <a:spAutoFit/>
          </a:bodyPr>
          <a:lstStyle/>
          <a:p>
            <a:pPr algn="r">
              <a:lnSpc>
                <a:spcPct val="120000"/>
              </a:lnSpc>
            </a:pPr>
            <a:r>
              <a:rPr sz="1800" b="1" i="0">
                <a:solidFill>
                  <a:srgbClr val="1B1B1F"/>
                </a:solidFill>
                <a:latin typeface="Fraunces"/>
              </a:rPr>
              <a:t>Zero-shot baseline</a:t>
            </a:r>
          </a:p>
        </p:txBody>
      </p:sp>
      <p:sp>
        <p:nvSpPr>
          <p:cNvPr id="8" name="Rounded Rectangle 7"/>
          <p:cNvSpPr/>
          <p:nvPr/>
        </p:nvSpPr>
        <p:spPr>
          <a:xfrm>
            <a:off x="3200400" y="1828800"/>
            <a:ext cx="3200400" cy="15544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FINE-TUNED</a:t>
            </a:r>
          </a:p>
          <a:p>
            <a:pPr algn="l">
              <a:lnSpc>
                <a:spcPct val="110000"/>
              </a:lnSpc>
              <a:spcBef>
                <a:spcPts val="400"/>
              </a:spcBef>
              <a:spcAft>
                <a:spcPts val="400"/>
              </a:spcAft>
            </a:pPr>
            <a:r>
              <a:rPr sz="2000" b="1" i="0">
                <a:solidFill>
                  <a:srgbClr val="1B1B1F"/>
                </a:solidFill>
                <a:latin typeface="Fraunces"/>
              </a:rPr>
              <a:t>GPT-2 Small</a:t>
            </a:r>
          </a:p>
          <a:p>
            <a:pPr algn="l">
              <a:lnSpc>
                <a:spcPct val="130000"/>
              </a:lnSpc>
              <a:spcAft>
                <a:spcPts val="400"/>
              </a:spcAft>
            </a:pPr>
            <a:r>
              <a:rPr sz="1300" b="0" i="0">
                <a:solidFill>
                  <a:srgbClr val="585861"/>
                </a:solidFill>
                <a:latin typeface="Space Grotesk"/>
              </a:rPr>
              <a:t>124 M params · full fine-tune</a:t>
            </a:r>
          </a:p>
        </p:txBody>
      </p:sp>
      <p:sp>
        <p:nvSpPr>
          <p:cNvPr id="9" name="Rounded Rectangle 8"/>
          <p:cNvSpPr/>
          <p:nvPr/>
        </p:nvSpPr>
        <p:spPr>
          <a:xfrm>
            <a:off x="6492240" y="1828800"/>
            <a:ext cx="3200400" cy="15544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FINE-TUNED</a:t>
            </a:r>
          </a:p>
          <a:p>
            <a:pPr algn="l">
              <a:lnSpc>
                <a:spcPct val="110000"/>
              </a:lnSpc>
              <a:spcBef>
                <a:spcPts val="400"/>
              </a:spcBef>
              <a:spcAft>
                <a:spcPts val="400"/>
              </a:spcAft>
            </a:pPr>
            <a:r>
              <a:rPr sz="2000" b="1" i="0">
                <a:solidFill>
                  <a:srgbClr val="1B1B1F"/>
                </a:solidFill>
                <a:latin typeface="Fraunces"/>
              </a:rPr>
              <a:t>Gemma 4 E2B-IT</a:t>
            </a:r>
          </a:p>
          <a:p>
            <a:pPr algn="l">
              <a:lnSpc>
                <a:spcPct val="130000"/>
              </a:lnSpc>
              <a:spcAft>
                <a:spcPts val="400"/>
              </a:spcAft>
            </a:pPr>
            <a:r>
              <a:rPr sz="1300" b="0" i="0">
                <a:solidFill>
                  <a:srgbClr val="585861"/>
                </a:solidFill>
                <a:latin typeface="Space Grotesk"/>
              </a:rPr>
              <a:t>2.3 B · QLoRA + Q4_K_M GGUF</a:t>
            </a:r>
          </a:p>
        </p:txBody>
      </p:sp>
      <p:sp>
        <p:nvSpPr>
          <p:cNvPr id="10" name="Rounded Rectangle 9"/>
          <p:cNvSpPr/>
          <p:nvPr/>
        </p:nvSpPr>
        <p:spPr>
          <a:xfrm>
            <a:off x="3200400" y="3566160"/>
            <a:ext cx="3200400" cy="1554480"/>
          </a:xfrm>
          <a:prstGeom prst="roundRect">
            <a:avLst>
              <a:gd name="adj" fmla="val 8000"/>
            </a:avLst>
          </a:prstGeom>
          <a:solidFill>
            <a:srgbClr val="F3EFE6"/>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585861"/>
                </a:solidFill>
                <a:latin typeface="Space Grotesk"/>
              </a:rPr>
              <a:t>BASELINE</a:t>
            </a:r>
          </a:p>
          <a:p>
            <a:pPr algn="l">
              <a:lnSpc>
                <a:spcPct val="110000"/>
              </a:lnSpc>
              <a:spcBef>
                <a:spcPts val="400"/>
              </a:spcBef>
              <a:spcAft>
                <a:spcPts val="400"/>
              </a:spcAft>
            </a:pPr>
            <a:r>
              <a:rPr sz="2000" b="1" i="0">
                <a:solidFill>
                  <a:srgbClr val="1B1B1F"/>
                </a:solidFill>
                <a:latin typeface="Fraunces"/>
              </a:rPr>
              <a:t>GPT-2 XL</a:t>
            </a:r>
          </a:p>
          <a:p>
            <a:pPr algn="l">
              <a:lnSpc>
                <a:spcPct val="130000"/>
              </a:lnSpc>
              <a:spcAft>
                <a:spcPts val="400"/>
              </a:spcAft>
            </a:pPr>
            <a:r>
              <a:rPr sz="1300" b="0" i="0">
                <a:solidFill>
                  <a:srgbClr val="585861"/>
                </a:solidFill>
                <a:latin typeface="Space Grotesk"/>
              </a:rPr>
              <a:t>1.5 B · zero-shot</a:t>
            </a:r>
          </a:p>
        </p:txBody>
      </p:sp>
      <p:sp>
        <p:nvSpPr>
          <p:cNvPr id="11" name="Rounded Rectangle 10"/>
          <p:cNvSpPr/>
          <p:nvPr/>
        </p:nvSpPr>
        <p:spPr>
          <a:xfrm>
            <a:off x="6492240" y="3566160"/>
            <a:ext cx="3200400" cy="1554480"/>
          </a:xfrm>
          <a:prstGeom prst="roundRect">
            <a:avLst>
              <a:gd name="adj" fmla="val 8000"/>
            </a:avLst>
          </a:prstGeom>
          <a:solidFill>
            <a:srgbClr val="F3EFE6"/>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585861"/>
                </a:solidFill>
                <a:latin typeface="Space Grotesk"/>
              </a:rPr>
              <a:t>BASELINE</a:t>
            </a:r>
          </a:p>
          <a:p>
            <a:pPr algn="l">
              <a:lnSpc>
                <a:spcPct val="110000"/>
              </a:lnSpc>
              <a:spcBef>
                <a:spcPts val="400"/>
              </a:spcBef>
              <a:spcAft>
                <a:spcPts val="400"/>
              </a:spcAft>
            </a:pPr>
            <a:r>
              <a:rPr sz="2000" b="1" i="0">
                <a:solidFill>
                  <a:srgbClr val="1B1B1F"/>
                </a:solidFill>
                <a:latin typeface="Fraunces"/>
              </a:rPr>
              <a:t>Gemma 4 E4B-IT</a:t>
            </a:r>
          </a:p>
          <a:p>
            <a:pPr algn="l">
              <a:lnSpc>
                <a:spcPct val="130000"/>
              </a:lnSpc>
              <a:spcAft>
                <a:spcPts val="400"/>
              </a:spcAft>
            </a:pPr>
            <a:r>
              <a:rPr sz="1300" b="0" i="0">
                <a:solidFill>
                  <a:srgbClr val="585861"/>
                </a:solidFill>
                <a:latin typeface="Space Grotesk"/>
              </a:rPr>
              <a:t>4.5 B · zero-shot, GGUF</a:t>
            </a:r>
          </a:p>
        </p:txBody>
      </p:sp>
      <p:sp>
        <p:nvSpPr>
          <p:cNvPr id="12" name="TextBox 11"/>
          <p:cNvSpPr txBox="1"/>
          <p:nvPr/>
        </p:nvSpPr>
        <p:spPr>
          <a:xfrm>
            <a:off x="777240" y="5806440"/>
            <a:ext cx="10698480" cy="457200"/>
          </a:xfrm>
          <a:prstGeom prst="rect">
            <a:avLst/>
          </a:prstGeom>
          <a:noFill/>
        </p:spPr>
        <p:txBody>
          <a:bodyPr wrap="square" lIns="0" rIns="0" tIns="0" bIns="0" anchor="t">
            <a:spAutoFit/>
          </a:bodyPr>
          <a:lstStyle/>
          <a:p>
            <a:pPr algn="ctr">
              <a:lnSpc>
                <a:spcPct val="135000"/>
              </a:lnSpc>
            </a:pPr>
            <a:r>
              <a:rPr sz="1400" b="0" i="1">
                <a:solidFill>
                  <a:srgbClr val="1B1B1F"/>
                </a:solidFill>
                <a:latin typeface="Space Grotesk"/>
              </a:rPr>
              <a:t>Two scales × two regimes lets us separate "does fine-tuning help" from "is bigger always better."</a:t>
            </a:r>
          </a:p>
        </p:txBody>
      </p:sp>
      <p:sp>
        <p:nvSpPr>
          <p:cNvPr id="13" name="TextBox 12"/>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9</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Approach: six steps from dataset to deployment</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Each next slide unpacks one of these steps in detail.</a:t>
            </a:r>
          </a:p>
        </p:txBody>
      </p:sp>
      <p:sp>
        <p:nvSpPr>
          <p:cNvPr id="5" name="Rounded Rectangle 4"/>
          <p:cNvSpPr/>
          <p:nvPr/>
        </p:nvSpPr>
        <p:spPr>
          <a:xfrm>
            <a:off x="777240"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01</a:t>
            </a:r>
          </a:p>
          <a:p>
            <a:pPr algn="ctr">
              <a:lnSpc>
                <a:spcPct val="125000"/>
              </a:lnSpc>
              <a:spcBef>
                <a:spcPts val="800"/>
              </a:spcBef>
              <a:spcAft>
                <a:spcPts val="400"/>
              </a:spcAft>
            </a:pPr>
            <a:r>
              <a:rPr sz="1400" b="1" i="0">
                <a:solidFill>
                  <a:srgbClr val="1B1B1F"/>
                </a:solidFill>
                <a:latin typeface="Space Grotesk"/>
              </a:rPr>
              <a:t>Dataset curation</a:t>
            </a:r>
          </a:p>
        </p:txBody>
      </p:sp>
      <p:sp>
        <p:nvSpPr>
          <p:cNvPr id="6" name="Rounded Rectangle 5"/>
          <p:cNvSpPr/>
          <p:nvPr/>
        </p:nvSpPr>
        <p:spPr>
          <a:xfrm>
            <a:off x="2587752"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02</a:t>
            </a:r>
          </a:p>
          <a:p>
            <a:pPr algn="ctr">
              <a:lnSpc>
                <a:spcPct val="125000"/>
              </a:lnSpc>
              <a:spcBef>
                <a:spcPts val="800"/>
              </a:spcBef>
              <a:spcAft>
                <a:spcPts val="400"/>
              </a:spcAft>
            </a:pPr>
            <a:r>
              <a:rPr sz="1400" b="1" i="0">
                <a:solidFill>
                  <a:srgbClr val="1B1B1F"/>
                </a:solidFill>
                <a:latin typeface="Space Grotesk"/>
              </a:rPr>
              <a:t>Prefix conditioning</a:t>
            </a:r>
          </a:p>
        </p:txBody>
      </p:sp>
      <p:sp>
        <p:nvSpPr>
          <p:cNvPr id="7" name="Rounded Rectangle 6"/>
          <p:cNvSpPr/>
          <p:nvPr/>
        </p:nvSpPr>
        <p:spPr>
          <a:xfrm>
            <a:off x="4398264"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03</a:t>
            </a:r>
          </a:p>
          <a:p>
            <a:pPr algn="ctr">
              <a:lnSpc>
                <a:spcPct val="125000"/>
              </a:lnSpc>
              <a:spcBef>
                <a:spcPts val="800"/>
              </a:spcBef>
              <a:spcAft>
                <a:spcPts val="400"/>
              </a:spcAft>
            </a:pPr>
            <a:r>
              <a:rPr sz="1400" b="1" i="0">
                <a:solidFill>
                  <a:srgbClr val="1B1B1F"/>
                </a:solidFill>
                <a:latin typeface="Space Grotesk"/>
              </a:rPr>
              <a:t>QLoRA setup</a:t>
            </a:r>
          </a:p>
        </p:txBody>
      </p:sp>
      <p:sp>
        <p:nvSpPr>
          <p:cNvPr id="8" name="Rounded Rectangle 7"/>
          <p:cNvSpPr/>
          <p:nvPr/>
        </p:nvSpPr>
        <p:spPr>
          <a:xfrm>
            <a:off x="6208776"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04</a:t>
            </a:r>
          </a:p>
          <a:p>
            <a:pPr algn="ctr">
              <a:lnSpc>
                <a:spcPct val="125000"/>
              </a:lnSpc>
              <a:spcBef>
                <a:spcPts val="800"/>
              </a:spcBef>
              <a:spcAft>
                <a:spcPts val="400"/>
              </a:spcAft>
            </a:pPr>
            <a:r>
              <a:rPr sz="1400" b="1" i="0">
                <a:solidFill>
                  <a:srgbClr val="1B1B1F"/>
                </a:solidFill>
                <a:latin typeface="Space Grotesk"/>
              </a:rPr>
              <a:t>Kaggle training</a:t>
            </a:r>
          </a:p>
        </p:txBody>
      </p:sp>
      <p:sp>
        <p:nvSpPr>
          <p:cNvPr id="9" name="Rounded Rectangle 8"/>
          <p:cNvSpPr/>
          <p:nvPr/>
        </p:nvSpPr>
        <p:spPr>
          <a:xfrm>
            <a:off x="8019288"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05</a:t>
            </a:r>
          </a:p>
          <a:p>
            <a:pPr algn="ctr">
              <a:lnSpc>
                <a:spcPct val="125000"/>
              </a:lnSpc>
              <a:spcBef>
                <a:spcPts val="800"/>
              </a:spcBef>
              <a:spcAft>
                <a:spcPts val="400"/>
              </a:spcAft>
            </a:pPr>
            <a:r>
              <a:rPr sz="1400" b="1" i="0">
                <a:solidFill>
                  <a:srgbClr val="1B1B1F"/>
                </a:solidFill>
                <a:latin typeface="Space Grotesk"/>
              </a:rPr>
              <a:t>Merge &amp; quantize</a:t>
            </a:r>
          </a:p>
        </p:txBody>
      </p:sp>
      <p:sp>
        <p:nvSpPr>
          <p:cNvPr id="10" name="Rounded Rectangle 9"/>
          <p:cNvSpPr/>
          <p:nvPr/>
        </p:nvSpPr>
        <p:spPr>
          <a:xfrm>
            <a:off x="9829800"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06</a:t>
            </a:r>
          </a:p>
          <a:p>
            <a:pPr algn="ctr">
              <a:lnSpc>
                <a:spcPct val="125000"/>
              </a:lnSpc>
              <a:spcBef>
                <a:spcPts val="800"/>
              </a:spcBef>
              <a:spcAft>
                <a:spcPts val="400"/>
              </a:spcAft>
            </a:pPr>
            <a:r>
              <a:rPr sz="1400" b="1" i="0">
                <a:solidFill>
                  <a:srgbClr val="1B1B1F"/>
                </a:solidFill>
                <a:latin typeface="Space Grotesk"/>
              </a:rPr>
              <a:t>Deploy &amp; evaluate</a:t>
            </a:r>
          </a:p>
        </p:txBody>
      </p:sp>
      <p:cxnSp>
        <p:nvCxnSpPr>
          <p:cNvPr id="11" name="Connector 10"/>
          <p:cNvCxnSpPr/>
          <p:nvPr/>
        </p:nvCxnSpPr>
        <p:spPr>
          <a:xfrm>
            <a:off x="1600200" y="4892040"/>
            <a:ext cx="9052560" cy="0"/>
          </a:xfrm>
          <a:prstGeom prst="line">
            <a:avLst/>
          </a:prstGeom>
          <a:ln w="25400">
            <a:solidFill>
              <a:srgbClr val="1F5B4D"/>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508760"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19272"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129784"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40296"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50808"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561320"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760720"/>
            <a:ext cx="10698480" cy="548640"/>
          </a:xfrm>
          <a:prstGeom prst="rect">
            <a:avLst/>
          </a:prstGeom>
          <a:noFill/>
        </p:spPr>
        <p:txBody>
          <a:bodyPr wrap="square" lIns="0" rIns="0" tIns="0" bIns="0" anchor="t">
            <a:spAutoFit/>
          </a:bodyPr>
          <a:lstStyle/>
          <a:p>
            <a:pPr algn="ctr">
              <a:lnSpc>
                <a:spcPct val="135000"/>
              </a:lnSpc>
            </a:pPr>
            <a:r>
              <a:rPr sz="1400" b="0" i="1">
                <a:solidFill>
                  <a:srgbClr val="1B1B1F"/>
                </a:solidFill>
                <a:latin typeface="Space Grotesk"/>
              </a:rPr>
              <a:t>Steps 1–4 are about training cheaply. Steps 5–6 are about deploying and judging the result.</a:t>
            </a:r>
          </a:p>
        </p:txBody>
      </p:sp>
      <p:sp>
        <p:nvSpPr>
          <p:cNvPr id="19" name="TextBox 18"/>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1 · Dataset curation</a:t>
            </a:r>
          </a:p>
        </p:txBody>
      </p:sp>
      <p:sp>
        <p:nvSpPr>
          <p:cNvPr id="4" name="Rounded Rectangle 3"/>
          <p:cNvSpPr/>
          <p:nvPr/>
        </p:nvSpPr>
        <p:spPr>
          <a:xfrm>
            <a:off x="777240" y="1143000"/>
            <a:ext cx="914400" cy="457200"/>
          </a:xfrm>
          <a:prstGeom prst="roundRect">
            <a:avLst>
              <a:gd name="adj" fmla="val 8000"/>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200" b="1" i="0">
                <a:solidFill>
                  <a:srgbClr val="FFFFFF"/>
                </a:solidFill>
                <a:latin typeface="Space Grotesk"/>
              </a:rPr>
              <a:t>STEP 1</a:t>
            </a:r>
          </a:p>
        </p:txBody>
      </p:sp>
      <p:sp>
        <p:nvSpPr>
          <p:cNvPr id="5" name="Rounded Rectangle 4"/>
          <p:cNvSpPr/>
          <p:nvPr/>
        </p:nvSpPr>
        <p:spPr>
          <a:xfrm>
            <a:off x="777240" y="1828800"/>
            <a:ext cx="5029200" cy="42976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400" b="0" i="0">
                <a:solidFill>
                  <a:srgbClr val="1F5B4D"/>
                </a:solidFill>
                <a:latin typeface="Consolas"/>
              </a:rPr>
              <a:t>ajibawa-2023/Children-Stories-Collection</a:t>
            </a:r>
          </a:p>
          <a:p>
            <a:pPr algn="l">
              <a:lnSpc>
                <a:spcPct val="140000"/>
              </a:lnSpc>
              <a:spcBef>
                <a:spcPts val="200"/>
              </a:spcBef>
              <a:spcAft>
                <a:spcPts val="1400"/>
              </a:spcAft>
            </a:pPr>
            <a:r>
              <a:rPr sz="1400" b="0" i="0">
                <a:solidFill>
                  <a:srgbClr val="585861"/>
                </a:solidFill>
                <a:latin typeface="Space Grotesk"/>
              </a:rPr>
              <a:t>Hugging Face dataset, ≈ 900 K children's stories.</a:t>
            </a:r>
          </a:p>
          <a:p>
            <a:pPr algn="l" indent="-228600" marL="228600">
              <a:lnSpc>
                <a:spcPct val="140000"/>
              </a:lnSpc>
              <a:spcAft>
                <a:spcPts val="600"/>
              </a:spcAft>
              <a:buFont typeface="Arial"/>
              <a:buChar char="•"/>
            </a:pPr>
            <a:r>
              <a:rPr sz="1500" b="0" i="0">
                <a:solidFill>
                  <a:srgbClr val="1B1B1F"/>
                </a:solidFill>
                <a:latin typeface="Space Grotesk"/>
              </a:rPr>
              <a:t>10 000 stories subsampled to fit Kaggle quotas</a:t>
            </a:r>
          </a:p>
          <a:p>
            <a:pPr algn="l" indent="-228600" marL="228600">
              <a:lnSpc>
                <a:spcPct val="140000"/>
              </a:lnSpc>
              <a:spcAft>
                <a:spcPts val="600"/>
              </a:spcAft>
              <a:buFont typeface="Arial"/>
              <a:buChar char="•"/>
            </a:pPr>
            <a:r>
              <a:rPr sz="1500" b="0" i="0">
                <a:solidFill>
                  <a:srgbClr val="1B1B1F"/>
                </a:solidFill>
                <a:latin typeface="Space Grotesk"/>
              </a:rPr>
              <a:t>95 % train / 5 % eval split</a:t>
            </a:r>
          </a:p>
          <a:p>
            <a:pPr algn="l" indent="-228600" marL="228600">
              <a:lnSpc>
                <a:spcPct val="140000"/>
              </a:lnSpc>
              <a:spcAft>
                <a:spcPts val="600"/>
              </a:spcAft>
              <a:buFont typeface="Arial"/>
              <a:buChar char="•"/>
            </a:pPr>
            <a:r>
              <a:rPr sz="1500" b="0" i="0">
                <a:solidFill>
                  <a:srgbClr val="1B1B1F"/>
                </a:solidFill>
                <a:latin typeface="Space Grotesk"/>
              </a:rPr>
              <a:t>Five age levels: 3-4, 5-6, 7-8, 9-10, 11-12</a:t>
            </a:r>
          </a:p>
          <a:p>
            <a:pPr algn="l" indent="-228600" marL="228600">
              <a:lnSpc>
                <a:spcPct val="140000"/>
              </a:lnSpc>
              <a:spcAft>
                <a:spcPts val="600"/>
              </a:spcAft>
              <a:buFont typeface="Arial"/>
              <a:buChar char="•"/>
            </a:pPr>
            <a:r>
              <a:rPr sz="1500" b="0" i="0">
                <a:solidFill>
                  <a:srgbClr val="1B1B1F"/>
                </a:solidFill>
                <a:latin typeface="Space Grotesk"/>
              </a:rPr>
              <a:t>Round-robin assignment → 2 000 per level (perfectly balanced)</a:t>
            </a:r>
          </a:p>
          <a:p>
            <a:pPr algn="l" indent="-228600" marL="228600">
              <a:lnSpc>
                <a:spcPct val="140000"/>
              </a:lnSpc>
              <a:spcAft>
                <a:spcPts val="600"/>
              </a:spcAft>
              <a:buFont typeface="Arial"/>
              <a:buChar char="•"/>
            </a:pPr>
            <a:r>
              <a:rPr sz="1500" b="0" i="0">
                <a:solidFill>
                  <a:srgbClr val="1B1B1F"/>
                </a:solidFill>
                <a:latin typeface="Space Grotesk"/>
              </a:rPr>
              <a:t>Format: prompt-text pairs, ready for instruction tuning</a:t>
            </a:r>
          </a:p>
        </p:txBody>
      </p:sp>
      <p:pic>
        <p:nvPicPr>
          <p:cNvPr id="6" name="Picture 5" descr="fig4_dataset_sample.png"/>
          <p:cNvPicPr>
            <a:picLocks noChangeAspect="1"/>
          </p:cNvPicPr>
          <p:nvPr/>
        </p:nvPicPr>
        <p:blipFill>
          <a:blip r:embed="rId3"/>
          <a:stretch>
            <a:fillRect/>
          </a:stretch>
        </p:blipFill>
        <p:spPr>
          <a:xfrm>
            <a:off x="5989320" y="1828800"/>
            <a:ext cx="5760720" cy="2985280"/>
          </a:xfrm>
          <a:prstGeom prst="rect">
            <a:avLst/>
          </a:prstGeom>
        </p:spPr>
      </p:pic>
      <p:sp>
        <p:nvSpPr>
          <p:cNvPr id="7" name="TextBox 6"/>
          <p:cNvSpPr txBox="1"/>
          <p:nvPr/>
        </p:nvSpPr>
        <p:spPr>
          <a:xfrm>
            <a:off x="5989320" y="4905520"/>
            <a:ext cx="5760720" cy="365760"/>
          </a:xfrm>
          <a:prstGeom prst="rect">
            <a:avLst/>
          </a:prstGeom>
          <a:noFill/>
        </p:spPr>
        <p:txBody>
          <a:bodyPr wrap="square" lIns="0" rIns="0" tIns="0" bIns="0" anchor="t">
            <a:spAutoFit/>
          </a:bodyPr>
          <a:lstStyle/>
          <a:p>
            <a:pPr algn="l">
              <a:lnSpc>
                <a:spcPct val="130000"/>
              </a:lnSpc>
            </a:pPr>
            <a:r>
              <a:rPr sz="1100" b="0" i="1">
                <a:solidFill>
                  <a:srgbClr val="585861"/>
                </a:solidFill>
                <a:latin typeface="Space Grotesk"/>
              </a:rPr>
              <a:t>HF dataset viewer — `text_token_length` distribution and prompt/text columns</a:t>
            </a:r>
          </a:p>
        </p:txBody>
      </p:sp>
      <p:sp>
        <p:nvSpPr>
          <p:cNvPr id="8" name="TextBox 7"/>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11</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2 · Prefix conditioning</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30000"/>
              </a:lnSpc>
            </a:pPr>
            <a:r>
              <a:rPr sz="1700" b="0" i="0">
                <a:solidFill>
                  <a:srgbClr val="585861"/>
                </a:solidFill>
                <a:latin typeface="Space Grotesk"/>
              </a:rPr>
              <a:t>One model, five age bands. The prefix tells the model who the story is for.</a:t>
            </a:r>
          </a:p>
        </p:txBody>
      </p:sp>
      <p:sp>
        <p:nvSpPr>
          <p:cNvPr id="5" name="Rectangle 4"/>
          <p:cNvSpPr/>
          <p:nvPr/>
        </p:nvSpPr>
        <p:spPr>
          <a:xfrm>
            <a:off x="777240" y="1920240"/>
            <a:ext cx="10698480" cy="2423160"/>
          </a:xfrm>
          <a:prstGeom prst="rect">
            <a:avLst/>
          </a:prstGeom>
          <a:solidFill>
            <a:srgbClr val="1B1B1F"/>
          </a:solidFill>
          <a:ln>
            <a:noFill/>
          </a:ln>
        </p:spPr>
        <p:style>
          <a:lnRef idx="1">
            <a:schemeClr val="accent1"/>
          </a:lnRef>
          <a:fillRef idx="3">
            <a:schemeClr val="accent1"/>
          </a:fillRef>
          <a:effectRef idx="2">
            <a:schemeClr val="accent1"/>
          </a:effectRef>
          <a:fontRef idx="minor">
            <a:schemeClr val="lt1"/>
          </a:fontRef>
        </p:style>
        <p:txBody>
          <a:bodyPr rtlCol="0" anchor="ctr" lIns="228600" rIns="228600" tIns="164592" bIns="164592" wrap="square"/>
          <a:lstStyle/>
          <a:p>
            <a:pPr algn="l">
              <a:lnSpc>
                <a:spcPct val="130000"/>
              </a:lnSpc>
            </a:pPr>
            <a:r>
              <a:rPr sz="1400" b="0" i="0">
                <a:solidFill>
                  <a:srgbClr val="FFFFFF"/>
                </a:solidFill>
                <a:latin typeface="Consolas"/>
              </a:rPr>
              <a:t>&lt;start_of_turn&gt;user</a:t>
            </a:r>
          </a:p>
          <a:p>
            <a:pPr algn="l">
              <a:lnSpc>
                <a:spcPct val="130000"/>
              </a:lnSpc>
            </a:pPr>
            <a:r>
              <a:rPr sz="1400">
                <a:solidFill>
                  <a:srgbClr val="FFFFFF"/>
                </a:solidFill>
                <a:latin typeface="Consolas"/>
              </a:rPr>
              <a:t>Level: Age5-6 — Short sentences.</a:t>
            </a:r>
          </a:p>
          <a:p>
            <a:pPr algn="l">
              <a:lnSpc>
                <a:spcPct val="130000"/>
              </a:lnSpc>
            </a:pPr>
            <a:r>
              <a:rPr sz="1400">
                <a:solidFill>
                  <a:srgbClr val="FFFFFF"/>
                </a:solidFill>
                <a:latin typeface="Consolas"/>
              </a:rPr>
              <a:t>Write a story about a brave little toaster.</a:t>
            </a:r>
            <a:r>
              <a:rPr sz="1400">
                <a:solidFill>
                  <a:srgbClr val="E98D5C"/>
                </a:solidFill>
                <a:latin typeface="Consolas"/>
              </a:rPr>
              <a:t>&lt;end_of_turn&gt;</a:t>
            </a:r>
          </a:p>
          <a:p>
            <a:pPr algn="l">
              <a:lnSpc>
                <a:spcPct val="130000"/>
              </a:lnSpc>
            </a:pPr>
            <a:r>
              <a:rPr sz="1400">
                <a:solidFill>
                  <a:srgbClr val="E98D5C"/>
                </a:solidFill>
                <a:latin typeface="Consolas"/>
              </a:rPr>
              <a:t>&lt;start_of_turn&gt;</a:t>
            </a:r>
            <a:r>
              <a:rPr sz="1400">
                <a:solidFill>
                  <a:srgbClr val="FFFFFF"/>
                </a:solidFill>
                <a:latin typeface="Consolas"/>
              </a:rPr>
              <a:t>model</a:t>
            </a:r>
          </a:p>
          <a:p>
            <a:pPr algn="l">
              <a:lnSpc>
                <a:spcPct val="130000"/>
              </a:lnSpc>
            </a:pPr>
            <a:r>
              <a:rPr sz="1400">
                <a:solidFill>
                  <a:srgbClr val="FFFFFF"/>
                </a:solidFill>
                <a:latin typeface="Consolas"/>
              </a:rPr>
              <a:t>Once upon a time, there was a little silver toaster…</a:t>
            </a:r>
            <a:r>
              <a:rPr sz="1400">
                <a:solidFill>
                  <a:srgbClr val="E98D5C"/>
                </a:solidFill>
                <a:latin typeface="Consolas"/>
              </a:rPr>
              <a:t>&lt;end_of_turn&gt;</a:t>
            </a:r>
          </a:p>
        </p:txBody>
      </p:sp>
      <p:sp>
        <p:nvSpPr>
          <p:cNvPr id="6" name="Rounded Rectangle 5"/>
          <p:cNvSpPr/>
          <p:nvPr/>
        </p:nvSpPr>
        <p:spPr>
          <a:xfrm>
            <a:off x="777240" y="4663440"/>
            <a:ext cx="10698480" cy="137160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800" b="1" i="0">
                <a:solidFill>
                  <a:srgbClr val="1F5B4D"/>
                </a:solidFill>
                <a:latin typeface="Fraunces"/>
              </a:rPr>
              <a:t>Why a prefix and not five separate models?</a:t>
            </a:r>
          </a:p>
          <a:p>
            <a:pPr algn="l">
              <a:lnSpc>
                <a:spcPct val="140000"/>
              </a:lnSpc>
              <a:spcBef>
                <a:spcPts val="600"/>
              </a:spcBef>
              <a:spcAft>
                <a:spcPts val="400"/>
              </a:spcAft>
            </a:pPr>
            <a:r>
              <a:rPr sz="1400" b="0" i="0">
                <a:solidFill>
                  <a:srgbClr val="1B1B1F"/>
                </a:solidFill>
                <a:latin typeface="Space Grotesk"/>
              </a:rPr>
              <a:t>The prefix tells the model the target reading level; the same checkpoint serves all five bands. We get style transfer at inference cost zero — and one weight file to ship.</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12</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2 · Dataset statistics — balanced, varied lengths</a:t>
            </a:r>
          </a:p>
        </p:txBody>
      </p:sp>
      <p:graphicFrame>
        <p:nvGraphicFramePr>
          <p:cNvPr id="4" name="Chart 3"/>
          <p:cNvGraphicFramePr>
            <a:graphicFrameLocks noGrp="1"/>
          </p:cNvGraphicFramePr>
          <p:nvPr/>
        </p:nvGraphicFramePr>
        <p:xfrm>
          <a:off x="457200" y="1463040"/>
          <a:ext cx="3657600" cy="3383280"/>
        </p:xfrm>
        <a:graphic>
          <a:graphicData uri="http://schemas.openxmlformats.org/drawingml/2006/chart">
            <c:chart xmlns:c="http://schemas.openxmlformats.org/drawingml/2006/chart" r:id="rId3"/>
          </a:graphicData>
        </a:graphic>
      </p:graphicFrame>
      <p:sp>
        <p:nvSpPr>
          <p:cNvPr id="5" name="TextBox 4"/>
          <p:cNvSpPr txBox="1"/>
          <p:nvPr/>
        </p:nvSpPr>
        <p:spPr>
          <a:xfrm>
            <a:off x="457200" y="4892040"/>
            <a:ext cx="3657600" cy="502920"/>
          </a:xfrm>
          <a:prstGeom prst="rect">
            <a:avLst/>
          </a:prstGeom>
          <a:noFill/>
        </p:spPr>
        <p:txBody>
          <a:bodyPr wrap="square" lIns="0" rIns="0" tIns="0" bIns="0" anchor="t">
            <a:spAutoFit/>
          </a:bodyPr>
          <a:lstStyle/>
          <a:p>
            <a:pPr algn="ctr">
              <a:lnSpc>
                <a:spcPct val="130000"/>
              </a:lnSpc>
            </a:pPr>
            <a:r>
              <a:rPr sz="1100" b="0" i="1">
                <a:solidFill>
                  <a:srgbClr val="E98D5C"/>
                </a:solidFill>
                <a:latin typeface="Space Grotesk"/>
              </a:rPr>
              <a:t>Median = 321 w · Mean = 324 w</a:t>
            </a:r>
          </a:p>
        </p:txBody>
      </p:sp>
      <p:graphicFrame>
        <p:nvGraphicFramePr>
          <p:cNvPr id="6" name="Chart 5"/>
          <p:cNvGraphicFramePr>
            <a:graphicFrameLocks noGrp="1"/>
          </p:cNvGraphicFramePr>
          <p:nvPr/>
        </p:nvGraphicFramePr>
        <p:xfrm>
          <a:off x="4251960" y="1463040"/>
          <a:ext cx="3657600" cy="3383280"/>
        </p:xfrm>
        <a:graphic>
          <a:graphicData uri="http://schemas.openxmlformats.org/drawingml/2006/chart">
            <c:chart xmlns:c="http://schemas.openxmlformats.org/drawingml/2006/chart" r:id="rId4"/>
          </a:graphicData>
        </a:graphic>
      </p:graphicFrame>
      <p:sp>
        <p:nvSpPr>
          <p:cNvPr id="7" name="TextBox 6"/>
          <p:cNvSpPr txBox="1"/>
          <p:nvPr/>
        </p:nvSpPr>
        <p:spPr>
          <a:xfrm>
            <a:off x="4251960" y="4892040"/>
            <a:ext cx="3657600" cy="502920"/>
          </a:xfrm>
          <a:prstGeom prst="rect">
            <a:avLst/>
          </a:prstGeom>
          <a:noFill/>
        </p:spPr>
        <p:txBody>
          <a:bodyPr wrap="square" lIns="0" rIns="0" tIns="0" bIns="0" anchor="t">
            <a:spAutoFit/>
          </a:bodyPr>
          <a:lstStyle/>
          <a:p>
            <a:pPr algn="ctr">
              <a:lnSpc>
                <a:spcPct val="130000"/>
              </a:lnSpc>
            </a:pPr>
            <a:r>
              <a:rPr sz="1100" b="0" i="1">
                <a:solidFill>
                  <a:srgbClr val="585861"/>
                </a:solidFill>
                <a:latin typeface="Space Grotesk"/>
              </a:rPr>
              <a:t>Round-robin balancing → 2 000 stories per band</a:t>
            </a:r>
          </a:p>
        </p:txBody>
      </p:sp>
      <p:sp>
        <p:nvSpPr>
          <p:cNvPr id="8" name="Rounded Rectangle 7"/>
          <p:cNvSpPr/>
          <p:nvPr/>
        </p:nvSpPr>
        <p:spPr>
          <a:xfrm>
            <a:off x="8046720" y="1463040"/>
            <a:ext cx="3657600" cy="3383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TOKEN LENGTH</a:t>
            </a:r>
          </a:p>
          <a:p>
            <a:pPr algn="ctr">
              <a:lnSpc>
                <a:spcPct val="100000"/>
              </a:lnSpc>
              <a:spcBef>
                <a:spcPts val="1000"/>
              </a:spcBef>
              <a:spcAft>
                <a:spcPts val="200"/>
              </a:spcAft>
            </a:pPr>
            <a:r>
              <a:rPr sz="4400" b="1" i="0">
                <a:solidFill>
                  <a:srgbClr val="1B1B1F"/>
                </a:solidFill>
                <a:latin typeface="Fraunces"/>
              </a:rPr>
              <a:t>591 tokens</a:t>
            </a:r>
          </a:p>
          <a:p>
            <a:pPr algn="ctr">
              <a:lnSpc>
                <a:spcPct val="120000"/>
              </a:lnSpc>
              <a:spcAft>
                <a:spcPts val="1800"/>
              </a:spcAft>
            </a:pPr>
            <a:r>
              <a:rPr sz="1200" b="0" i="0">
                <a:solidFill>
                  <a:srgbClr val="585861"/>
                </a:solidFill>
                <a:latin typeface="Space Grotesk"/>
              </a:rPr>
              <a:t>mean</a:t>
            </a:r>
          </a:p>
          <a:p>
            <a:pPr algn="ctr">
              <a:lnSpc>
                <a:spcPct val="140000"/>
              </a:lnSpc>
            </a:pPr>
            <a:r>
              <a:rPr sz="1200">
                <a:solidFill>
                  <a:srgbClr val="585861"/>
                </a:solidFill>
                <a:latin typeface="Space Grotesk"/>
              </a:rPr>
              <a:t>Std. deviation   </a:t>
            </a:r>
            <a:r>
              <a:rPr sz="1400" b="1">
                <a:solidFill>
                  <a:srgbClr val="1B1B1F"/>
                </a:solidFill>
                <a:latin typeface="Fraunces"/>
              </a:rPr>
              <a:t>± 71</a:t>
            </a:r>
          </a:p>
          <a:p>
            <a:pPr algn="ctr">
              <a:lnSpc>
                <a:spcPct val="140000"/>
              </a:lnSpc>
            </a:pPr>
            <a:r>
              <a:rPr sz="1200">
                <a:solidFill>
                  <a:srgbClr val="585861"/>
                </a:solidFill>
                <a:latin typeface="Space Grotesk"/>
              </a:rPr>
              <a:t>Min   </a:t>
            </a:r>
            <a:r>
              <a:rPr sz="1400" b="1">
                <a:solidFill>
                  <a:srgbClr val="1B1B1F"/>
                </a:solidFill>
                <a:latin typeface="Fraunces"/>
              </a:rPr>
              <a:t>386</a:t>
            </a:r>
          </a:p>
          <a:p>
            <a:pPr algn="ctr">
              <a:lnSpc>
                <a:spcPct val="140000"/>
              </a:lnSpc>
            </a:pPr>
            <a:r>
              <a:rPr sz="1200">
                <a:solidFill>
                  <a:srgbClr val="585861"/>
                </a:solidFill>
                <a:latin typeface="Space Grotesk"/>
              </a:rPr>
              <a:t>Max   </a:t>
            </a:r>
            <a:r>
              <a:rPr sz="1400" b="1">
                <a:solidFill>
                  <a:srgbClr val="1B1B1F"/>
                </a:solidFill>
                <a:latin typeface="Fraunces"/>
              </a:rPr>
              <a:t>886</a:t>
            </a:r>
          </a:p>
        </p:txBody>
      </p:sp>
      <p:sp>
        <p:nvSpPr>
          <p:cNvPr id="9" name="TextBox 8"/>
          <p:cNvSpPr txBox="1"/>
          <p:nvPr/>
        </p:nvSpPr>
        <p:spPr>
          <a:xfrm>
            <a:off x="8046720" y="4892040"/>
            <a:ext cx="3657600" cy="502920"/>
          </a:xfrm>
          <a:prstGeom prst="rect">
            <a:avLst/>
          </a:prstGeom>
          <a:noFill/>
        </p:spPr>
        <p:txBody>
          <a:bodyPr wrap="square" lIns="0" rIns="0" tIns="0" bIns="0" anchor="t">
            <a:spAutoFit/>
          </a:bodyPr>
          <a:lstStyle/>
          <a:p>
            <a:pPr algn="ctr">
              <a:lnSpc>
                <a:spcPct val="130000"/>
              </a:lnSpc>
            </a:pPr>
            <a:r>
              <a:rPr sz="1100" b="0" i="1">
                <a:solidFill>
                  <a:srgbClr val="585861"/>
                </a:solidFill>
                <a:latin typeface="Space Grotesk"/>
              </a:rPr>
              <a:t>Variance is in style, not story length</a:t>
            </a:r>
          </a:p>
        </p:txBody>
      </p:sp>
      <p:sp>
        <p:nvSpPr>
          <p:cNvPr id="10" name="TextBox 9"/>
          <p:cNvSpPr txBox="1"/>
          <p:nvPr/>
        </p:nvSpPr>
        <p:spPr>
          <a:xfrm>
            <a:off x="777240" y="5760720"/>
            <a:ext cx="10698480" cy="548640"/>
          </a:xfrm>
          <a:prstGeom prst="rect">
            <a:avLst/>
          </a:prstGeom>
          <a:noFill/>
        </p:spPr>
        <p:txBody>
          <a:bodyPr wrap="square" lIns="0" rIns="0" tIns="0" bIns="0" anchor="t">
            <a:spAutoFit/>
          </a:bodyPr>
          <a:lstStyle/>
          <a:p>
            <a:pPr algn="ctr">
              <a:lnSpc>
                <a:spcPct val="130000"/>
              </a:lnSpc>
            </a:pPr>
            <a:r>
              <a:rPr sz="1400" b="0" i="1">
                <a:solidFill>
                  <a:srgbClr val="1B1B1F"/>
                </a:solidFill>
                <a:latin typeface="Space Grotesk"/>
              </a:rPr>
              <a:t>Distributions are intentionally similar across age bands — the model has to learn style, not story length.</a:t>
            </a:r>
          </a:p>
        </p:txBody>
      </p:sp>
      <p:sp>
        <p:nvSpPr>
          <p:cNvPr id="11" name="TextBox 10"/>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13</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3 · QLoRA in one diagram</a:t>
            </a:r>
          </a:p>
        </p:txBody>
      </p:sp>
      <p:pic>
        <p:nvPicPr>
          <p:cNvPr id="4" name="Picture 3" descr="fig2_lora.png"/>
          <p:cNvPicPr>
            <a:picLocks noChangeAspect="1"/>
          </p:cNvPicPr>
          <p:nvPr/>
        </p:nvPicPr>
        <p:blipFill>
          <a:blip r:embed="rId3"/>
          <a:stretch>
            <a:fillRect/>
          </a:stretch>
        </p:blipFill>
        <p:spPr>
          <a:xfrm>
            <a:off x="777240" y="1828800"/>
            <a:ext cx="6675120" cy="3365844"/>
          </a:xfrm>
          <a:prstGeom prst="rect">
            <a:avLst/>
          </a:prstGeom>
        </p:spPr>
      </p:pic>
      <p:sp>
        <p:nvSpPr>
          <p:cNvPr id="5" name="TextBox 4"/>
          <p:cNvSpPr txBox="1"/>
          <p:nvPr/>
        </p:nvSpPr>
        <p:spPr>
          <a:xfrm>
            <a:off x="777240" y="5331804"/>
            <a:ext cx="6675120" cy="365760"/>
          </a:xfrm>
          <a:prstGeom prst="rect">
            <a:avLst/>
          </a:prstGeom>
          <a:noFill/>
        </p:spPr>
        <p:txBody>
          <a:bodyPr wrap="square" lIns="0" rIns="0" tIns="0" bIns="0" anchor="t">
            <a:spAutoFit/>
          </a:bodyPr>
          <a:lstStyle/>
          <a:p>
            <a:pPr algn="l">
              <a:lnSpc>
                <a:spcPct val="120000"/>
              </a:lnSpc>
            </a:pPr>
            <a:r>
              <a:rPr sz="1200" b="0" i="1">
                <a:solidFill>
                  <a:srgbClr val="585861"/>
                </a:solidFill>
                <a:latin typeface="Space Grotesk"/>
              </a:rPr>
              <a:t>Frozen base + trainable rank decomposition (A · B)</a:t>
            </a:r>
          </a:p>
        </p:txBody>
      </p:sp>
      <p:sp>
        <p:nvSpPr>
          <p:cNvPr id="6" name="Rounded Rectangle 5"/>
          <p:cNvSpPr/>
          <p:nvPr/>
        </p:nvSpPr>
        <p:spPr>
          <a:xfrm>
            <a:off x="7726679" y="1828800"/>
            <a:ext cx="3840480" cy="41148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WHAT CHANGES</a:t>
            </a:r>
          </a:p>
          <a:p>
            <a:pPr algn="l">
              <a:lnSpc>
                <a:spcPct val="110000"/>
              </a:lnSpc>
              <a:spcBef>
                <a:spcPts val="400"/>
              </a:spcBef>
              <a:spcAft>
                <a:spcPts val="1000"/>
              </a:spcAft>
            </a:pPr>
            <a:r>
              <a:rPr sz="2000" b="1" i="0">
                <a:solidFill>
                  <a:srgbClr val="1B1B1F"/>
                </a:solidFill>
                <a:latin typeface="Fraunces"/>
              </a:rPr>
              <a:t>QLoRA in 4 lines</a:t>
            </a:r>
          </a:p>
          <a:p>
            <a:pPr algn="l" indent="-228600" marL="228600">
              <a:lnSpc>
                <a:spcPct val="145000"/>
              </a:lnSpc>
              <a:spcAft>
                <a:spcPts val="800"/>
              </a:spcAft>
              <a:buFont typeface="Arial"/>
              <a:buChar char="•"/>
            </a:pPr>
            <a:r>
              <a:rPr sz="1400" b="0" i="0">
                <a:solidFill>
                  <a:srgbClr val="1B1B1F"/>
                </a:solidFill>
                <a:latin typeface="Space Grotesk"/>
              </a:rPr>
              <a:t>Base loaded in NF4 (4-bit)</a:t>
            </a:r>
          </a:p>
          <a:p>
            <a:pPr algn="l" indent="-228600" marL="228600">
              <a:lnSpc>
                <a:spcPct val="145000"/>
              </a:lnSpc>
              <a:spcAft>
                <a:spcPts val="800"/>
              </a:spcAft>
              <a:buFont typeface="Arial"/>
              <a:buChar char="•"/>
            </a:pPr>
            <a:r>
              <a:rPr sz="1400" b="0" i="0">
                <a:solidFill>
                  <a:srgbClr val="1B1B1F"/>
                </a:solidFill>
                <a:latin typeface="Space Grotesk"/>
              </a:rPr>
              <a:t>Only A · B matrices update</a:t>
            </a:r>
          </a:p>
          <a:p>
            <a:pPr algn="l" indent="-228600" marL="228600">
              <a:lnSpc>
                <a:spcPct val="145000"/>
              </a:lnSpc>
              <a:spcAft>
                <a:spcPts val="800"/>
              </a:spcAft>
              <a:buFont typeface="Arial"/>
              <a:buChar char="•"/>
            </a:pPr>
            <a:r>
              <a:rPr sz="1400" b="0" i="0">
                <a:solidFill>
                  <a:srgbClr val="1B1B1F"/>
                </a:solidFill>
                <a:latin typeface="Space Grotesk"/>
              </a:rPr>
              <a:t>Optimizer states stay tiny</a:t>
            </a:r>
          </a:p>
          <a:p>
            <a:pPr algn="l" indent="-228600" marL="228600">
              <a:lnSpc>
                <a:spcPct val="145000"/>
              </a:lnSpc>
              <a:spcAft>
                <a:spcPts val="800"/>
              </a:spcAft>
              <a:buFont typeface="Arial"/>
              <a:buChar char="•"/>
            </a:pPr>
            <a:r>
              <a:rPr sz="1400" b="0" i="0">
                <a:solidFill>
                  <a:srgbClr val="1B1B1F"/>
                </a:solidFill>
                <a:latin typeface="Space Grotesk"/>
              </a:rPr>
              <a:t>Merge happens after training</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14</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3 · Why this fits a single Kaggle T4</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Memory needed to train a 2B model under three regimes.</a:t>
            </a:r>
          </a:p>
        </p:txBody>
      </p:sp>
      <p:graphicFrame>
        <p:nvGraphicFramePr>
          <p:cNvPr id="5" name="Chart 4"/>
          <p:cNvGraphicFramePr>
            <a:graphicFrameLocks noGrp="1"/>
          </p:cNvGraphicFramePr>
          <p:nvPr/>
        </p:nvGraphicFramePr>
        <p:xfrm>
          <a:off x="777240" y="1828800"/>
          <a:ext cx="6858000" cy="4114800"/>
        </p:xfrm>
        <a:graphic>
          <a:graphicData uri="http://schemas.openxmlformats.org/drawingml/2006/chart">
            <c:chart xmlns:c="http://schemas.openxmlformats.org/drawingml/2006/chart" r:id="rId3"/>
          </a:graphicData>
        </a:graphic>
      </p:graphicFrame>
      <p:sp>
        <p:nvSpPr>
          <p:cNvPr id="6" name="Rounded Rectangle 5"/>
          <p:cNvSpPr/>
          <p:nvPr/>
        </p:nvSpPr>
        <p:spPr>
          <a:xfrm>
            <a:off x="7955279" y="1828800"/>
            <a:ext cx="3611880" cy="4114800"/>
          </a:xfrm>
          <a:prstGeom prst="roundRect">
            <a:avLst>
              <a:gd name="adj" fmla="val 8000"/>
            </a:avLst>
          </a:prstGeom>
          <a:solidFill>
            <a:srgbClr val="E98D5C"/>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FFFFFF"/>
                </a:solidFill>
                <a:latin typeface="Space Grotesk"/>
              </a:rPr>
              <a:t>FITS ONE T4</a:t>
            </a:r>
          </a:p>
          <a:p>
            <a:pPr algn="l">
              <a:lnSpc>
                <a:spcPct val="100000"/>
              </a:lnSpc>
              <a:spcBef>
                <a:spcPts val="600"/>
              </a:spcBef>
              <a:spcAft>
                <a:spcPts val="400"/>
              </a:spcAft>
            </a:pPr>
            <a:r>
              <a:rPr sz="6000" b="1" i="0">
                <a:solidFill>
                  <a:srgbClr val="FFFFFF"/>
                </a:solidFill>
                <a:latin typeface="Fraunces"/>
              </a:rPr>
              <a:t>6 GB</a:t>
            </a:r>
          </a:p>
          <a:p>
            <a:pPr algn="l">
              <a:lnSpc>
                <a:spcPct val="130000"/>
              </a:lnSpc>
              <a:spcAft>
                <a:spcPts val="1800"/>
              </a:spcAft>
            </a:pPr>
            <a:r>
              <a:rPr sz="1400" b="0" i="0">
                <a:solidFill>
                  <a:srgbClr val="FFFFFF"/>
                </a:solidFill>
                <a:latin typeface="Space Grotesk"/>
              </a:rPr>
              <a:t>for QLoRA NF4 training</a:t>
            </a:r>
          </a:p>
          <a:p>
            <a:pPr algn="l">
              <a:lnSpc>
                <a:spcPct val="145000"/>
              </a:lnSpc>
              <a:spcAft>
                <a:spcPts val="400"/>
              </a:spcAft>
            </a:pPr>
            <a:r>
              <a:rPr sz="1300" b="0" i="1">
                <a:solidFill>
                  <a:srgbClr val="FFFFFF"/>
                </a:solidFill>
                <a:latin typeface="Space Grotesk"/>
              </a:rPr>
              <a:t>FP16 full fine-tuning needs ≥ 16 GB — more than a single T4 holds.</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15</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4 · Training configuration</a:t>
            </a:r>
          </a:p>
        </p:txBody>
      </p:sp>
      <p:sp>
        <p:nvSpPr>
          <p:cNvPr id="4" name="Rectangle 3"/>
          <p:cNvSpPr/>
          <p:nvPr/>
        </p:nvSpPr>
        <p:spPr>
          <a:xfrm>
            <a:off x="777240" y="1280160"/>
            <a:ext cx="6949440" cy="3657600"/>
          </a:xfrm>
          <a:prstGeom prst="rect">
            <a:avLst/>
          </a:prstGeom>
          <a:solidFill>
            <a:srgbClr val="1B1B1F"/>
          </a:solidFill>
          <a:ln>
            <a:noFill/>
          </a:ln>
        </p:spPr>
        <p:style>
          <a:lnRef idx="1">
            <a:schemeClr val="accent1"/>
          </a:lnRef>
          <a:fillRef idx="3">
            <a:schemeClr val="accent1"/>
          </a:fillRef>
          <a:effectRef idx="2">
            <a:schemeClr val="accent1"/>
          </a:effectRef>
          <a:fontRef idx="minor">
            <a:schemeClr val="lt1"/>
          </a:fontRef>
        </p:style>
        <p:txBody>
          <a:bodyPr rtlCol="0" anchor="ctr" lIns="228600" rIns="228600" tIns="164592" bIns="164592" wrap="square"/>
          <a:lstStyle/>
          <a:p>
            <a:pPr algn="l">
              <a:lnSpc>
                <a:spcPct val="130000"/>
              </a:lnSpc>
            </a:pPr>
            <a:r>
              <a:rPr sz="1400" b="0" i="0">
                <a:solidFill>
                  <a:srgbClr val="FFFFFF"/>
                </a:solidFill>
                <a:latin typeface="Consolas"/>
              </a:rPr>
              <a:t>training_args = TrainingArguments(</a:t>
            </a:r>
          </a:p>
          <a:p>
            <a:pPr algn="l">
              <a:lnSpc>
                <a:spcPct val="130000"/>
              </a:lnSpc>
            </a:pPr>
            <a:r>
              <a:rPr sz="1400">
                <a:solidFill>
                  <a:srgbClr val="FFFFFF"/>
                </a:solidFill>
                <a:latin typeface="Consolas"/>
              </a:rPr>
              <a:t>    per_device_train_batch_size=1,</a:t>
            </a:r>
          </a:p>
          <a:p>
            <a:pPr algn="l">
              <a:lnSpc>
                <a:spcPct val="130000"/>
              </a:lnSpc>
            </a:pPr>
            <a:r>
              <a:rPr sz="1400">
                <a:solidFill>
                  <a:srgbClr val="FFFFFF"/>
                </a:solidFill>
                <a:latin typeface="Consolas"/>
              </a:rPr>
              <a:t>    gradient_accumulation_steps=16,   # effective batch = 16</a:t>
            </a:r>
          </a:p>
          <a:p>
            <a:pPr algn="l">
              <a:lnSpc>
                <a:spcPct val="130000"/>
              </a:lnSpc>
            </a:pPr>
            <a:r>
              <a:rPr sz="1400">
                <a:solidFill>
                  <a:srgbClr val="FFFFFF"/>
                </a:solidFill>
                <a:latin typeface="Consolas"/>
              </a:rPr>
              <a:t>    optim='paged_adamw_8bit',</a:t>
            </a:r>
          </a:p>
          <a:p>
            <a:pPr algn="l">
              <a:lnSpc>
                <a:spcPct val="130000"/>
              </a:lnSpc>
            </a:pPr>
            <a:r>
              <a:rPr sz="1400">
                <a:solidFill>
                  <a:srgbClr val="FFFFFF"/>
                </a:solidFill>
                <a:latin typeface="Consolas"/>
              </a:rPr>
              <a:t>    learning_rate=2e-4,</a:t>
            </a:r>
          </a:p>
          <a:p>
            <a:pPr algn="l">
              <a:lnSpc>
                <a:spcPct val="130000"/>
              </a:lnSpc>
            </a:pPr>
            <a:r>
              <a:rPr sz="1400">
                <a:solidFill>
                  <a:srgbClr val="FFFFFF"/>
                </a:solidFill>
                <a:latin typeface="Consolas"/>
              </a:rPr>
              <a:t>    fp16=True,</a:t>
            </a:r>
          </a:p>
          <a:p>
            <a:pPr algn="l">
              <a:lnSpc>
                <a:spcPct val="130000"/>
              </a:lnSpc>
            </a:pPr>
            <a:r>
              <a:rPr sz="1400">
                <a:solidFill>
                  <a:srgbClr val="FFFFFF"/>
                </a:solidFill>
                <a:latin typeface="Consolas"/>
              </a:rPr>
              <a:t>    gradient_checkpointing=True,</a:t>
            </a:r>
          </a:p>
          <a:p>
            <a:pPr algn="l">
              <a:lnSpc>
                <a:spcPct val="130000"/>
              </a:lnSpc>
            </a:pPr>
            <a:r>
              <a:rPr sz="1400">
                <a:solidFill>
                  <a:srgbClr val="FFFFFF"/>
                </a:solidFill>
                <a:latin typeface="Consolas"/>
              </a:rPr>
              <a:t>    eval_strategy='no',                # disabled to avoid OOM</a:t>
            </a:r>
          </a:p>
          <a:p>
            <a:pPr algn="l">
              <a:lnSpc>
                <a:spcPct val="130000"/>
              </a:lnSpc>
            </a:pPr>
            <a:r>
              <a:rPr sz="1400">
                <a:solidFill>
                  <a:srgbClr val="FFFFFF"/>
                </a:solidFill>
                <a:latin typeface="Consolas"/>
              </a:rPr>
              <a:t>)</a:t>
            </a:r>
          </a:p>
        </p:txBody>
      </p:sp>
      <p:sp>
        <p:nvSpPr>
          <p:cNvPr id="5" name="Rounded Rectangle 4"/>
          <p:cNvSpPr/>
          <p:nvPr/>
        </p:nvSpPr>
        <p:spPr>
          <a:xfrm>
            <a:off x="7863840" y="1280160"/>
            <a:ext cx="3703320" cy="36576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WHY THESE FLAGS</a:t>
            </a:r>
          </a:p>
          <a:p>
            <a:pPr algn="l">
              <a:lnSpc>
                <a:spcPct val="115000"/>
              </a:lnSpc>
              <a:spcBef>
                <a:spcPts val="600"/>
              </a:spcBef>
              <a:spcAft>
                <a:spcPts val="1000"/>
              </a:spcAft>
            </a:pPr>
            <a:r>
              <a:rPr sz="1800" b="1" i="0">
                <a:solidFill>
                  <a:srgbClr val="1B1B1F"/>
                </a:solidFill>
                <a:latin typeface="Fraunces"/>
              </a:rPr>
              <a:t>Fighting CUDA fragmentation</a:t>
            </a:r>
          </a:p>
          <a:p>
            <a:pPr algn="l" indent="-228600" marL="228600">
              <a:lnSpc>
                <a:spcPct val="145000"/>
              </a:lnSpc>
              <a:spcAft>
                <a:spcPts val="400"/>
              </a:spcAft>
              <a:buFont typeface="Arial"/>
              <a:buChar char="•"/>
            </a:pPr>
            <a:r>
              <a:rPr sz="1200" b="0" i="0">
                <a:solidFill>
                  <a:srgbClr val="1B1B1F"/>
                </a:solidFill>
                <a:latin typeface="Space Grotesk"/>
              </a:rPr>
              <a:t>Batch 1 + grad-accum 16 → effective batch 16</a:t>
            </a:r>
          </a:p>
          <a:p>
            <a:pPr algn="l" indent="-228600" marL="228600">
              <a:lnSpc>
                <a:spcPct val="145000"/>
              </a:lnSpc>
              <a:spcAft>
                <a:spcPts val="400"/>
              </a:spcAft>
              <a:buFont typeface="Arial"/>
              <a:buChar char="•"/>
            </a:pPr>
            <a:r>
              <a:rPr sz="1200" b="0" i="0">
                <a:solidFill>
                  <a:srgbClr val="1B1B1F"/>
                </a:solidFill>
                <a:latin typeface="Space Grotesk"/>
              </a:rPr>
              <a:t>Paged 8-bit optimizer caps optimizer-state RAM</a:t>
            </a:r>
          </a:p>
          <a:p>
            <a:pPr algn="l" indent="-228600" marL="228600">
              <a:lnSpc>
                <a:spcPct val="145000"/>
              </a:lnSpc>
              <a:spcAft>
                <a:spcPts val="400"/>
              </a:spcAft>
              <a:buFont typeface="Arial"/>
              <a:buChar char="•"/>
            </a:pPr>
            <a:r>
              <a:rPr sz="1200" b="0" i="0">
                <a:solidFill>
                  <a:srgbClr val="1B1B1F"/>
                </a:solidFill>
                <a:latin typeface="Space Grotesk"/>
              </a:rPr>
              <a:t>Gradient checkpointing trades compute for VRAM</a:t>
            </a:r>
          </a:p>
          <a:p>
            <a:pPr algn="l" indent="-228600" marL="228600">
              <a:lnSpc>
                <a:spcPct val="145000"/>
              </a:lnSpc>
              <a:spcAft>
                <a:spcPts val="400"/>
              </a:spcAft>
              <a:buFont typeface="Arial"/>
              <a:buChar char="•"/>
            </a:pPr>
            <a:r>
              <a:rPr sz="1200" b="0" i="0">
                <a:solidFill>
                  <a:srgbClr val="1B1B1F"/>
                </a:solidFill>
                <a:latin typeface="Space Grotesk"/>
              </a:rPr>
              <a:t>PYTORCH_CUDA_ALLOC_CONF = expandable_segments:True</a:t>
            </a:r>
          </a:p>
        </p:txBody>
      </p:sp>
      <p:sp>
        <p:nvSpPr>
          <p:cNvPr id="6" name="TextBox 5"/>
          <p:cNvSpPr txBox="1"/>
          <p:nvPr/>
        </p:nvSpPr>
        <p:spPr>
          <a:xfrm>
            <a:off x="777240" y="5212080"/>
            <a:ext cx="10698480" cy="502920"/>
          </a:xfrm>
          <a:prstGeom prst="rect">
            <a:avLst/>
          </a:prstGeom>
          <a:noFill/>
        </p:spPr>
        <p:txBody>
          <a:bodyPr wrap="square" lIns="0" rIns="0" tIns="0" bIns="0" anchor="t">
            <a:spAutoFit/>
          </a:bodyPr>
          <a:lstStyle/>
          <a:p>
            <a:pPr algn="l">
              <a:lnSpc>
                <a:spcPct val="140000"/>
              </a:lnSpc>
            </a:pPr>
            <a:r>
              <a:rPr sz="1300" b="0" i="1">
                <a:solidFill>
                  <a:srgbClr val="585861"/>
                </a:solidFill>
                <a:latin typeface="Space Grotesk"/>
              </a:rPr>
              <a:t>256 K vocabulary makes cross-entropy memory-hungry, so we disable in-loop eval and rely on offline qualitative checks.</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16</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4 · Training environment</a:t>
            </a:r>
          </a:p>
        </p:txBody>
      </p:sp>
      <p:sp>
        <p:nvSpPr>
          <p:cNvPr id="4" name="Rounded Rectangle 3"/>
          <p:cNvSpPr/>
          <p:nvPr/>
        </p:nvSpPr>
        <p:spPr>
          <a:xfrm>
            <a:off x="777240" y="1463040"/>
            <a:ext cx="3520440" cy="18288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HARDWARE</a:t>
            </a:r>
          </a:p>
          <a:p>
            <a:pPr algn="l">
              <a:lnSpc>
                <a:spcPct val="100000"/>
              </a:lnSpc>
              <a:spcBef>
                <a:spcPts val="400"/>
              </a:spcBef>
              <a:spcAft>
                <a:spcPts val="200"/>
              </a:spcAft>
            </a:pPr>
            <a:r>
              <a:rPr sz="3600" b="1" i="0">
                <a:solidFill>
                  <a:srgbClr val="1B1B1F"/>
                </a:solidFill>
                <a:latin typeface="Fraunces"/>
              </a:rPr>
              <a:t>2 × T4</a:t>
            </a:r>
          </a:p>
          <a:p>
            <a:pPr algn="l">
              <a:lnSpc>
                <a:spcPct val="130000"/>
              </a:lnSpc>
              <a:spcAft>
                <a:spcPts val="400"/>
              </a:spcAft>
            </a:pPr>
            <a:r>
              <a:rPr sz="1300" b="0" i="0">
                <a:solidFill>
                  <a:srgbClr val="585861"/>
                </a:solidFill>
                <a:latin typeface="Space Grotesk"/>
              </a:rPr>
              <a:t>16 GB each, Kaggle notebook</a:t>
            </a:r>
          </a:p>
        </p:txBody>
      </p:sp>
      <p:sp>
        <p:nvSpPr>
          <p:cNvPr id="5" name="Rounded Rectangle 4"/>
          <p:cNvSpPr/>
          <p:nvPr/>
        </p:nvSpPr>
        <p:spPr>
          <a:xfrm>
            <a:off x="4434840" y="1463040"/>
            <a:ext cx="3520440" cy="18288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DATA</a:t>
            </a:r>
          </a:p>
          <a:p>
            <a:pPr algn="l">
              <a:lnSpc>
                <a:spcPct val="100000"/>
              </a:lnSpc>
              <a:spcBef>
                <a:spcPts val="400"/>
              </a:spcBef>
              <a:spcAft>
                <a:spcPts val="200"/>
              </a:spcAft>
            </a:pPr>
            <a:r>
              <a:rPr sz="3600" b="1" i="0">
                <a:solidFill>
                  <a:srgbClr val="1B1B1F"/>
                </a:solidFill>
                <a:latin typeface="Fraunces"/>
              </a:rPr>
              <a:t>9 500 / 500</a:t>
            </a:r>
          </a:p>
          <a:p>
            <a:pPr algn="l">
              <a:lnSpc>
                <a:spcPct val="130000"/>
              </a:lnSpc>
              <a:spcAft>
                <a:spcPts val="400"/>
              </a:spcAft>
            </a:pPr>
            <a:r>
              <a:rPr sz="1300" b="0" i="0">
                <a:solidFill>
                  <a:srgbClr val="585861"/>
                </a:solidFill>
                <a:latin typeface="Space Grotesk"/>
              </a:rPr>
              <a:t>train / eval split</a:t>
            </a:r>
          </a:p>
        </p:txBody>
      </p:sp>
      <p:sp>
        <p:nvSpPr>
          <p:cNvPr id="6" name="Rounded Rectangle 5"/>
          <p:cNvSpPr/>
          <p:nvPr/>
        </p:nvSpPr>
        <p:spPr>
          <a:xfrm>
            <a:off x="8092440" y="1463040"/>
            <a:ext cx="3520440" cy="18288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RUN</a:t>
            </a:r>
          </a:p>
          <a:p>
            <a:pPr algn="l">
              <a:lnSpc>
                <a:spcPct val="100000"/>
              </a:lnSpc>
              <a:spcBef>
                <a:spcPts val="400"/>
              </a:spcBef>
              <a:spcAft>
                <a:spcPts val="200"/>
              </a:spcAft>
            </a:pPr>
            <a:r>
              <a:rPr sz="3600" b="1" i="0">
                <a:solidFill>
                  <a:srgbClr val="1B1B1F"/>
                </a:solidFill>
                <a:latin typeface="Fraunces"/>
              </a:rPr>
              <a:t>≈ 280 steps</a:t>
            </a:r>
          </a:p>
          <a:p>
            <a:pPr algn="l">
              <a:lnSpc>
                <a:spcPct val="130000"/>
              </a:lnSpc>
              <a:spcAft>
                <a:spcPts val="400"/>
              </a:spcAft>
            </a:pPr>
            <a:r>
              <a:rPr sz="1300" b="0" i="0">
                <a:solidFill>
                  <a:srgbClr val="585861"/>
                </a:solidFill>
                <a:latin typeface="Space Grotesk"/>
              </a:rPr>
              <a:t>1 epoch, optimizer steps</a:t>
            </a:r>
          </a:p>
        </p:txBody>
      </p:sp>
      <p:sp>
        <p:nvSpPr>
          <p:cNvPr id="7" name="Rounded Rectangle 6"/>
          <p:cNvSpPr/>
          <p:nvPr/>
        </p:nvSpPr>
        <p:spPr>
          <a:xfrm>
            <a:off x="777240" y="3566160"/>
            <a:ext cx="10789920" cy="237744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OOM MITIGATIONS</a:t>
            </a:r>
          </a:p>
          <a:p>
            <a:pPr algn="l">
              <a:lnSpc>
                <a:spcPct val="110000"/>
              </a:lnSpc>
              <a:spcBef>
                <a:spcPts val="400"/>
              </a:spcBef>
              <a:spcAft>
                <a:spcPts val="1000"/>
              </a:spcAft>
            </a:pPr>
            <a:r>
              <a:rPr sz="1800" b="1" i="0">
                <a:solidFill>
                  <a:srgbClr val="1B1B1F"/>
                </a:solidFill>
                <a:latin typeface="Fraunces"/>
              </a:rPr>
              <a:t>How we kept the run inside the memory budget</a:t>
            </a:r>
          </a:p>
        </p:txBody>
      </p:sp>
      <p:sp>
        <p:nvSpPr>
          <p:cNvPr id="8" name="TextBox 7"/>
          <p:cNvSpPr txBox="1"/>
          <p:nvPr/>
        </p:nvSpPr>
        <p:spPr>
          <a:xfrm>
            <a:off x="914400" y="4617720"/>
            <a:ext cx="3383280" cy="365760"/>
          </a:xfrm>
          <a:prstGeom prst="rect">
            <a:avLst/>
          </a:prstGeom>
          <a:noFill/>
        </p:spPr>
        <p:txBody>
          <a:bodyPr wrap="square" lIns="0" rIns="0" tIns="0" bIns="0" anchor="t">
            <a:spAutoFit/>
          </a:bodyPr>
          <a:lstStyle/>
          <a:p>
            <a:pPr algn="l">
              <a:lnSpc>
                <a:spcPct val="120000"/>
              </a:lnSpc>
            </a:pPr>
            <a:r>
              <a:rPr sz="1400" b="0" i="0">
                <a:solidFill>
                  <a:srgbClr val="1F5B4D"/>
                </a:solidFill>
                <a:latin typeface="Consolas"/>
              </a:rPr>
              <a:t>paged_adamw_8bit</a:t>
            </a:r>
          </a:p>
        </p:txBody>
      </p:sp>
      <p:sp>
        <p:nvSpPr>
          <p:cNvPr id="9" name="TextBox 8"/>
          <p:cNvSpPr txBox="1"/>
          <p:nvPr/>
        </p:nvSpPr>
        <p:spPr>
          <a:xfrm>
            <a:off x="914400" y="4983480"/>
            <a:ext cx="3383280" cy="822960"/>
          </a:xfrm>
          <a:prstGeom prst="rect">
            <a:avLst/>
          </a:prstGeom>
          <a:noFill/>
        </p:spPr>
        <p:txBody>
          <a:bodyPr wrap="square" lIns="0" rIns="0" tIns="0" bIns="0" anchor="t">
            <a:spAutoFit/>
          </a:bodyPr>
          <a:lstStyle/>
          <a:p>
            <a:pPr algn="l">
              <a:lnSpc>
                <a:spcPct val="140000"/>
              </a:lnSpc>
            </a:pPr>
            <a:r>
              <a:rPr sz="1200" b="0" i="0">
                <a:solidFill>
                  <a:srgbClr val="585861"/>
                </a:solidFill>
                <a:latin typeface="Space Grotesk"/>
              </a:rPr>
              <a:t>Optimizer state moves to CPU when not in use</a:t>
            </a:r>
          </a:p>
        </p:txBody>
      </p:sp>
      <p:sp>
        <p:nvSpPr>
          <p:cNvPr id="10" name="TextBox 9"/>
          <p:cNvSpPr txBox="1"/>
          <p:nvPr/>
        </p:nvSpPr>
        <p:spPr>
          <a:xfrm>
            <a:off x="4434840" y="4617720"/>
            <a:ext cx="3383280" cy="365760"/>
          </a:xfrm>
          <a:prstGeom prst="rect">
            <a:avLst/>
          </a:prstGeom>
          <a:noFill/>
        </p:spPr>
        <p:txBody>
          <a:bodyPr wrap="square" lIns="0" rIns="0" tIns="0" bIns="0" anchor="t">
            <a:spAutoFit/>
          </a:bodyPr>
          <a:lstStyle/>
          <a:p>
            <a:pPr algn="l">
              <a:lnSpc>
                <a:spcPct val="120000"/>
              </a:lnSpc>
            </a:pPr>
            <a:r>
              <a:rPr sz="1400" b="0" i="0">
                <a:solidFill>
                  <a:srgbClr val="1F5B4D"/>
                </a:solidFill>
                <a:latin typeface="Consolas"/>
              </a:rPr>
              <a:t>gradient_checkpointing</a:t>
            </a:r>
          </a:p>
        </p:txBody>
      </p:sp>
      <p:sp>
        <p:nvSpPr>
          <p:cNvPr id="11" name="TextBox 10"/>
          <p:cNvSpPr txBox="1"/>
          <p:nvPr/>
        </p:nvSpPr>
        <p:spPr>
          <a:xfrm>
            <a:off x="4434840" y="4983480"/>
            <a:ext cx="3383280" cy="822960"/>
          </a:xfrm>
          <a:prstGeom prst="rect">
            <a:avLst/>
          </a:prstGeom>
          <a:noFill/>
        </p:spPr>
        <p:txBody>
          <a:bodyPr wrap="square" lIns="0" rIns="0" tIns="0" bIns="0" anchor="t">
            <a:spAutoFit/>
          </a:bodyPr>
          <a:lstStyle/>
          <a:p>
            <a:pPr algn="l">
              <a:lnSpc>
                <a:spcPct val="140000"/>
              </a:lnSpc>
            </a:pPr>
            <a:r>
              <a:rPr sz="1200" b="0" i="0">
                <a:solidFill>
                  <a:srgbClr val="585861"/>
                </a:solidFill>
                <a:latin typeface="Space Grotesk"/>
              </a:rPr>
              <a:t>Activations recomputed on backward pass</a:t>
            </a:r>
          </a:p>
        </p:txBody>
      </p:sp>
      <p:sp>
        <p:nvSpPr>
          <p:cNvPr id="12" name="TextBox 11"/>
          <p:cNvSpPr txBox="1"/>
          <p:nvPr/>
        </p:nvSpPr>
        <p:spPr>
          <a:xfrm>
            <a:off x="7955279" y="4617720"/>
            <a:ext cx="3383280" cy="365760"/>
          </a:xfrm>
          <a:prstGeom prst="rect">
            <a:avLst/>
          </a:prstGeom>
          <a:noFill/>
        </p:spPr>
        <p:txBody>
          <a:bodyPr wrap="square" lIns="0" rIns="0" tIns="0" bIns="0" anchor="t">
            <a:spAutoFit/>
          </a:bodyPr>
          <a:lstStyle/>
          <a:p>
            <a:pPr algn="l">
              <a:lnSpc>
                <a:spcPct val="120000"/>
              </a:lnSpc>
            </a:pPr>
            <a:r>
              <a:rPr sz="1400" b="0" i="0">
                <a:solidFill>
                  <a:srgbClr val="1F5B4D"/>
                </a:solidFill>
                <a:latin typeface="Consolas"/>
              </a:rPr>
              <a:t>expandable_segments</a:t>
            </a:r>
          </a:p>
        </p:txBody>
      </p:sp>
      <p:sp>
        <p:nvSpPr>
          <p:cNvPr id="13" name="TextBox 12"/>
          <p:cNvSpPr txBox="1"/>
          <p:nvPr/>
        </p:nvSpPr>
        <p:spPr>
          <a:xfrm>
            <a:off x="7955279" y="4983480"/>
            <a:ext cx="3383280" cy="822960"/>
          </a:xfrm>
          <a:prstGeom prst="rect">
            <a:avLst/>
          </a:prstGeom>
          <a:noFill/>
        </p:spPr>
        <p:txBody>
          <a:bodyPr wrap="square" lIns="0" rIns="0" tIns="0" bIns="0" anchor="t">
            <a:spAutoFit/>
          </a:bodyPr>
          <a:lstStyle/>
          <a:p>
            <a:pPr algn="l">
              <a:lnSpc>
                <a:spcPct val="140000"/>
              </a:lnSpc>
            </a:pPr>
            <a:r>
              <a:rPr sz="1200" b="0" i="0">
                <a:solidFill>
                  <a:srgbClr val="585861"/>
                </a:solidFill>
                <a:latin typeface="Space Grotesk"/>
              </a:rPr>
              <a:t>Allocator avoids CUDA fragmentation</a:t>
            </a:r>
          </a:p>
        </p:txBody>
      </p:sp>
      <p:sp>
        <p:nvSpPr>
          <p:cNvPr id="14" name="TextBox 13"/>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17</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4 · Training loss curve</a:t>
            </a:r>
          </a:p>
        </p:txBody>
      </p:sp>
      <p:graphicFrame>
        <p:nvGraphicFramePr>
          <p:cNvPr id="4" name="Chart 3"/>
          <p:cNvGraphicFramePr>
            <a:graphicFrameLocks noGrp="1"/>
          </p:cNvGraphicFramePr>
          <p:nvPr/>
        </p:nvGraphicFramePr>
        <p:xfrm>
          <a:off x="777240" y="1371600"/>
          <a:ext cx="7680960" cy="4297680"/>
        </p:xfrm>
        <a:graphic>
          <a:graphicData uri="http://schemas.openxmlformats.org/drawingml/2006/chart">
            <c:chart xmlns:c="http://schemas.openxmlformats.org/drawingml/2006/chart" r:id="rId3"/>
          </a:graphicData>
        </a:graphic>
      </p:graphicFrame>
      <p:sp>
        <p:nvSpPr>
          <p:cNvPr id="5" name="Rounded Rectangle 4"/>
          <p:cNvSpPr/>
          <p:nvPr/>
        </p:nvSpPr>
        <p:spPr>
          <a:xfrm>
            <a:off x="8732520" y="1371600"/>
            <a:ext cx="2834640" cy="42976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TAKEAWAY</a:t>
            </a:r>
          </a:p>
          <a:p>
            <a:pPr algn="l">
              <a:lnSpc>
                <a:spcPct val="110000"/>
              </a:lnSpc>
              <a:spcBef>
                <a:spcPts val="400"/>
              </a:spcBef>
              <a:spcAft>
                <a:spcPts val="800"/>
              </a:spcAft>
            </a:pPr>
            <a:r>
              <a:rPr sz="1800" b="1" i="0">
                <a:solidFill>
                  <a:srgbClr val="1B1B1F"/>
                </a:solidFill>
                <a:latin typeface="Fraunces"/>
              </a:rPr>
              <a:t>Rapid early convergence</a:t>
            </a:r>
          </a:p>
          <a:p>
            <a:pPr algn="l">
              <a:lnSpc>
                <a:spcPct val="150000"/>
              </a:lnSpc>
              <a:spcAft>
                <a:spcPts val="400"/>
              </a:spcAft>
            </a:pPr>
            <a:r>
              <a:rPr sz="1300" b="0" i="0">
                <a:solidFill>
                  <a:srgbClr val="585861"/>
                </a:solidFill>
                <a:latin typeface="Space Grotesk"/>
              </a:rPr>
              <a:t>Loss drops from 4.13 to ≈ 1.1 in the first 80 steps, then settles. A single epoch is enough for stylistic adaptation.</a:t>
            </a:r>
          </a:p>
        </p:txBody>
      </p:sp>
      <p:sp>
        <p:nvSpPr>
          <p:cNvPr id="6" name="TextBox 5"/>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18</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5 · Merge &amp; quantize, four stages</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Adapter weights → fused FP16 → GGUF → Q4_K_M, no GPU after stage 1.</a:t>
            </a:r>
          </a:p>
        </p:txBody>
      </p:sp>
      <p:sp>
        <p:nvSpPr>
          <p:cNvPr id="5" name="Rounded Rectangle 4"/>
          <p:cNvSpPr/>
          <p:nvPr/>
        </p:nvSpPr>
        <p:spPr>
          <a:xfrm>
            <a:off x="777240" y="2194560"/>
            <a:ext cx="2331720" cy="237744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Stage 1</a:t>
            </a:r>
          </a:p>
          <a:p>
            <a:pPr algn="ctr">
              <a:lnSpc>
                <a:spcPct val="115000"/>
              </a:lnSpc>
              <a:spcBef>
                <a:spcPts val="800"/>
              </a:spcBef>
              <a:spcAft>
                <a:spcPts val="800"/>
              </a:spcAft>
            </a:pPr>
            <a:r>
              <a:rPr sz="1700" b="1" i="0">
                <a:solidFill>
                  <a:srgbClr val="1B1B1F"/>
                </a:solidFill>
                <a:latin typeface="Fraunces"/>
              </a:rPr>
              <a:t>Train
LoRA adapter</a:t>
            </a:r>
          </a:p>
          <a:p>
            <a:pPr algn="ctr">
              <a:lnSpc>
                <a:spcPct val="130000"/>
              </a:lnSpc>
              <a:spcAft>
                <a:spcPts val="400"/>
              </a:spcAft>
            </a:pPr>
            <a:r>
              <a:rPr sz="1100" b="0" i="0">
                <a:solidFill>
                  <a:srgbClr val="E98D5C"/>
                </a:solidFill>
                <a:latin typeface="Consolas"/>
              </a:rPr>
              <a:t>Kaggle 2×T4</a:t>
            </a:r>
          </a:p>
        </p:txBody>
      </p:sp>
      <p:sp>
        <p:nvSpPr>
          <p:cNvPr id="6" name="Right Arrow 5"/>
          <p:cNvSpPr/>
          <p:nvPr/>
        </p:nvSpPr>
        <p:spPr>
          <a:xfrm>
            <a:off x="3108960" y="3291840"/>
            <a:ext cx="457200"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566160" y="2194560"/>
            <a:ext cx="2331720" cy="237744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Stage 2</a:t>
            </a:r>
          </a:p>
          <a:p>
            <a:pPr algn="ctr">
              <a:lnSpc>
                <a:spcPct val="115000"/>
              </a:lnSpc>
              <a:spcBef>
                <a:spcPts val="800"/>
              </a:spcBef>
              <a:spcAft>
                <a:spcPts val="800"/>
              </a:spcAft>
            </a:pPr>
            <a:r>
              <a:rPr sz="1700" b="1" i="0">
                <a:solidFill>
                  <a:srgbClr val="1B1B1F"/>
                </a:solidFill>
                <a:latin typeface="Fraunces"/>
              </a:rPr>
              <a:t>Merge into
FP16 base</a:t>
            </a:r>
          </a:p>
          <a:p>
            <a:pPr algn="ctr">
              <a:lnSpc>
                <a:spcPct val="130000"/>
              </a:lnSpc>
              <a:spcAft>
                <a:spcPts val="400"/>
              </a:spcAft>
            </a:pPr>
            <a:r>
              <a:rPr sz="1100" b="0" i="0">
                <a:solidFill>
                  <a:srgbClr val="E98D5C"/>
                </a:solidFill>
                <a:latin typeface="Consolas"/>
              </a:rPr>
              <a:t>CPU 16 GB</a:t>
            </a:r>
          </a:p>
        </p:txBody>
      </p:sp>
      <p:sp>
        <p:nvSpPr>
          <p:cNvPr id="8" name="Right Arrow 7"/>
          <p:cNvSpPr/>
          <p:nvPr/>
        </p:nvSpPr>
        <p:spPr>
          <a:xfrm>
            <a:off x="5897880" y="3291840"/>
            <a:ext cx="457200"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55080" y="2194560"/>
            <a:ext cx="2331720" cy="237744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Stage 3</a:t>
            </a:r>
          </a:p>
          <a:p>
            <a:pPr algn="ctr">
              <a:lnSpc>
                <a:spcPct val="115000"/>
              </a:lnSpc>
              <a:spcBef>
                <a:spcPts val="800"/>
              </a:spcBef>
              <a:spcAft>
                <a:spcPts val="800"/>
              </a:spcAft>
            </a:pPr>
            <a:r>
              <a:rPr sz="1700" b="1" i="0">
                <a:solidFill>
                  <a:srgbClr val="1B1B1F"/>
                </a:solidFill>
                <a:latin typeface="Fraunces"/>
              </a:rPr>
              <a:t>Convert FP16
→ GGUF</a:t>
            </a:r>
          </a:p>
          <a:p>
            <a:pPr algn="ctr">
              <a:lnSpc>
                <a:spcPct val="130000"/>
              </a:lnSpc>
              <a:spcAft>
                <a:spcPts val="400"/>
              </a:spcAft>
            </a:pPr>
            <a:r>
              <a:rPr sz="1100" b="0" i="0">
                <a:solidFill>
                  <a:srgbClr val="E98D5C"/>
                </a:solidFill>
                <a:latin typeface="Consolas"/>
              </a:rPr>
              <a:t>llama.cpp convert</a:t>
            </a:r>
          </a:p>
        </p:txBody>
      </p:sp>
      <p:sp>
        <p:nvSpPr>
          <p:cNvPr id="10" name="Right Arrow 9"/>
          <p:cNvSpPr/>
          <p:nvPr/>
        </p:nvSpPr>
        <p:spPr>
          <a:xfrm>
            <a:off x="8686800" y="3291840"/>
            <a:ext cx="457200"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0" y="2194560"/>
            <a:ext cx="2331720" cy="237744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Stage 4</a:t>
            </a:r>
          </a:p>
          <a:p>
            <a:pPr algn="ctr">
              <a:lnSpc>
                <a:spcPct val="115000"/>
              </a:lnSpc>
              <a:spcBef>
                <a:spcPts val="800"/>
              </a:spcBef>
              <a:spcAft>
                <a:spcPts val="800"/>
              </a:spcAft>
            </a:pPr>
            <a:r>
              <a:rPr sz="1700" b="1" i="0">
                <a:solidFill>
                  <a:srgbClr val="1B1B1F"/>
                </a:solidFill>
                <a:latin typeface="Fraunces"/>
              </a:rPr>
              <a:t>Quantize to
Q4_K_M</a:t>
            </a:r>
          </a:p>
          <a:p>
            <a:pPr algn="ctr">
              <a:lnSpc>
                <a:spcPct val="130000"/>
              </a:lnSpc>
              <a:spcAft>
                <a:spcPts val="400"/>
              </a:spcAft>
            </a:pPr>
            <a:r>
              <a:rPr sz="1100" b="0" i="0">
                <a:solidFill>
                  <a:srgbClr val="E98D5C"/>
                </a:solidFill>
                <a:latin typeface="Consolas"/>
              </a:rPr>
              <a:t>llama-quantize</a:t>
            </a:r>
          </a:p>
        </p:txBody>
      </p:sp>
      <p:sp>
        <p:nvSpPr>
          <p:cNvPr id="12" name="Rounded Rectangle 11"/>
          <p:cNvSpPr/>
          <p:nvPr/>
        </p:nvSpPr>
        <p:spPr>
          <a:xfrm>
            <a:off x="777240" y="5029200"/>
            <a:ext cx="10698480" cy="109728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40000"/>
              </a:lnSpc>
            </a:pPr>
            <a:r>
              <a:rPr sz="1400" b="0" i="1">
                <a:solidFill>
                  <a:srgbClr val="1F5B4D"/>
                </a:solidFill>
                <a:latin typeface="Space Grotesk"/>
              </a:rPr>
              <a:t>After stage 1 we never touch a GPU again — merge, convert, and quantize all run on CPU.</a:t>
            </a:r>
          </a:p>
        </p:txBody>
      </p:sp>
      <p:sp>
        <p:nvSpPr>
          <p:cNvPr id="13" name="TextBox 12"/>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19</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5 · Disk footprint after quantization</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Three artifacts. The thing we ship is in the middle.</a:t>
            </a:r>
          </a:p>
        </p:txBody>
      </p:sp>
      <p:graphicFrame>
        <p:nvGraphicFramePr>
          <p:cNvPr id="5" name="Chart 4"/>
          <p:cNvGraphicFramePr>
            <a:graphicFrameLocks noGrp="1"/>
          </p:cNvGraphicFramePr>
          <p:nvPr/>
        </p:nvGraphicFramePr>
        <p:xfrm>
          <a:off x="777240" y="1828800"/>
          <a:ext cx="6858000" cy="4114800"/>
        </p:xfrm>
        <a:graphic>
          <a:graphicData uri="http://schemas.openxmlformats.org/drawingml/2006/chart">
            <c:chart xmlns:c="http://schemas.openxmlformats.org/drawingml/2006/chart" r:id="rId3"/>
          </a:graphicData>
        </a:graphic>
      </p:graphicFrame>
      <p:sp>
        <p:nvSpPr>
          <p:cNvPr id="6" name="Rounded Rectangle 5"/>
          <p:cNvSpPr/>
          <p:nvPr/>
        </p:nvSpPr>
        <p:spPr>
          <a:xfrm>
            <a:off x="7955279" y="1828800"/>
            <a:ext cx="3611880" cy="4114800"/>
          </a:xfrm>
          <a:prstGeom prst="roundRect">
            <a:avLst>
              <a:gd name="adj" fmla="val 8000"/>
            </a:avLst>
          </a:prstGeom>
          <a:solidFill>
            <a:srgbClr val="E98D5C"/>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FFFFFF"/>
                </a:solidFill>
                <a:latin typeface="Space Grotesk"/>
              </a:rPr>
              <a:t>63 % SMALLER</a:t>
            </a:r>
          </a:p>
          <a:p>
            <a:pPr algn="l">
              <a:lnSpc>
                <a:spcPct val="100000"/>
              </a:lnSpc>
              <a:spcBef>
                <a:spcPts val="400"/>
              </a:spcBef>
              <a:spcAft>
                <a:spcPts val="200"/>
              </a:spcAft>
            </a:pPr>
            <a:r>
              <a:rPr sz="5600" b="1" i="0">
                <a:solidFill>
                  <a:srgbClr val="FFFFFF"/>
                </a:solidFill>
                <a:latin typeface="Fraunces"/>
              </a:rPr>
              <a:t>3.42 GB</a:t>
            </a:r>
          </a:p>
          <a:p>
            <a:pPr algn="l">
              <a:lnSpc>
                <a:spcPct val="130000"/>
              </a:lnSpc>
              <a:spcAft>
                <a:spcPts val="1800"/>
              </a:spcAft>
            </a:pPr>
            <a:r>
              <a:rPr sz="1400" b="0" i="0">
                <a:solidFill>
                  <a:srgbClr val="FFFFFF"/>
                </a:solidFill>
                <a:latin typeface="Space Grotesk"/>
              </a:rPr>
              <a:t>Q4_K_M GGUF, runs on CPU RAM</a:t>
            </a:r>
          </a:p>
          <a:p>
            <a:pPr algn="l">
              <a:lnSpc>
                <a:spcPct val="145000"/>
              </a:lnSpc>
              <a:spcAft>
                <a:spcPts val="400"/>
              </a:spcAft>
            </a:pPr>
            <a:r>
              <a:rPr sz="1200" b="0" i="1">
                <a:solidFill>
                  <a:srgbClr val="FFFFFF"/>
                </a:solidFill>
                <a:latin typeface="Space Grotesk"/>
              </a:rPr>
              <a:t>Quantize step ≈ 3.2 minutes on Kaggle.</a:t>
            </a:r>
          </a:p>
        </p:txBody>
      </p:sp>
      <p:sp>
        <p:nvSpPr>
          <p:cNvPr id="7" name="TextBox 6"/>
          <p:cNvSpPr txBox="1"/>
          <p:nvPr/>
        </p:nvSpPr>
        <p:spPr>
          <a:xfrm>
            <a:off x="777240" y="5989320"/>
            <a:ext cx="10698480" cy="365760"/>
          </a:xfrm>
          <a:prstGeom prst="rect">
            <a:avLst/>
          </a:prstGeom>
          <a:noFill/>
        </p:spPr>
        <p:txBody>
          <a:bodyPr wrap="square" lIns="0" rIns="0" tIns="0" bIns="0" anchor="t">
            <a:spAutoFit/>
          </a:bodyPr>
          <a:lstStyle/>
          <a:p>
            <a:pPr algn="l">
              <a:lnSpc>
                <a:spcPct val="130000"/>
              </a:lnSpc>
            </a:pPr>
            <a:r>
              <a:rPr sz="1200" b="0" i="1">
                <a:solidFill>
                  <a:srgbClr val="585861"/>
                </a:solidFill>
                <a:latin typeface="Space Grotesk"/>
              </a:rPr>
              <a:t>Adapter alone is 120 MB — share it freely; merging happens once on the receiver's machine.</a:t>
            </a:r>
          </a:p>
        </p:txBody>
      </p:sp>
      <p:sp>
        <p:nvSpPr>
          <p:cNvPr id="8" name="TextBox 7"/>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20</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6 · Three repos on Hugging Face</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500" b="0" i="0">
                <a:solidFill>
                  <a:srgbClr val="585861"/>
                </a:solidFill>
                <a:latin typeface="Space Grotesk"/>
              </a:rPr>
              <a:t>Everything lives at huggingface.co/khedim — open and reproducible.</a:t>
            </a:r>
          </a:p>
        </p:txBody>
      </p:sp>
      <p:sp>
        <p:nvSpPr>
          <p:cNvPr id="5" name="Rounded Rectangle 4"/>
          <p:cNvSpPr/>
          <p:nvPr/>
        </p:nvSpPr>
        <p:spPr>
          <a:xfrm>
            <a:off x="777240" y="1828800"/>
            <a:ext cx="3611880" cy="31089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a:lstStyle/>
          <a:p/>
        </p:txBody>
      </p:sp>
      <p:pic>
        <p:nvPicPr>
          <p:cNvPr id="6" name="Picture 5" descr="fig11_hf_gpt2.png"/>
          <p:cNvPicPr>
            <a:picLocks noChangeAspect="1"/>
          </p:cNvPicPr>
          <p:nvPr/>
        </p:nvPicPr>
        <p:blipFill>
          <a:blip r:embed="rId3"/>
          <a:stretch>
            <a:fillRect/>
          </a:stretch>
        </p:blipFill>
        <p:spPr>
          <a:xfrm>
            <a:off x="960120" y="2011680"/>
            <a:ext cx="3246120" cy="1204745"/>
          </a:xfrm>
          <a:prstGeom prst="rect">
            <a:avLst/>
          </a:prstGeom>
        </p:spPr>
      </p:pic>
      <p:sp>
        <p:nvSpPr>
          <p:cNvPr id="7" name="TextBox 6"/>
          <p:cNvSpPr txBox="1"/>
          <p:nvPr/>
        </p:nvSpPr>
        <p:spPr>
          <a:xfrm>
            <a:off x="960120" y="3381017"/>
            <a:ext cx="3246120" cy="365760"/>
          </a:xfrm>
          <a:prstGeom prst="rect">
            <a:avLst/>
          </a:prstGeom>
          <a:noFill/>
        </p:spPr>
        <p:txBody>
          <a:bodyPr wrap="square" lIns="0" rIns="0" tIns="0" bIns="0" anchor="t">
            <a:spAutoFit/>
          </a:bodyPr>
          <a:lstStyle/>
          <a:p>
            <a:pPr algn="l">
              <a:lnSpc>
                <a:spcPct val="120000"/>
              </a:lnSpc>
            </a:pPr>
            <a:r>
              <a:rPr sz="1200" b="0" i="0">
                <a:solidFill>
                  <a:srgbClr val="1F5B4D"/>
                </a:solidFill>
                <a:latin typeface="Consolas"/>
              </a:rPr>
              <a:t>khedim/NLP-MINI-PROJECT</a:t>
            </a:r>
          </a:p>
        </p:txBody>
      </p:sp>
      <p:sp>
        <p:nvSpPr>
          <p:cNvPr id="8" name="TextBox 7"/>
          <p:cNvSpPr txBox="1"/>
          <p:nvPr/>
        </p:nvSpPr>
        <p:spPr>
          <a:xfrm>
            <a:off x="960120" y="3746777"/>
            <a:ext cx="3246120" cy="457200"/>
          </a:xfrm>
          <a:prstGeom prst="rect">
            <a:avLst/>
          </a:prstGeom>
          <a:noFill/>
        </p:spPr>
        <p:txBody>
          <a:bodyPr wrap="square" lIns="0" rIns="0" tIns="0" bIns="0" anchor="t">
            <a:spAutoFit/>
          </a:bodyPr>
          <a:lstStyle/>
          <a:p>
            <a:pPr algn="l">
              <a:lnSpc>
                <a:spcPct val="130000"/>
              </a:lnSpc>
            </a:pPr>
            <a:r>
              <a:rPr sz="1200" b="0" i="0">
                <a:solidFill>
                  <a:srgbClr val="585861"/>
                </a:solidFill>
                <a:latin typeface="Space Grotesk"/>
              </a:rPr>
              <a:t>Fine-tuned GPT-2 Small + Gemma GGUF root</a:t>
            </a:r>
          </a:p>
        </p:txBody>
      </p:sp>
      <p:sp>
        <p:nvSpPr>
          <p:cNvPr id="9" name="Rounded Rectangle 8"/>
          <p:cNvSpPr/>
          <p:nvPr/>
        </p:nvSpPr>
        <p:spPr>
          <a:xfrm>
            <a:off x="4553712" y="1828800"/>
            <a:ext cx="3611880" cy="31089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a:lstStyle/>
          <a:p/>
        </p:txBody>
      </p:sp>
      <p:pic>
        <p:nvPicPr>
          <p:cNvPr id="10" name="Picture 9" descr="fig10_hf_gemma.png"/>
          <p:cNvPicPr>
            <a:picLocks noChangeAspect="1"/>
          </p:cNvPicPr>
          <p:nvPr/>
        </p:nvPicPr>
        <p:blipFill>
          <a:blip r:embed="rId4"/>
          <a:stretch>
            <a:fillRect/>
          </a:stretch>
        </p:blipFill>
        <p:spPr>
          <a:xfrm>
            <a:off x="4736592" y="2011680"/>
            <a:ext cx="3246120" cy="769698"/>
          </a:xfrm>
          <a:prstGeom prst="rect">
            <a:avLst/>
          </a:prstGeom>
        </p:spPr>
      </p:pic>
      <p:sp>
        <p:nvSpPr>
          <p:cNvPr id="11" name="TextBox 10"/>
          <p:cNvSpPr txBox="1"/>
          <p:nvPr/>
        </p:nvSpPr>
        <p:spPr>
          <a:xfrm>
            <a:off x="4736592" y="2945970"/>
            <a:ext cx="3246120" cy="365760"/>
          </a:xfrm>
          <a:prstGeom prst="rect">
            <a:avLst/>
          </a:prstGeom>
          <a:noFill/>
        </p:spPr>
        <p:txBody>
          <a:bodyPr wrap="square" lIns="0" rIns="0" tIns="0" bIns="0" anchor="t">
            <a:spAutoFit/>
          </a:bodyPr>
          <a:lstStyle/>
          <a:p>
            <a:pPr algn="l">
              <a:lnSpc>
                <a:spcPct val="120000"/>
              </a:lnSpc>
            </a:pPr>
            <a:r>
              <a:rPr sz="1200" b="0" i="0">
                <a:solidFill>
                  <a:srgbClr val="1F5B4D"/>
                </a:solidFill>
                <a:latin typeface="Consolas"/>
              </a:rPr>
              <a:t>…/gemma-e2b/</a:t>
            </a:r>
          </a:p>
        </p:txBody>
      </p:sp>
      <p:sp>
        <p:nvSpPr>
          <p:cNvPr id="12" name="TextBox 11"/>
          <p:cNvSpPr txBox="1"/>
          <p:nvPr/>
        </p:nvSpPr>
        <p:spPr>
          <a:xfrm>
            <a:off x="4736592" y="3311730"/>
            <a:ext cx="3246120" cy="457200"/>
          </a:xfrm>
          <a:prstGeom prst="rect">
            <a:avLst/>
          </a:prstGeom>
          <a:noFill/>
        </p:spPr>
        <p:txBody>
          <a:bodyPr wrap="square" lIns="0" rIns="0" tIns="0" bIns="0" anchor="t">
            <a:spAutoFit/>
          </a:bodyPr>
          <a:lstStyle/>
          <a:p>
            <a:pPr algn="l">
              <a:lnSpc>
                <a:spcPct val="130000"/>
              </a:lnSpc>
            </a:pPr>
            <a:r>
              <a:rPr sz="1200" b="0" i="0">
                <a:solidFill>
                  <a:srgbClr val="585861"/>
                </a:solidFill>
                <a:latin typeface="Space Grotesk"/>
              </a:rPr>
              <a:t>Gemma E2B Q4_K_M GGUF · 3.42 GB</a:t>
            </a:r>
          </a:p>
        </p:txBody>
      </p:sp>
      <p:sp>
        <p:nvSpPr>
          <p:cNvPr id="13" name="Rounded Rectangle 12"/>
          <p:cNvSpPr/>
          <p:nvPr/>
        </p:nvSpPr>
        <p:spPr>
          <a:xfrm>
            <a:off x="8330184" y="1828800"/>
            <a:ext cx="3611880" cy="31089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a:lstStyle/>
          <a:p/>
        </p:txBody>
      </p:sp>
      <p:pic>
        <p:nvPicPr>
          <p:cNvPr id="14" name="Picture 13" descr="fig12_hf_adapter.png"/>
          <p:cNvPicPr>
            <a:picLocks noChangeAspect="1"/>
          </p:cNvPicPr>
          <p:nvPr/>
        </p:nvPicPr>
        <p:blipFill>
          <a:blip r:embed="rId5"/>
          <a:stretch>
            <a:fillRect/>
          </a:stretch>
        </p:blipFill>
        <p:spPr>
          <a:xfrm>
            <a:off x="8513064" y="2011680"/>
            <a:ext cx="3246120" cy="1010647"/>
          </a:xfrm>
          <a:prstGeom prst="rect">
            <a:avLst/>
          </a:prstGeom>
        </p:spPr>
      </p:pic>
      <p:sp>
        <p:nvSpPr>
          <p:cNvPr id="15" name="TextBox 14"/>
          <p:cNvSpPr txBox="1"/>
          <p:nvPr/>
        </p:nvSpPr>
        <p:spPr>
          <a:xfrm>
            <a:off x="8513064" y="3186919"/>
            <a:ext cx="3246120" cy="365760"/>
          </a:xfrm>
          <a:prstGeom prst="rect">
            <a:avLst/>
          </a:prstGeom>
          <a:noFill/>
        </p:spPr>
        <p:txBody>
          <a:bodyPr wrap="square" lIns="0" rIns="0" tIns="0" bIns="0" anchor="t">
            <a:spAutoFit/>
          </a:bodyPr>
          <a:lstStyle/>
          <a:p>
            <a:pPr algn="l">
              <a:lnSpc>
                <a:spcPct val="120000"/>
              </a:lnSpc>
            </a:pPr>
            <a:r>
              <a:rPr sz="1200" b="0" i="0">
                <a:solidFill>
                  <a:srgbClr val="1F5B4D"/>
                </a:solidFill>
                <a:latin typeface="Consolas"/>
              </a:rPr>
              <a:t>khedim/NLP-MINI-PROJECT-adapter</a:t>
            </a:r>
          </a:p>
        </p:txBody>
      </p:sp>
      <p:sp>
        <p:nvSpPr>
          <p:cNvPr id="16" name="TextBox 15"/>
          <p:cNvSpPr txBox="1"/>
          <p:nvPr/>
        </p:nvSpPr>
        <p:spPr>
          <a:xfrm>
            <a:off x="8513064" y="3552679"/>
            <a:ext cx="3246120" cy="457200"/>
          </a:xfrm>
          <a:prstGeom prst="rect">
            <a:avLst/>
          </a:prstGeom>
          <a:noFill/>
        </p:spPr>
        <p:txBody>
          <a:bodyPr wrap="square" lIns="0" rIns="0" tIns="0" bIns="0" anchor="t">
            <a:spAutoFit/>
          </a:bodyPr>
          <a:lstStyle/>
          <a:p>
            <a:pPr algn="l">
              <a:lnSpc>
                <a:spcPct val="130000"/>
              </a:lnSpc>
            </a:pPr>
            <a:r>
              <a:rPr sz="1200" b="0" i="0">
                <a:solidFill>
                  <a:srgbClr val="585861"/>
                </a:solidFill>
                <a:latin typeface="Space Grotesk"/>
              </a:rPr>
              <a:t>LoRA adapter weights · 120 MB</a:t>
            </a:r>
          </a:p>
        </p:txBody>
      </p:sp>
      <p:sp>
        <p:nvSpPr>
          <p:cNvPr id="17" name="TextBox 1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21</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6 · How we evaluate</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BLEU and ROUGE are weak signals for creative writing — we lean on four explicit checks.</a:t>
            </a:r>
          </a:p>
        </p:txBody>
      </p:sp>
      <p:sp>
        <p:nvSpPr>
          <p:cNvPr id="5" name="Rounded Rectangle 4"/>
          <p:cNvSpPr/>
          <p:nvPr/>
        </p:nvSpPr>
        <p:spPr>
          <a:xfrm>
            <a:off x="777240" y="1828800"/>
            <a:ext cx="260604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7000"/>
              </a:spcBef>
              <a:spcAft>
                <a:spcPts val="800"/>
              </a:spcAft>
            </a:pPr>
            <a:r>
              <a:rPr sz="1700" b="1" i="0">
                <a:solidFill>
                  <a:srgbClr val="1B1B1F"/>
                </a:solidFill>
                <a:latin typeface="Fraunces"/>
              </a:rPr>
              <a:t>Age-prefix adherence</a:t>
            </a:r>
          </a:p>
          <a:p>
            <a:pPr algn="l">
              <a:lnSpc>
                <a:spcPct val="145000"/>
              </a:lnSpc>
              <a:spcAft>
                <a:spcPts val="400"/>
              </a:spcAft>
            </a:pPr>
            <a:r>
              <a:rPr sz="1200" b="0" i="0">
                <a:solidFill>
                  <a:srgbClr val="585861"/>
                </a:solidFill>
                <a:latin typeface="Space Grotesk"/>
              </a:rPr>
              <a:t>Does Age 3-4 produce simple sentences and Age 11-12 complex ones?</a:t>
            </a:r>
          </a:p>
        </p:txBody>
      </p:sp>
      <p:sp>
        <p:nvSpPr>
          <p:cNvPr id="6" name="TextBox 5"/>
          <p:cNvSpPr txBox="1"/>
          <p:nvPr/>
        </p:nvSpPr>
        <p:spPr>
          <a:xfrm>
            <a:off x="960120" y="2057400"/>
            <a:ext cx="1097280" cy="100584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A</a:t>
            </a:r>
          </a:p>
        </p:txBody>
      </p:sp>
      <p:sp>
        <p:nvSpPr>
          <p:cNvPr id="7" name="Rounded Rectangle 6"/>
          <p:cNvSpPr/>
          <p:nvPr/>
        </p:nvSpPr>
        <p:spPr>
          <a:xfrm>
            <a:off x="3547872" y="1828800"/>
            <a:ext cx="260604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7000"/>
              </a:spcBef>
              <a:spcAft>
                <a:spcPts val="800"/>
              </a:spcAft>
            </a:pPr>
            <a:r>
              <a:rPr sz="1700" b="1" i="0">
                <a:solidFill>
                  <a:srgbClr val="1B1B1F"/>
                </a:solidFill>
                <a:latin typeface="Fraunces"/>
              </a:rPr>
              <a:t>Vocabulary &amp; sentence complexity</a:t>
            </a:r>
          </a:p>
          <a:p>
            <a:pPr algn="l">
              <a:lnSpc>
                <a:spcPct val="145000"/>
              </a:lnSpc>
              <a:spcAft>
                <a:spcPts val="400"/>
              </a:spcAft>
            </a:pPr>
            <a:r>
              <a:rPr sz="1200" b="0" i="0">
                <a:solidFill>
                  <a:srgbClr val="585861"/>
                </a:solidFill>
                <a:latin typeface="Space Grotesk"/>
              </a:rPr>
              <a:t>Sentence length, polysyllabic ratio, register — measured per band.</a:t>
            </a:r>
          </a:p>
        </p:txBody>
      </p:sp>
      <p:sp>
        <p:nvSpPr>
          <p:cNvPr id="8" name="TextBox 7"/>
          <p:cNvSpPr txBox="1"/>
          <p:nvPr/>
        </p:nvSpPr>
        <p:spPr>
          <a:xfrm>
            <a:off x="3730752" y="2057400"/>
            <a:ext cx="1097280" cy="100584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B</a:t>
            </a:r>
          </a:p>
        </p:txBody>
      </p:sp>
      <p:sp>
        <p:nvSpPr>
          <p:cNvPr id="9" name="Rounded Rectangle 8"/>
          <p:cNvSpPr/>
          <p:nvPr/>
        </p:nvSpPr>
        <p:spPr>
          <a:xfrm>
            <a:off x="6318504" y="1828800"/>
            <a:ext cx="260604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7000"/>
              </a:spcBef>
              <a:spcAft>
                <a:spcPts val="800"/>
              </a:spcAft>
            </a:pPr>
            <a:r>
              <a:rPr sz="1700" b="1" i="0">
                <a:solidFill>
                  <a:srgbClr val="1B1B1F"/>
                </a:solidFill>
                <a:latin typeface="Fraunces"/>
              </a:rPr>
              <a:t>Narrative coherence</a:t>
            </a:r>
          </a:p>
          <a:p>
            <a:pPr algn="l">
              <a:lnSpc>
                <a:spcPct val="145000"/>
              </a:lnSpc>
              <a:spcAft>
                <a:spcPts val="400"/>
              </a:spcAft>
            </a:pPr>
            <a:r>
              <a:rPr sz="1200" b="0" i="0">
                <a:solidFill>
                  <a:srgbClr val="585861"/>
                </a:solidFill>
                <a:latin typeface="Space Grotesk"/>
              </a:rPr>
              <a:t>Does the story have a beginning, a middle, and a resolved ending?</a:t>
            </a:r>
          </a:p>
        </p:txBody>
      </p:sp>
      <p:sp>
        <p:nvSpPr>
          <p:cNvPr id="10" name="TextBox 9"/>
          <p:cNvSpPr txBox="1"/>
          <p:nvPr/>
        </p:nvSpPr>
        <p:spPr>
          <a:xfrm>
            <a:off x="6501384" y="2057400"/>
            <a:ext cx="1097280" cy="100584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C</a:t>
            </a:r>
          </a:p>
        </p:txBody>
      </p:sp>
      <p:sp>
        <p:nvSpPr>
          <p:cNvPr id="11" name="Rounded Rectangle 10"/>
          <p:cNvSpPr/>
          <p:nvPr/>
        </p:nvSpPr>
        <p:spPr>
          <a:xfrm>
            <a:off x="9089136" y="1828800"/>
            <a:ext cx="260604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7000"/>
              </a:spcBef>
              <a:spcAft>
                <a:spcPts val="800"/>
              </a:spcAft>
            </a:pPr>
            <a:r>
              <a:rPr sz="1700" b="1" i="0">
                <a:solidFill>
                  <a:srgbClr val="1B1B1F"/>
                </a:solidFill>
                <a:latin typeface="Fraunces"/>
              </a:rPr>
              <a:t>Side-by-side baselines</a:t>
            </a:r>
          </a:p>
          <a:p>
            <a:pPr algn="l">
              <a:lnSpc>
                <a:spcPct val="145000"/>
              </a:lnSpc>
              <a:spcAft>
                <a:spcPts val="400"/>
              </a:spcAft>
            </a:pPr>
            <a:r>
              <a:rPr sz="1200" b="0" i="0">
                <a:solidFill>
                  <a:srgbClr val="585861"/>
                </a:solidFill>
                <a:latin typeface="Space Grotesk"/>
              </a:rPr>
              <a:t>Same prompt, same age — fine-tuned vs zero-shot at both scales.</a:t>
            </a:r>
          </a:p>
        </p:txBody>
      </p:sp>
      <p:sp>
        <p:nvSpPr>
          <p:cNvPr id="12" name="TextBox 11"/>
          <p:cNvSpPr txBox="1"/>
          <p:nvPr/>
        </p:nvSpPr>
        <p:spPr>
          <a:xfrm>
            <a:off x="9272016" y="2057400"/>
            <a:ext cx="1097280" cy="100584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D</a:t>
            </a:r>
          </a:p>
        </p:txBody>
      </p:sp>
      <p:sp>
        <p:nvSpPr>
          <p:cNvPr id="13" name="TextBox 12"/>
          <p:cNvSpPr txBox="1"/>
          <p:nvPr/>
        </p:nvSpPr>
        <p:spPr>
          <a:xfrm>
            <a:off x="777240" y="5943600"/>
            <a:ext cx="10698480" cy="457200"/>
          </a:xfrm>
          <a:prstGeom prst="rect">
            <a:avLst/>
          </a:prstGeom>
          <a:noFill/>
        </p:spPr>
        <p:txBody>
          <a:bodyPr wrap="square" lIns="0" rIns="0" tIns="0" bIns="0" anchor="t">
            <a:spAutoFit/>
          </a:bodyPr>
          <a:lstStyle/>
          <a:p>
            <a:pPr algn="ctr">
              <a:lnSpc>
                <a:spcPct val="130000"/>
              </a:lnSpc>
            </a:pPr>
            <a:r>
              <a:rPr sz="1400" b="0" i="1">
                <a:solidFill>
                  <a:srgbClr val="1B1B1F"/>
                </a:solidFill>
                <a:latin typeface="Space Grotesk"/>
              </a:rPr>
              <a:t>Two of those — A and D — we will run live in the next two slides.</a:t>
            </a:r>
          </a:p>
        </p:txBody>
      </p:sp>
      <p:sp>
        <p:nvSpPr>
          <p:cNvPr id="14" name="TextBox 13"/>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22</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Serving the model · FastAPI + streaming</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One process, two backends, swap protected by an asyncio.Lock.</a:t>
            </a:r>
          </a:p>
        </p:txBody>
      </p:sp>
      <p:sp>
        <p:nvSpPr>
          <p:cNvPr id="5" name="Rounded Rectangle 4"/>
          <p:cNvSpPr/>
          <p:nvPr/>
        </p:nvSpPr>
        <p:spPr>
          <a:xfrm>
            <a:off x="548640" y="2743200"/>
            <a:ext cx="1828800" cy="9144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800" b="1" i="0">
                <a:solidFill>
                  <a:srgbClr val="1B1B1F"/>
                </a:solidFill>
                <a:latin typeface="Fraunces"/>
              </a:rPr>
              <a:t>Browser</a:t>
            </a:r>
          </a:p>
          <a:p>
            <a:pPr algn="ctr">
              <a:lnSpc>
                <a:spcPct val="130000"/>
              </a:lnSpc>
              <a:spcAft>
                <a:spcPts val="400"/>
              </a:spcAft>
            </a:pPr>
            <a:r>
              <a:rPr sz="1000" b="0" i="0">
                <a:solidFill>
                  <a:srgbClr val="585861"/>
                </a:solidFill>
                <a:latin typeface="Space Grotesk"/>
              </a:rPr>
              <a:t>fetch + ReadableStream</a:t>
            </a:r>
          </a:p>
        </p:txBody>
      </p:sp>
      <p:sp>
        <p:nvSpPr>
          <p:cNvPr id="6" name="Right Arrow 5"/>
          <p:cNvSpPr/>
          <p:nvPr/>
        </p:nvSpPr>
        <p:spPr>
          <a:xfrm>
            <a:off x="2468880" y="3108960"/>
            <a:ext cx="548640"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94560" y="2514600"/>
            <a:ext cx="1371600" cy="274320"/>
          </a:xfrm>
          <a:prstGeom prst="rect">
            <a:avLst/>
          </a:prstGeom>
          <a:noFill/>
        </p:spPr>
        <p:txBody>
          <a:bodyPr wrap="square" lIns="0" rIns="0" tIns="0" bIns="0" anchor="t">
            <a:spAutoFit/>
          </a:bodyPr>
          <a:lstStyle/>
          <a:p>
            <a:pPr algn="ctr">
              <a:lnSpc>
                <a:spcPct val="120000"/>
              </a:lnSpc>
            </a:pPr>
            <a:r>
              <a:rPr sz="1000" b="0" i="0">
                <a:solidFill>
                  <a:srgbClr val="E98D5C"/>
                </a:solidFill>
                <a:latin typeface="Consolas"/>
              </a:rPr>
              <a:t>POST /generate</a:t>
            </a:r>
          </a:p>
        </p:txBody>
      </p:sp>
      <p:sp>
        <p:nvSpPr>
          <p:cNvPr id="8" name="Rounded Rectangle 7"/>
          <p:cNvSpPr/>
          <p:nvPr/>
        </p:nvSpPr>
        <p:spPr>
          <a:xfrm>
            <a:off x="3108960" y="2743200"/>
            <a:ext cx="2468880" cy="914400"/>
          </a:xfrm>
          <a:prstGeom prst="roundRect">
            <a:avLst>
              <a:gd name="adj" fmla="val 8000"/>
            </a:avLst>
          </a:prstGeom>
          <a:solidFill>
            <a:srgbClr val="1F5B4D"/>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800" b="1" i="0">
                <a:solidFill>
                  <a:srgbClr val="FFFFFF"/>
                </a:solidFill>
                <a:latin typeface="Fraunces"/>
              </a:rPr>
              <a:t>FastAPI app</a:t>
            </a:r>
          </a:p>
          <a:p>
            <a:pPr algn="ctr">
              <a:lnSpc>
                <a:spcPct val="130000"/>
              </a:lnSpc>
              <a:spcAft>
                <a:spcPts val="400"/>
              </a:spcAft>
            </a:pPr>
            <a:r>
              <a:rPr sz="1000" b="0" i="0">
                <a:solidFill>
                  <a:srgbClr val="FFFFFF"/>
                </a:solidFill>
                <a:latin typeface="Space Grotesk"/>
              </a:rPr>
              <a:t>single-model resident, asyncio.Lock</a:t>
            </a:r>
          </a:p>
        </p:txBody>
      </p:sp>
      <p:sp>
        <p:nvSpPr>
          <p:cNvPr id="9" name="Right Arrow 8"/>
          <p:cNvSpPr/>
          <p:nvPr/>
        </p:nvSpPr>
        <p:spPr>
          <a:xfrm>
            <a:off x="5669280" y="2103120"/>
            <a:ext cx="548640" cy="182880"/>
          </a:xfrm>
          <a:prstGeom prst="rightArrow">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5669280" y="4114800"/>
            <a:ext cx="548640" cy="182880"/>
          </a:xfrm>
          <a:prstGeom prst="rightArrow">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0" y="2194560"/>
            <a:ext cx="0" cy="2103120"/>
          </a:xfrm>
          <a:prstGeom prst="line">
            <a:avLst/>
          </a:prstGeom>
          <a:ln w="25400">
            <a:solidFill>
              <a:srgbClr val="1F5B4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55080" y="1783080"/>
            <a:ext cx="5212080" cy="9144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500" b="1" i="0">
                <a:solidFill>
                  <a:srgbClr val="1B1B1F"/>
                </a:solidFill>
                <a:latin typeface="Fraunces"/>
              </a:rPr>
              <a:t>HF Transformers · GPT-2</a:t>
            </a:r>
          </a:p>
          <a:p>
            <a:pPr algn="l">
              <a:lnSpc>
                <a:spcPct val="130000"/>
              </a:lnSpc>
              <a:spcBef>
                <a:spcPts val="200"/>
              </a:spcBef>
              <a:spcAft>
                <a:spcPts val="400"/>
              </a:spcAft>
            </a:pPr>
            <a:r>
              <a:rPr sz="1000" b="0" i="0">
                <a:solidFill>
                  <a:srgbClr val="585861"/>
                </a:solidFill>
                <a:latin typeface="Consolas"/>
              </a:rPr>
              <a:t>TextIteratorStreamer on a worker thread → text/plain</a:t>
            </a:r>
          </a:p>
        </p:txBody>
      </p:sp>
      <p:sp>
        <p:nvSpPr>
          <p:cNvPr id="13" name="Rounded Rectangle 12"/>
          <p:cNvSpPr/>
          <p:nvPr/>
        </p:nvSpPr>
        <p:spPr>
          <a:xfrm>
            <a:off x="6355080" y="3794760"/>
            <a:ext cx="5212080" cy="9144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500" b="1" i="0">
                <a:solidFill>
                  <a:srgbClr val="1B1B1F"/>
                </a:solidFill>
                <a:latin typeface="Fraunces"/>
              </a:rPr>
              <a:t>llama-cpp-python · Gemma GGUF</a:t>
            </a:r>
          </a:p>
          <a:p>
            <a:pPr algn="l">
              <a:lnSpc>
                <a:spcPct val="130000"/>
              </a:lnSpc>
              <a:spcBef>
                <a:spcPts val="200"/>
              </a:spcBef>
              <a:spcAft>
                <a:spcPts val="400"/>
              </a:spcAft>
            </a:pPr>
            <a:r>
              <a:rPr sz="1000" b="0" i="0">
                <a:solidFill>
                  <a:srgbClr val="585861"/>
                </a:solidFill>
                <a:latin typeface="Consolas"/>
              </a:rPr>
              <a:t>create_chat_completion(stream=True) → text/plain</a:t>
            </a:r>
          </a:p>
        </p:txBody>
      </p:sp>
      <p:sp>
        <p:nvSpPr>
          <p:cNvPr id="14" name="Rounded Rectangle 13"/>
          <p:cNvSpPr/>
          <p:nvPr/>
        </p:nvSpPr>
        <p:spPr>
          <a:xfrm>
            <a:off x="777240" y="5532120"/>
            <a:ext cx="10698480" cy="86868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600" b="1" i="0">
                <a:solidFill>
                  <a:srgbClr val="1F5B4D"/>
                </a:solidFill>
                <a:latin typeface="Fraunces"/>
              </a:rPr>
              <a:t>Streaming, end to end</a:t>
            </a:r>
          </a:p>
          <a:p>
            <a:pPr algn="l">
              <a:lnSpc>
                <a:spcPct val="140000"/>
              </a:lnSpc>
              <a:spcBef>
                <a:spcPts val="400"/>
              </a:spcBef>
              <a:spcAft>
                <a:spcPts val="400"/>
              </a:spcAft>
            </a:pPr>
            <a:r>
              <a:rPr sz="1300" b="0" i="0">
                <a:solidFill>
                  <a:srgbClr val="1B1B1F"/>
                </a:solidFill>
                <a:latin typeface="Space Grotesk"/>
              </a:rPr>
              <a:t>Tokens leave the model and reach the browser one at a time — no waiting for the full story.</a:t>
            </a:r>
          </a:p>
        </p:txBody>
      </p:sp>
      <p:sp>
        <p:nvSpPr>
          <p:cNvPr id="15" name="TextBox 14"/>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Frontend architecture · the same UI you'll see live</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500" b="0" i="0">
                <a:solidFill>
                  <a:srgbClr val="585861"/>
                </a:solidFill>
                <a:latin typeface="Space Grotesk"/>
              </a:rPr>
              <a:t>Vanilla HTML/JS/CSS, served at / by the same FastAPI app. Zero build step.</a:t>
            </a:r>
          </a:p>
        </p:txBody>
      </p:sp>
      <p:sp>
        <p:nvSpPr>
          <p:cNvPr id="5" name="Rounded Rectangle 4"/>
          <p:cNvSpPr/>
          <p:nvPr/>
        </p:nvSpPr>
        <p:spPr>
          <a:xfrm>
            <a:off x="777240" y="2011680"/>
            <a:ext cx="2560320" cy="1097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THEME</a:t>
            </a:r>
          </a:p>
          <a:p>
            <a:pPr algn="l">
              <a:lnSpc>
                <a:spcPct val="140000"/>
              </a:lnSpc>
              <a:spcAft>
                <a:spcPts val="400"/>
              </a:spcAft>
            </a:pPr>
            <a:r>
              <a:rPr sz="1100" b="0" i="0">
                <a:solidFill>
                  <a:srgbClr val="585861"/>
                </a:solidFill>
                <a:latin typeface="Consolas"/>
              </a:rPr>
              <a:t>free text
(theme + style)</a:t>
            </a:r>
          </a:p>
        </p:txBody>
      </p:sp>
      <p:sp>
        <p:nvSpPr>
          <p:cNvPr id="6" name="Rounded Rectangle 5"/>
          <p:cNvSpPr/>
          <p:nvPr/>
        </p:nvSpPr>
        <p:spPr>
          <a:xfrm>
            <a:off x="3474720" y="2011680"/>
            <a:ext cx="2560320" cy="1097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AGE</a:t>
            </a:r>
          </a:p>
          <a:p>
            <a:pPr algn="l">
              <a:lnSpc>
                <a:spcPct val="140000"/>
              </a:lnSpc>
              <a:spcAft>
                <a:spcPts val="400"/>
              </a:spcAft>
            </a:pPr>
            <a:r>
              <a:rPr sz="1100" b="0" i="0">
                <a:solidFill>
                  <a:srgbClr val="585861"/>
                </a:solidFill>
                <a:latin typeface="Consolas"/>
              </a:rPr>
              <a:t>Age3-4 / 5-6 / 7-8
9-10 / 11-12</a:t>
            </a:r>
          </a:p>
        </p:txBody>
      </p:sp>
      <p:sp>
        <p:nvSpPr>
          <p:cNvPr id="7" name="Rounded Rectangle 6"/>
          <p:cNvSpPr/>
          <p:nvPr/>
        </p:nvSpPr>
        <p:spPr>
          <a:xfrm>
            <a:off x="6172200" y="2011680"/>
            <a:ext cx="2560320" cy="1097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MAX TOKENS</a:t>
            </a:r>
          </a:p>
          <a:p>
            <a:pPr algn="l">
              <a:lnSpc>
                <a:spcPct val="140000"/>
              </a:lnSpc>
              <a:spcAft>
                <a:spcPts val="400"/>
              </a:spcAft>
            </a:pPr>
            <a:r>
              <a:rPr sz="1100" b="0" i="0">
                <a:solidFill>
                  <a:srgbClr val="585861"/>
                </a:solidFill>
                <a:latin typeface="Consolas"/>
              </a:rPr>
              <a:t>50 – 800</a:t>
            </a:r>
          </a:p>
        </p:txBody>
      </p:sp>
      <p:sp>
        <p:nvSpPr>
          <p:cNvPr id="8" name="Rounded Rectangle 7"/>
          <p:cNvSpPr/>
          <p:nvPr/>
        </p:nvSpPr>
        <p:spPr>
          <a:xfrm>
            <a:off x="8869680" y="2011680"/>
            <a:ext cx="2560320" cy="109728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MODEL PICKER</a:t>
            </a:r>
          </a:p>
          <a:p>
            <a:pPr algn="l">
              <a:lnSpc>
                <a:spcPct val="140000"/>
              </a:lnSpc>
              <a:spcAft>
                <a:spcPts val="400"/>
              </a:spcAft>
            </a:pPr>
            <a:r>
              <a:rPr sz="1100" b="0" i="0">
                <a:solidFill>
                  <a:srgbClr val="1F5B4D"/>
                </a:solidFill>
                <a:latin typeface="Consolas"/>
              </a:rPr>
              <a:t>/models  →  /activate-model</a:t>
            </a:r>
          </a:p>
        </p:txBody>
      </p:sp>
      <p:sp>
        <p:nvSpPr>
          <p:cNvPr id="9" name="Down Arrow 8"/>
          <p:cNvSpPr/>
          <p:nvPr/>
        </p:nvSpPr>
        <p:spPr>
          <a:xfrm>
            <a:off x="5852160" y="3246120"/>
            <a:ext cx="365760" cy="457200"/>
          </a:xfrm>
          <a:prstGeom prst="down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3840480"/>
            <a:ext cx="10789920" cy="914400"/>
          </a:xfrm>
          <a:prstGeom prst="roundRect">
            <a:avLst>
              <a:gd name="adj" fmla="val 8000"/>
            </a:avLst>
          </a:prstGeom>
          <a:solidFill>
            <a:srgbClr val="1B1B1F"/>
          </a:solidFill>
          <a:ln>
            <a:noFill/>
          </a:ln>
        </p:spPr>
        <p:style>
          <a:lnRef idx="1">
            <a:schemeClr val="accent1"/>
          </a:lnRef>
          <a:fillRef idx="3">
            <a:schemeClr val="accent1"/>
          </a:fillRef>
          <a:effectRef idx="2">
            <a:schemeClr val="accent1"/>
          </a:effectRef>
          <a:fontRef idx="minor">
            <a:schemeClr val="lt1"/>
          </a:fontRef>
        </p:style>
        <p:txBody>
          <a:bodyPr rtlCol="0" anchor="ctr" lIns="228600" rIns="228600" tIns="0" bIns="0" wrap="square"/>
          <a:lstStyle/>
          <a:p>
            <a:pPr algn="l">
              <a:lnSpc>
                <a:spcPct val="140000"/>
              </a:lnSpc>
            </a:pPr>
            <a:r>
              <a:rPr sz="1400" b="0" i="0">
                <a:solidFill>
                  <a:srgbClr val="FFFFFF"/>
                </a:solidFill>
                <a:latin typeface="Consolas"/>
              </a:rPr>
              <a:t>fetch('/generate', { method: 'POST', body: {…}, signal: abortController.signal }).then(r =&gt; r.body.getReader())</a:t>
            </a:r>
          </a:p>
        </p:txBody>
      </p:sp>
      <p:sp>
        <p:nvSpPr>
          <p:cNvPr id="11" name="Down Arrow 10"/>
          <p:cNvSpPr/>
          <p:nvPr/>
        </p:nvSpPr>
        <p:spPr>
          <a:xfrm>
            <a:off x="5852160" y="4846320"/>
            <a:ext cx="365760" cy="365760"/>
          </a:xfrm>
          <a:prstGeom prst="down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5303520"/>
            <a:ext cx="10789920" cy="8229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400" b="0" i="0">
                <a:solidFill>
                  <a:srgbClr val="1B1B1F"/>
                </a:solidFill>
                <a:latin typeface="Space Grotesk"/>
              </a:rPr>
              <a:t>Story card · token-by-token render with a &lt;think&gt;…&lt;/think&gt; sidecar for the reasoning trace</a:t>
            </a:r>
          </a:p>
        </p:txBody>
      </p:sp>
      <p:sp>
        <p:nvSpPr>
          <p:cNvPr id="13" name="TextBox 12"/>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24</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Demo · Age 3-4</a:t>
            </a:r>
          </a:p>
        </p:txBody>
      </p:sp>
      <p:pic>
        <p:nvPicPr>
          <p:cNvPr id="4" name="Picture 3" descr="fig13_age34.png"/>
          <p:cNvPicPr>
            <a:picLocks noChangeAspect="1"/>
          </p:cNvPicPr>
          <p:nvPr/>
        </p:nvPicPr>
        <p:blipFill>
          <a:blip r:embed="rId3"/>
          <a:stretch>
            <a:fillRect/>
          </a:stretch>
        </p:blipFill>
        <p:spPr>
          <a:xfrm>
            <a:off x="777240" y="1417320"/>
            <a:ext cx="7557274" cy="4937760"/>
          </a:xfrm>
          <a:prstGeom prst="rect">
            <a:avLst/>
          </a:prstGeom>
        </p:spPr>
      </p:pic>
      <p:sp>
        <p:nvSpPr>
          <p:cNvPr id="5" name="TextBox 4"/>
          <p:cNvSpPr txBox="1"/>
          <p:nvPr/>
        </p:nvSpPr>
        <p:spPr>
          <a:xfrm>
            <a:off x="8595360" y="1417320"/>
            <a:ext cx="3017520" cy="365760"/>
          </a:xfrm>
          <a:prstGeom prst="rect">
            <a:avLst/>
          </a:prstGeom>
          <a:noFill/>
        </p:spPr>
        <p:txBody>
          <a:bodyPr wrap="square" lIns="0" rIns="0" tIns="0" bIns="0" anchor="t">
            <a:spAutoFit/>
          </a:bodyPr>
          <a:lstStyle/>
          <a:p>
            <a:pPr algn="l">
              <a:lnSpc>
                <a:spcPct val="120000"/>
              </a:lnSpc>
            </a:pPr>
            <a:r>
              <a:rPr sz="1100" b="1" i="0">
                <a:solidFill>
                  <a:srgbClr val="1F5B4D"/>
                </a:solidFill>
                <a:latin typeface="Space Grotesk"/>
              </a:rPr>
              <a:t>WHAT TO SEE</a:t>
            </a:r>
          </a:p>
        </p:txBody>
      </p:sp>
      <p:sp>
        <p:nvSpPr>
          <p:cNvPr id="6" name="Rounded Rectangle 5"/>
          <p:cNvSpPr/>
          <p:nvPr/>
        </p:nvSpPr>
        <p:spPr>
          <a:xfrm>
            <a:off x="8595360" y="1828800"/>
            <a:ext cx="3017520" cy="1828800"/>
          </a:xfrm>
          <a:prstGeom prst="roundRect">
            <a:avLst>
              <a:gd name="adj" fmla="val 8000"/>
            </a:avLst>
          </a:prstGeom>
          <a:solidFill>
            <a:srgbClr val="E98D5C"/>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20000"/>
              </a:lnSpc>
            </a:pPr>
            <a:r>
              <a:rPr sz="1600" b="1" i="0">
                <a:solidFill>
                  <a:srgbClr val="FFFFFF"/>
                </a:solidFill>
                <a:latin typeface="Fraunces"/>
              </a:rPr>
              <a:t>Same prompt, age-3-4 prefix</a:t>
            </a:r>
          </a:p>
          <a:p>
            <a:pPr algn="l">
              <a:lnSpc>
                <a:spcPct val="140000"/>
              </a:lnSpc>
              <a:spcBef>
                <a:spcPts val="400"/>
              </a:spcBef>
              <a:spcAft>
                <a:spcPts val="400"/>
              </a:spcAft>
            </a:pPr>
            <a:r>
              <a:rPr sz="1200" b="0" i="1">
                <a:solidFill>
                  <a:srgbClr val="FFFFFF"/>
                </a:solidFill>
                <a:latin typeface="Space Grotesk"/>
              </a:rPr>
              <a:t>Disobedient kid who doesn't want to study.</a:t>
            </a:r>
          </a:p>
        </p:txBody>
      </p:sp>
      <p:sp>
        <p:nvSpPr>
          <p:cNvPr id="7" name="Rounded Rectangle 6"/>
          <p:cNvSpPr/>
          <p:nvPr/>
        </p:nvSpPr>
        <p:spPr>
          <a:xfrm>
            <a:off x="8595360" y="3840480"/>
            <a:ext cx="3017520" cy="1828800"/>
          </a:xfrm>
          <a:prstGeom prst="roundRect">
            <a:avLst>
              <a:gd name="adj" fmla="val 8000"/>
            </a:avLst>
          </a:prstGeom>
          <a:solidFill>
            <a:srgbClr val="1F5B4D"/>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20000"/>
              </a:lnSpc>
            </a:pPr>
            <a:r>
              <a:rPr sz="1600" b="1" i="0">
                <a:solidFill>
                  <a:srgbClr val="FFFFFF"/>
                </a:solidFill>
                <a:latin typeface="Fraunces"/>
              </a:rPr>
              <a:t>Simple words, positive resolution</a:t>
            </a:r>
          </a:p>
          <a:p>
            <a:pPr algn="l">
              <a:lnSpc>
                <a:spcPct val="140000"/>
              </a:lnSpc>
              <a:spcBef>
                <a:spcPts val="400"/>
              </a:spcBef>
              <a:spcAft>
                <a:spcPts val="400"/>
              </a:spcAft>
            </a:pPr>
            <a:r>
              <a:rPr sz="1200" b="0" i="1">
                <a:solidFill>
                  <a:srgbClr val="FFFFFF"/>
                </a:solidFill>
                <a:latin typeface="Space Grotesk"/>
              </a:rPr>
              <a:t>Short sentences · happy ending — Timmy learns and gets an award.</a:t>
            </a:r>
          </a:p>
        </p:txBody>
      </p:sp>
      <p:sp>
        <p:nvSpPr>
          <p:cNvPr id="8" name="TextBox 7"/>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25</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Demo · Age 11-12 · same prompt, different register</a:t>
            </a:r>
          </a:p>
        </p:txBody>
      </p:sp>
      <p:pic>
        <p:nvPicPr>
          <p:cNvPr id="4" name="Picture 3" descr="fig15_age1112.png"/>
          <p:cNvPicPr>
            <a:picLocks noChangeAspect="1"/>
          </p:cNvPicPr>
          <p:nvPr/>
        </p:nvPicPr>
        <p:blipFill>
          <a:blip r:embed="rId3"/>
          <a:stretch>
            <a:fillRect/>
          </a:stretch>
        </p:blipFill>
        <p:spPr>
          <a:xfrm>
            <a:off x="777240" y="1417320"/>
            <a:ext cx="6735377" cy="4937760"/>
          </a:xfrm>
          <a:prstGeom prst="rect">
            <a:avLst/>
          </a:prstGeom>
        </p:spPr>
      </p:pic>
      <p:sp>
        <p:nvSpPr>
          <p:cNvPr id="5" name="TextBox 4"/>
          <p:cNvSpPr txBox="1"/>
          <p:nvPr/>
        </p:nvSpPr>
        <p:spPr>
          <a:xfrm>
            <a:off x="8595360" y="1417320"/>
            <a:ext cx="3017520" cy="365760"/>
          </a:xfrm>
          <a:prstGeom prst="rect">
            <a:avLst/>
          </a:prstGeom>
          <a:noFill/>
        </p:spPr>
        <p:txBody>
          <a:bodyPr wrap="square" lIns="0" rIns="0" tIns="0" bIns="0" anchor="t">
            <a:spAutoFit/>
          </a:bodyPr>
          <a:lstStyle/>
          <a:p>
            <a:pPr algn="l">
              <a:lnSpc>
                <a:spcPct val="120000"/>
              </a:lnSpc>
            </a:pPr>
            <a:r>
              <a:rPr sz="1100" b="1" i="0">
                <a:solidFill>
                  <a:srgbClr val="1F5B4D"/>
                </a:solidFill>
                <a:latin typeface="Space Grotesk"/>
              </a:rPr>
              <a:t>WHAT TO SEE</a:t>
            </a:r>
          </a:p>
        </p:txBody>
      </p:sp>
      <p:sp>
        <p:nvSpPr>
          <p:cNvPr id="6" name="Rounded Rectangle 5"/>
          <p:cNvSpPr/>
          <p:nvPr/>
        </p:nvSpPr>
        <p:spPr>
          <a:xfrm>
            <a:off x="8595360" y="1828800"/>
            <a:ext cx="3017520" cy="1280160"/>
          </a:xfrm>
          <a:prstGeom prst="roundRect">
            <a:avLst>
              <a:gd name="adj" fmla="val 8000"/>
            </a:avLst>
          </a:prstGeom>
          <a:solidFill>
            <a:srgbClr val="E98D5C"/>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20000"/>
              </a:lnSpc>
            </a:pPr>
            <a:r>
              <a:rPr sz="1400" b="1" i="0">
                <a:solidFill>
                  <a:srgbClr val="FFFFFF"/>
                </a:solidFill>
                <a:latin typeface="Fraunces"/>
              </a:rPr>
              <a:t>Same prompt, age-11-12 prefix</a:t>
            </a:r>
          </a:p>
          <a:p>
            <a:pPr algn="l">
              <a:lnSpc>
                <a:spcPct val="135000"/>
              </a:lnSpc>
              <a:spcBef>
                <a:spcPts val="200"/>
              </a:spcBef>
              <a:spcAft>
                <a:spcPts val="400"/>
              </a:spcAft>
            </a:pPr>
            <a:r>
              <a:rPr sz="1100" b="0" i="1">
                <a:solidFill>
                  <a:srgbClr val="FFFFFF"/>
                </a:solidFill>
                <a:latin typeface="Space Grotesk"/>
              </a:rPr>
              <a:t>Only the age token differs.</a:t>
            </a:r>
          </a:p>
        </p:txBody>
      </p:sp>
      <p:sp>
        <p:nvSpPr>
          <p:cNvPr id="7" name="Rounded Rectangle 6"/>
          <p:cNvSpPr/>
          <p:nvPr/>
        </p:nvSpPr>
        <p:spPr>
          <a:xfrm>
            <a:off x="8595360" y="3200400"/>
            <a:ext cx="3017520" cy="1280160"/>
          </a:xfrm>
          <a:prstGeom prst="roundRect">
            <a:avLst>
              <a:gd name="adj" fmla="val 8000"/>
            </a:avLst>
          </a:prstGeom>
          <a:solidFill>
            <a:srgbClr val="1F5B4D"/>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20000"/>
              </a:lnSpc>
            </a:pPr>
            <a:r>
              <a:rPr sz="1400" b="1" i="0">
                <a:solidFill>
                  <a:srgbClr val="FFFFFF"/>
                </a:solidFill>
                <a:latin typeface="Fraunces"/>
              </a:rPr>
              <a:t>Richer vocabulary, longer sentences</a:t>
            </a:r>
          </a:p>
          <a:p>
            <a:pPr algn="l">
              <a:lnSpc>
                <a:spcPct val="135000"/>
              </a:lnSpc>
              <a:spcBef>
                <a:spcPts val="200"/>
              </a:spcBef>
              <a:spcAft>
                <a:spcPts val="400"/>
              </a:spcAft>
            </a:pPr>
            <a:r>
              <a:rPr sz="1100" b="0" i="1">
                <a:solidFill>
                  <a:srgbClr val="FFFFFF"/>
                </a:solidFill>
                <a:latin typeface="Space Grotesk"/>
              </a:rPr>
              <a:t>Sixteen-year-old Leo · midterm · plummeted.</a:t>
            </a:r>
          </a:p>
        </p:txBody>
      </p:sp>
      <p:sp>
        <p:nvSpPr>
          <p:cNvPr id="8" name="Rounded Rectangle 7"/>
          <p:cNvSpPr/>
          <p:nvPr/>
        </p:nvSpPr>
        <p:spPr>
          <a:xfrm>
            <a:off x="8595360" y="4572000"/>
            <a:ext cx="3017520" cy="1280160"/>
          </a:xfrm>
          <a:prstGeom prst="roundRect">
            <a:avLst>
              <a:gd name="adj" fmla="val 8000"/>
            </a:avLst>
          </a:prstGeom>
          <a:solidFill>
            <a:srgbClr val="1B1B1F"/>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20000"/>
              </a:lnSpc>
            </a:pPr>
            <a:r>
              <a:rPr sz="1400" b="1" i="0">
                <a:solidFill>
                  <a:srgbClr val="FFFFFF"/>
                </a:solidFill>
                <a:latin typeface="Fraunces"/>
              </a:rPr>
              <a:t>Realistic, melancholic tone</a:t>
            </a:r>
          </a:p>
          <a:p>
            <a:pPr algn="l">
              <a:lnSpc>
                <a:spcPct val="135000"/>
              </a:lnSpc>
              <a:spcBef>
                <a:spcPts val="200"/>
              </a:spcBef>
              <a:spcAft>
                <a:spcPts val="400"/>
              </a:spcAft>
            </a:pPr>
            <a:r>
              <a:rPr sz="1100" b="0" i="1">
                <a:solidFill>
                  <a:srgbClr val="FFFFFF"/>
                </a:solidFill>
                <a:latin typeface="Space Grotesk"/>
              </a:rPr>
              <a:t>No tidy moral — consequences pile up.</a:t>
            </a:r>
          </a:p>
        </p:txBody>
      </p:sp>
      <p:sp>
        <p:nvSpPr>
          <p:cNvPr id="9" name="TextBox 8"/>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26</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What you'll see in the live demo</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Three things to watch for in the next minute.</a:t>
            </a:r>
          </a:p>
        </p:txBody>
      </p:sp>
      <p:sp>
        <p:nvSpPr>
          <p:cNvPr id="5" name="Rounded Rectangle 4"/>
          <p:cNvSpPr/>
          <p:nvPr/>
        </p:nvSpPr>
        <p:spPr>
          <a:xfrm>
            <a:off x="777240" y="1920240"/>
            <a:ext cx="3520440" cy="39319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8000"/>
              </a:spcBef>
              <a:spcAft>
                <a:spcPts val="800"/>
              </a:spcAft>
            </a:pPr>
            <a:r>
              <a:rPr sz="1800" b="1" i="0">
                <a:solidFill>
                  <a:srgbClr val="1B1B1F"/>
                </a:solidFill>
                <a:latin typeface="Fraunces"/>
              </a:rPr>
              <a:t>Pick an age band, type a theme</a:t>
            </a:r>
          </a:p>
          <a:p>
            <a:pPr algn="l">
              <a:lnSpc>
                <a:spcPct val="145000"/>
              </a:lnSpc>
              <a:spcAft>
                <a:spcPts val="400"/>
              </a:spcAft>
            </a:pPr>
            <a:r>
              <a:rPr sz="1300" b="0" i="0">
                <a:solidFill>
                  <a:srgbClr val="585861"/>
                </a:solidFill>
                <a:latin typeface="Space Grotesk"/>
              </a:rPr>
              <a:t>Same model, same weights, different prefix — that is the whole point.</a:t>
            </a:r>
          </a:p>
        </p:txBody>
      </p:sp>
      <p:sp>
        <p:nvSpPr>
          <p:cNvPr id="6" name="TextBox 5"/>
          <p:cNvSpPr txBox="1"/>
          <p:nvPr/>
        </p:nvSpPr>
        <p:spPr>
          <a:xfrm>
            <a:off x="1005840" y="2148840"/>
            <a:ext cx="1828800" cy="109728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01</a:t>
            </a:r>
          </a:p>
        </p:txBody>
      </p:sp>
      <p:sp>
        <p:nvSpPr>
          <p:cNvPr id="7" name="Rounded Rectangle 6"/>
          <p:cNvSpPr/>
          <p:nvPr/>
        </p:nvSpPr>
        <p:spPr>
          <a:xfrm>
            <a:off x="4462272" y="1920240"/>
            <a:ext cx="3520440" cy="39319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8000"/>
              </a:spcBef>
              <a:spcAft>
                <a:spcPts val="800"/>
              </a:spcAft>
            </a:pPr>
            <a:r>
              <a:rPr sz="1800" b="1" i="0">
                <a:solidFill>
                  <a:srgbClr val="1B1B1F"/>
                </a:solidFill>
                <a:latin typeface="Fraunces"/>
              </a:rPr>
              <a:t>Tokens stream in real time</a:t>
            </a:r>
          </a:p>
          <a:p>
            <a:pPr algn="l">
              <a:lnSpc>
                <a:spcPct val="145000"/>
              </a:lnSpc>
              <a:spcAft>
                <a:spcPts val="400"/>
              </a:spcAft>
            </a:pPr>
            <a:r>
              <a:rPr sz="1300" b="0" i="0">
                <a:solidFill>
                  <a:srgbClr val="585861"/>
                </a:solidFill>
                <a:latin typeface="Space Grotesk"/>
              </a:rPr>
              <a:t>text/plain ReadableStream from FastAPI to the browser. No wait for the full story.</a:t>
            </a:r>
          </a:p>
        </p:txBody>
      </p:sp>
      <p:sp>
        <p:nvSpPr>
          <p:cNvPr id="8" name="TextBox 7"/>
          <p:cNvSpPr txBox="1"/>
          <p:nvPr/>
        </p:nvSpPr>
        <p:spPr>
          <a:xfrm>
            <a:off x="4690872" y="2148840"/>
            <a:ext cx="1828800" cy="109728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02</a:t>
            </a:r>
          </a:p>
        </p:txBody>
      </p:sp>
      <p:sp>
        <p:nvSpPr>
          <p:cNvPr id="9" name="Rounded Rectangle 8"/>
          <p:cNvSpPr/>
          <p:nvPr/>
        </p:nvSpPr>
        <p:spPr>
          <a:xfrm>
            <a:off x="8147304" y="1920240"/>
            <a:ext cx="3520440" cy="39319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8000"/>
              </a:spcBef>
              <a:spcAft>
                <a:spcPts val="800"/>
              </a:spcAft>
            </a:pPr>
            <a:r>
              <a:rPr sz="1800" b="1" i="0">
                <a:solidFill>
                  <a:srgbClr val="1B1B1F"/>
                </a:solidFill>
                <a:latin typeface="Fraunces"/>
              </a:rPr>
              <a:t>Switch to GPT-2 XL zero-shot</a:t>
            </a:r>
          </a:p>
          <a:p>
            <a:pPr algn="l">
              <a:lnSpc>
                <a:spcPct val="145000"/>
              </a:lnSpc>
              <a:spcAft>
                <a:spcPts val="400"/>
              </a:spcAft>
            </a:pPr>
            <a:r>
              <a:rPr sz="1300" b="0" i="0">
                <a:solidFill>
                  <a:srgbClr val="585861"/>
                </a:solidFill>
                <a:latin typeface="Space Grotesk"/>
              </a:rPr>
              <a:t>Feel the difference: zero-shot ignores the age prefix and drifts into adult register.</a:t>
            </a:r>
          </a:p>
        </p:txBody>
      </p:sp>
      <p:sp>
        <p:nvSpPr>
          <p:cNvPr id="10" name="TextBox 9"/>
          <p:cNvSpPr txBox="1"/>
          <p:nvPr/>
        </p:nvSpPr>
        <p:spPr>
          <a:xfrm>
            <a:off x="8375904" y="2148840"/>
            <a:ext cx="1828800" cy="109728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03</a:t>
            </a:r>
          </a:p>
        </p:txBody>
      </p:sp>
      <p:sp>
        <p:nvSpPr>
          <p:cNvPr id="11" name="Rounded Rectangle 10"/>
          <p:cNvSpPr/>
          <p:nvPr/>
        </p:nvSpPr>
        <p:spPr>
          <a:xfrm>
            <a:off x="2743200" y="5989320"/>
            <a:ext cx="6720840" cy="502920"/>
          </a:xfrm>
          <a:prstGeom prst="roundRect">
            <a:avLst>
              <a:gd name="adj" fmla="val 8000"/>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lIns="164592" rIns="164592" tIns="0" bIns="0" wrap="square"/>
          <a:lstStyle/>
          <a:p>
            <a:pPr algn="ctr">
              <a:lnSpc>
                <a:spcPct val="115000"/>
              </a:lnSpc>
            </a:pPr>
            <a:r>
              <a:rPr sz="1600" b="1" i="0">
                <a:solidFill>
                  <a:srgbClr val="FFFFFF"/>
                </a:solidFill>
                <a:latin typeface="Fraunces"/>
              </a:rPr>
              <a:t>▶  Switch to live demo  ◀</a:t>
            </a:r>
          </a:p>
        </p:txBody>
      </p:sp>
      <p:sp>
        <p:nvSpPr>
          <p:cNvPr id="12" name="TextBox 11"/>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27</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ero.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640080"/>
            <a:ext cx="10698480" cy="365760"/>
          </a:xfrm>
          <a:prstGeom prst="rect">
            <a:avLst/>
          </a:prstGeom>
          <a:noFill/>
        </p:spPr>
        <p:txBody>
          <a:bodyPr wrap="square" lIns="0" rIns="0" tIns="0" bIns="0" anchor="t">
            <a:spAutoFit/>
          </a:bodyPr>
          <a:lstStyle/>
          <a:p>
            <a:pPr algn="l">
              <a:lnSpc>
                <a:spcPct val="120000"/>
              </a:lnSpc>
            </a:pPr>
            <a:r>
              <a:rPr sz="1200" b="1" i="0">
                <a:solidFill>
                  <a:srgbClr val="1F5B4D"/>
                </a:solidFill>
                <a:latin typeface="Space Grotesk"/>
              </a:rPr>
              <a:t>ACT 5  ·  CONCLUSION</a:t>
            </a:r>
          </a:p>
        </p:txBody>
      </p:sp>
      <p:sp>
        <p:nvSpPr>
          <p:cNvPr id="4" name="TextBox 3"/>
          <p:cNvSpPr txBox="1"/>
          <p:nvPr/>
        </p:nvSpPr>
        <p:spPr>
          <a:xfrm>
            <a:off x="777240" y="1005840"/>
            <a:ext cx="10698480" cy="2194560"/>
          </a:xfrm>
          <a:prstGeom prst="rect">
            <a:avLst/>
          </a:prstGeom>
          <a:noFill/>
        </p:spPr>
        <p:txBody>
          <a:bodyPr wrap="square" lIns="0" rIns="0" tIns="0" bIns="0" anchor="t">
            <a:spAutoFit/>
          </a:bodyPr>
          <a:lstStyle/>
          <a:p>
            <a:pPr algn="l">
              <a:lnSpc>
                <a:spcPct val="115000"/>
              </a:lnSpc>
            </a:pPr>
            <a:r>
              <a:rPr sz="3600" b="1" i="0">
                <a:solidFill>
                  <a:srgbClr val="1B1B1F"/>
                </a:solidFill>
                <a:latin typeface="Fraunces"/>
              </a:rPr>
              <a:t>A 2.3-billion-parameter LLM,
shrunk to 3.42 GB, that still writes for kids.</a:t>
            </a:r>
          </a:p>
        </p:txBody>
      </p:sp>
      <p:sp>
        <p:nvSpPr>
          <p:cNvPr id="5" name="Rectangle 4"/>
          <p:cNvSpPr/>
          <p:nvPr/>
        </p:nvSpPr>
        <p:spPr>
          <a:xfrm>
            <a:off x="822960" y="3154680"/>
            <a:ext cx="731520" cy="54864"/>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3154680"/>
            <a:ext cx="731520" cy="54864"/>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383280"/>
            <a:ext cx="10698480" cy="777240"/>
          </a:xfrm>
          <a:prstGeom prst="rect">
            <a:avLst/>
          </a:prstGeom>
          <a:noFill/>
        </p:spPr>
        <p:txBody>
          <a:bodyPr wrap="square" lIns="0" rIns="0" tIns="0" bIns="0" anchor="t">
            <a:spAutoFit/>
          </a:bodyPr>
          <a:lstStyle/>
          <a:p>
            <a:pPr algn="l">
              <a:lnSpc>
                <a:spcPct val="140000"/>
              </a:lnSpc>
            </a:pPr>
            <a:r>
              <a:rPr sz="1800" b="0" i="0">
                <a:solidFill>
                  <a:srgbClr val="585861"/>
                </a:solidFill>
                <a:latin typeface="Space Grotesk"/>
              </a:rPr>
              <a:t>An age-conditioned children's-story generator that runs on consumer CPU and ships through a streaming web UI.</a:t>
            </a:r>
          </a:p>
        </p:txBody>
      </p:sp>
      <p:sp>
        <p:nvSpPr>
          <p:cNvPr id="8" name="Rounded Rectangle 7"/>
          <p:cNvSpPr/>
          <p:nvPr/>
        </p:nvSpPr>
        <p:spPr>
          <a:xfrm>
            <a:off x="7772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1800" b="1" i="0">
                <a:solidFill>
                  <a:srgbClr val="1F5B4D"/>
                </a:solidFill>
                <a:latin typeface="Fraunces"/>
              </a:rPr>
              <a:t>QLoRA on 2 × T4</a:t>
            </a:r>
          </a:p>
          <a:p>
            <a:pPr algn="ctr">
              <a:lnSpc>
                <a:spcPct val="140000"/>
              </a:lnSpc>
              <a:spcBef>
                <a:spcPts val="400"/>
              </a:spcBef>
              <a:spcAft>
                <a:spcPts val="400"/>
              </a:spcAft>
            </a:pPr>
            <a:r>
              <a:rPr sz="1200" b="0" i="0">
                <a:solidFill>
                  <a:srgbClr val="585861"/>
                </a:solidFill>
                <a:latin typeface="Space Grotesk"/>
              </a:rPr>
              <a:t>trained on free-tier hardware</a:t>
            </a:r>
          </a:p>
        </p:txBody>
      </p:sp>
      <p:sp>
        <p:nvSpPr>
          <p:cNvPr id="9" name="Rounded Rectangle 8"/>
          <p:cNvSpPr/>
          <p:nvPr/>
        </p:nvSpPr>
        <p:spPr>
          <a:xfrm>
            <a:off x="44348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1800" b="1" i="0">
                <a:solidFill>
                  <a:srgbClr val="1F5B4D"/>
                </a:solidFill>
                <a:latin typeface="Fraunces"/>
              </a:rPr>
              <a:t>3.42 GB GGUF</a:t>
            </a:r>
          </a:p>
          <a:p>
            <a:pPr algn="ctr">
              <a:lnSpc>
                <a:spcPct val="140000"/>
              </a:lnSpc>
              <a:spcBef>
                <a:spcPts val="400"/>
              </a:spcBef>
              <a:spcAft>
                <a:spcPts val="400"/>
              </a:spcAft>
            </a:pPr>
            <a:r>
              <a:rPr sz="1200" b="0" i="0">
                <a:solidFill>
                  <a:srgbClr val="585861"/>
                </a:solidFill>
                <a:latin typeface="Space Grotesk"/>
              </a:rPr>
              <a:t>Q4_K_M, CPU-runnable</a:t>
            </a:r>
          </a:p>
        </p:txBody>
      </p:sp>
      <p:sp>
        <p:nvSpPr>
          <p:cNvPr id="10" name="Rounded Rectangle 9"/>
          <p:cNvSpPr/>
          <p:nvPr/>
        </p:nvSpPr>
        <p:spPr>
          <a:xfrm>
            <a:off x="80924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1800" b="1" i="0">
                <a:solidFill>
                  <a:srgbClr val="1F5B4D"/>
                </a:solidFill>
                <a:latin typeface="Fraunces"/>
              </a:rPr>
              <a:t>Streaming tokens</a:t>
            </a:r>
          </a:p>
          <a:p>
            <a:pPr algn="ctr">
              <a:lnSpc>
                <a:spcPct val="140000"/>
              </a:lnSpc>
              <a:spcBef>
                <a:spcPts val="400"/>
              </a:spcBef>
              <a:spcAft>
                <a:spcPts val="400"/>
              </a:spcAft>
            </a:pPr>
            <a:r>
              <a:rPr sz="1200" b="0" i="0">
                <a:solidFill>
                  <a:srgbClr val="585861"/>
                </a:solidFill>
                <a:latin typeface="Space Grotesk"/>
              </a:rPr>
              <a:t>real-time over text/plain</a:t>
            </a:r>
          </a:p>
        </p:txBody>
      </p:sp>
      <p:sp>
        <p:nvSpPr>
          <p:cNvPr id="11" name="TextBox 10"/>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Limitations · what we'd flag to a reviewer</a:t>
            </a:r>
          </a:p>
        </p:txBody>
      </p:sp>
      <p:sp>
        <p:nvSpPr>
          <p:cNvPr id="4" name="Rounded Rectangle 3"/>
          <p:cNvSpPr/>
          <p:nvPr/>
        </p:nvSpPr>
        <p:spPr>
          <a:xfrm>
            <a:off x="777240" y="1554480"/>
            <a:ext cx="3611880" cy="45720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E98D5C"/>
                </a:solidFill>
                <a:latin typeface="Space Grotesk"/>
              </a:rPr>
              <a:t>256 K vocabulary</a:t>
            </a:r>
          </a:p>
          <a:p>
            <a:pPr algn="l">
              <a:lnSpc>
                <a:spcPct val="110000"/>
              </a:lnSpc>
              <a:spcBef>
                <a:spcPts val="400"/>
              </a:spcBef>
              <a:spcAft>
                <a:spcPts val="1200"/>
              </a:spcAft>
            </a:pPr>
            <a:r>
              <a:rPr sz="2200" b="1" i="0">
                <a:solidFill>
                  <a:srgbClr val="1B1B1F"/>
                </a:solidFill>
                <a:latin typeface="Fraunces"/>
              </a:rPr>
              <a:t>Memory overhead</a:t>
            </a:r>
          </a:p>
          <a:p>
            <a:pPr algn="l">
              <a:lnSpc>
                <a:spcPct val="150000"/>
              </a:lnSpc>
              <a:spcAft>
                <a:spcPts val="400"/>
              </a:spcAft>
            </a:pPr>
            <a:r>
              <a:rPr sz="1400" b="0" i="0">
                <a:solidFill>
                  <a:srgbClr val="585861"/>
                </a:solidFill>
                <a:latin typeface="Space Grotesk"/>
              </a:rPr>
              <a:t>Cross-entropy on a 256 K vocab is memory-hungry — forced batch = 1 and disabled in-loop eval.</a:t>
            </a:r>
          </a:p>
        </p:txBody>
      </p:sp>
      <p:sp>
        <p:nvSpPr>
          <p:cNvPr id="5" name="Rectangle 4"/>
          <p:cNvSpPr/>
          <p:nvPr/>
        </p:nvSpPr>
        <p:spPr>
          <a:xfrm>
            <a:off x="777240" y="1554480"/>
            <a:ext cx="3611880" cy="164592"/>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0" y="1554480"/>
            <a:ext cx="3611880" cy="45720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E98D5C"/>
                </a:solidFill>
                <a:latin typeface="Space Grotesk"/>
              </a:rPr>
              <a:t>Domain narrowing</a:t>
            </a:r>
          </a:p>
          <a:p>
            <a:pPr algn="l">
              <a:lnSpc>
                <a:spcPct val="110000"/>
              </a:lnSpc>
              <a:spcBef>
                <a:spcPts val="400"/>
              </a:spcBef>
              <a:spcAft>
                <a:spcPts val="1200"/>
              </a:spcAft>
            </a:pPr>
            <a:r>
              <a:rPr sz="2200" b="1" i="0">
                <a:solidFill>
                  <a:srgbClr val="1B1B1F"/>
                </a:solidFill>
                <a:latin typeface="Fraunces"/>
              </a:rPr>
              <a:t>Catastrophic forgetting</a:t>
            </a:r>
          </a:p>
          <a:p>
            <a:pPr algn="l">
              <a:lnSpc>
                <a:spcPct val="150000"/>
              </a:lnSpc>
              <a:spcAft>
                <a:spcPts val="400"/>
              </a:spcAft>
            </a:pPr>
            <a:r>
              <a:rPr sz="1400" b="0" i="0">
                <a:solidFill>
                  <a:srgbClr val="585861"/>
                </a:solidFill>
                <a:latin typeface="Space Grotesk"/>
              </a:rPr>
              <a:t>Fine-tuning purely on children's stories may degrade general instruction-following outside this domain.</a:t>
            </a:r>
          </a:p>
        </p:txBody>
      </p:sp>
      <p:sp>
        <p:nvSpPr>
          <p:cNvPr id="7" name="Rectangle 6"/>
          <p:cNvSpPr/>
          <p:nvPr/>
        </p:nvSpPr>
        <p:spPr>
          <a:xfrm>
            <a:off x="4572000" y="1554480"/>
            <a:ext cx="3611880" cy="164592"/>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366760" y="1554480"/>
            <a:ext cx="3611880" cy="45720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E98D5C"/>
                </a:solidFill>
                <a:latin typeface="Space Grotesk"/>
              </a:rPr>
              <a:t>Plot hallucinations</a:t>
            </a:r>
          </a:p>
          <a:p>
            <a:pPr algn="l">
              <a:lnSpc>
                <a:spcPct val="110000"/>
              </a:lnSpc>
              <a:spcBef>
                <a:spcPts val="400"/>
              </a:spcBef>
              <a:spcAft>
                <a:spcPts val="1200"/>
              </a:spcAft>
            </a:pPr>
            <a:r>
              <a:rPr sz="2200" b="1" i="0">
                <a:solidFill>
                  <a:srgbClr val="1B1B1F"/>
                </a:solidFill>
                <a:latin typeface="Fraunces"/>
              </a:rPr>
              <a:t>No grounding</a:t>
            </a:r>
          </a:p>
          <a:p>
            <a:pPr algn="l">
              <a:lnSpc>
                <a:spcPct val="150000"/>
              </a:lnSpc>
              <a:spcAft>
                <a:spcPts val="400"/>
              </a:spcAft>
            </a:pPr>
            <a:r>
              <a:rPr sz="1400" b="0" i="0">
                <a:solidFill>
                  <a:srgbClr val="585861"/>
                </a:solidFill>
                <a:latin typeface="Space Grotesk"/>
              </a:rPr>
              <a:t>Without retrieval or factual constraints, the model occasionally invents details — fine for fiction, risky for education.</a:t>
            </a:r>
          </a:p>
        </p:txBody>
      </p:sp>
      <p:sp>
        <p:nvSpPr>
          <p:cNvPr id="9" name="Rectangle 8"/>
          <p:cNvSpPr/>
          <p:nvPr/>
        </p:nvSpPr>
        <p:spPr>
          <a:xfrm>
            <a:off x="8366760" y="1554480"/>
            <a:ext cx="3611880" cy="164592"/>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29</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Future work</a:t>
            </a:r>
          </a:p>
        </p:txBody>
      </p:sp>
      <p:sp>
        <p:nvSpPr>
          <p:cNvPr id="4" name="Rounded Rectangle 3"/>
          <p:cNvSpPr/>
          <p:nvPr/>
        </p:nvSpPr>
        <p:spPr>
          <a:xfrm>
            <a:off x="777240" y="1554480"/>
            <a:ext cx="5349240" cy="21031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0000"/>
              </a:lnSpc>
              <a:spcBef>
                <a:spcPts val="4200"/>
              </a:spcBef>
              <a:spcAft>
                <a:spcPts val="800"/>
              </a:spcAft>
            </a:pPr>
            <a:r>
              <a:rPr sz="2000" b="1" i="0">
                <a:solidFill>
                  <a:srgbClr val="1B1B1F"/>
                </a:solidFill>
                <a:latin typeface="Fraunces"/>
              </a:rPr>
              <a:t>RAG grounding</a:t>
            </a:r>
          </a:p>
          <a:p>
            <a:pPr algn="l">
              <a:lnSpc>
                <a:spcPct val="150000"/>
              </a:lnSpc>
              <a:spcAft>
                <a:spcPts val="400"/>
              </a:spcAft>
            </a:pPr>
            <a:r>
              <a:rPr sz="1300" b="0" i="0">
                <a:solidFill>
                  <a:srgbClr val="585861"/>
                </a:solidFill>
                <a:latin typeface="Space Grotesk"/>
              </a:rPr>
              <a:t>Tie generated stories to a curated corpus of facts so the model stops inventing.</a:t>
            </a:r>
          </a:p>
        </p:txBody>
      </p:sp>
      <p:sp>
        <p:nvSpPr>
          <p:cNvPr id="5" name="TextBox 4"/>
          <p:cNvSpPr txBox="1"/>
          <p:nvPr/>
        </p:nvSpPr>
        <p:spPr>
          <a:xfrm>
            <a:off x="1005840" y="1783080"/>
            <a:ext cx="548640" cy="548640"/>
          </a:xfrm>
          <a:prstGeom prst="rect">
            <a:avLst/>
          </a:prstGeom>
          <a:noFill/>
        </p:spPr>
        <p:txBody>
          <a:bodyPr wrap="square" lIns="0" rIns="0" tIns="0" bIns="0" anchor="t">
            <a:spAutoFit/>
          </a:bodyPr>
          <a:lstStyle/>
          <a:p>
            <a:pPr algn="l">
              <a:lnSpc>
                <a:spcPct val="100000"/>
              </a:lnSpc>
            </a:pPr>
            <a:r>
              <a:rPr sz="2200" b="1" i="0">
                <a:solidFill>
                  <a:srgbClr val="1F5B4D"/>
                </a:solidFill>
                <a:latin typeface="Fraunces"/>
              </a:rPr>
              <a:t>01</a:t>
            </a:r>
          </a:p>
        </p:txBody>
      </p:sp>
      <p:sp>
        <p:nvSpPr>
          <p:cNvPr id="6" name="Rounded Rectangle 5"/>
          <p:cNvSpPr/>
          <p:nvPr/>
        </p:nvSpPr>
        <p:spPr>
          <a:xfrm>
            <a:off x="6291072" y="1554480"/>
            <a:ext cx="5349240" cy="21031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0000"/>
              </a:lnSpc>
              <a:spcBef>
                <a:spcPts val="4200"/>
              </a:spcBef>
              <a:spcAft>
                <a:spcPts val="800"/>
              </a:spcAft>
            </a:pPr>
            <a:r>
              <a:rPr sz="2000" b="1" i="0">
                <a:solidFill>
                  <a:srgbClr val="1B1B1F"/>
                </a:solidFill>
                <a:latin typeface="Fraunces"/>
              </a:rPr>
              <a:t>Multi-epoch training</a:t>
            </a:r>
          </a:p>
          <a:p>
            <a:pPr algn="l">
              <a:lnSpc>
                <a:spcPct val="150000"/>
              </a:lnSpc>
              <a:spcAft>
                <a:spcPts val="400"/>
              </a:spcAft>
            </a:pPr>
            <a:r>
              <a:rPr sz="1300" b="0" i="0">
                <a:solidFill>
                  <a:srgbClr val="585861"/>
                </a:solidFill>
                <a:latin typeface="Space Grotesk"/>
              </a:rPr>
              <a:t>Once memory tooling improves, train multiple epochs with an active eval split.</a:t>
            </a:r>
          </a:p>
        </p:txBody>
      </p:sp>
      <p:sp>
        <p:nvSpPr>
          <p:cNvPr id="7" name="TextBox 6"/>
          <p:cNvSpPr txBox="1"/>
          <p:nvPr/>
        </p:nvSpPr>
        <p:spPr>
          <a:xfrm>
            <a:off x="6519672" y="1783080"/>
            <a:ext cx="548640" cy="548640"/>
          </a:xfrm>
          <a:prstGeom prst="rect">
            <a:avLst/>
          </a:prstGeom>
          <a:noFill/>
        </p:spPr>
        <p:txBody>
          <a:bodyPr wrap="square" lIns="0" rIns="0" tIns="0" bIns="0" anchor="t">
            <a:spAutoFit/>
          </a:bodyPr>
          <a:lstStyle/>
          <a:p>
            <a:pPr algn="l">
              <a:lnSpc>
                <a:spcPct val="100000"/>
              </a:lnSpc>
            </a:pPr>
            <a:r>
              <a:rPr sz="2200" b="1" i="0">
                <a:solidFill>
                  <a:srgbClr val="1F5B4D"/>
                </a:solidFill>
                <a:latin typeface="Fraunces"/>
              </a:rPr>
              <a:t>02</a:t>
            </a:r>
          </a:p>
        </p:txBody>
      </p:sp>
      <p:sp>
        <p:nvSpPr>
          <p:cNvPr id="8" name="Rounded Rectangle 7"/>
          <p:cNvSpPr/>
          <p:nvPr/>
        </p:nvSpPr>
        <p:spPr>
          <a:xfrm>
            <a:off x="777240" y="3840480"/>
            <a:ext cx="5349240" cy="21031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0000"/>
              </a:lnSpc>
              <a:spcBef>
                <a:spcPts val="4200"/>
              </a:spcBef>
              <a:spcAft>
                <a:spcPts val="800"/>
              </a:spcAft>
            </a:pPr>
            <a:r>
              <a:rPr sz="2000" b="1" i="0">
                <a:solidFill>
                  <a:srgbClr val="1B1B1F"/>
                </a:solidFill>
                <a:latin typeface="Fraunces"/>
              </a:rPr>
              <a:t>Multilingual stories</a:t>
            </a:r>
          </a:p>
          <a:p>
            <a:pPr algn="l">
              <a:lnSpc>
                <a:spcPct val="150000"/>
              </a:lnSpc>
              <a:spcAft>
                <a:spcPts val="400"/>
              </a:spcAft>
            </a:pPr>
            <a:r>
              <a:rPr sz="1300" b="0" i="0">
                <a:solidFill>
                  <a:srgbClr val="585861"/>
                </a:solidFill>
                <a:latin typeface="Space Grotesk"/>
              </a:rPr>
              <a:t>Arabic and French — directly relevant to ESI-SBA's bilingual audience.</a:t>
            </a:r>
          </a:p>
        </p:txBody>
      </p:sp>
      <p:sp>
        <p:nvSpPr>
          <p:cNvPr id="9" name="TextBox 8"/>
          <p:cNvSpPr txBox="1"/>
          <p:nvPr/>
        </p:nvSpPr>
        <p:spPr>
          <a:xfrm>
            <a:off x="1005840" y="4069080"/>
            <a:ext cx="548640" cy="548640"/>
          </a:xfrm>
          <a:prstGeom prst="rect">
            <a:avLst/>
          </a:prstGeom>
          <a:noFill/>
        </p:spPr>
        <p:txBody>
          <a:bodyPr wrap="square" lIns="0" rIns="0" tIns="0" bIns="0" anchor="t">
            <a:spAutoFit/>
          </a:bodyPr>
          <a:lstStyle/>
          <a:p>
            <a:pPr algn="l">
              <a:lnSpc>
                <a:spcPct val="100000"/>
              </a:lnSpc>
            </a:pPr>
            <a:r>
              <a:rPr sz="2200" b="1" i="0">
                <a:solidFill>
                  <a:srgbClr val="1F5B4D"/>
                </a:solidFill>
                <a:latin typeface="Fraunces"/>
              </a:rPr>
              <a:t>03</a:t>
            </a:r>
          </a:p>
        </p:txBody>
      </p:sp>
      <p:sp>
        <p:nvSpPr>
          <p:cNvPr id="10" name="Rounded Rectangle 9"/>
          <p:cNvSpPr/>
          <p:nvPr/>
        </p:nvSpPr>
        <p:spPr>
          <a:xfrm>
            <a:off x="6291072" y="3840480"/>
            <a:ext cx="5349240" cy="21031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0000"/>
              </a:lnSpc>
              <a:spcBef>
                <a:spcPts val="4200"/>
              </a:spcBef>
              <a:spcAft>
                <a:spcPts val="800"/>
              </a:spcAft>
            </a:pPr>
            <a:r>
              <a:rPr sz="2000" b="1" i="0">
                <a:solidFill>
                  <a:srgbClr val="1B1B1F"/>
                </a:solidFill>
                <a:latin typeface="Fraunces"/>
              </a:rPr>
              <a:t>Curriculum-aware arcs</a:t>
            </a:r>
          </a:p>
          <a:p>
            <a:pPr algn="l">
              <a:lnSpc>
                <a:spcPct val="150000"/>
              </a:lnSpc>
              <a:spcAft>
                <a:spcPts val="400"/>
              </a:spcAft>
            </a:pPr>
            <a:r>
              <a:rPr sz="1300" b="0" i="0">
                <a:solidFill>
                  <a:srgbClr val="585861"/>
                </a:solidFill>
                <a:latin typeface="Space Grotesk"/>
              </a:rPr>
              <a:t>Link generated stories to explicit learning objectives — vocabulary targets, moral lessons.</a:t>
            </a:r>
          </a:p>
        </p:txBody>
      </p:sp>
      <p:sp>
        <p:nvSpPr>
          <p:cNvPr id="11" name="TextBox 10"/>
          <p:cNvSpPr txBox="1"/>
          <p:nvPr/>
        </p:nvSpPr>
        <p:spPr>
          <a:xfrm>
            <a:off x="6519672" y="4069080"/>
            <a:ext cx="548640" cy="548640"/>
          </a:xfrm>
          <a:prstGeom prst="rect">
            <a:avLst/>
          </a:prstGeom>
          <a:noFill/>
        </p:spPr>
        <p:txBody>
          <a:bodyPr wrap="square" lIns="0" rIns="0" tIns="0" bIns="0" anchor="t">
            <a:spAutoFit/>
          </a:bodyPr>
          <a:lstStyle/>
          <a:p>
            <a:pPr algn="l">
              <a:lnSpc>
                <a:spcPct val="100000"/>
              </a:lnSpc>
            </a:pPr>
            <a:r>
              <a:rPr sz="2200" b="1" i="0">
                <a:solidFill>
                  <a:srgbClr val="1F5B4D"/>
                </a:solidFill>
                <a:latin typeface="Fraunces"/>
              </a:rPr>
              <a:t>04</a:t>
            </a:r>
          </a:p>
        </p:txBody>
      </p:sp>
      <p:sp>
        <p:nvSpPr>
          <p:cNvPr id="12" name="TextBox 11"/>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30</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Tech stack</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Open-source, end to end.</a:t>
            </a:r>
          </a:p>
        </p:txBody>
      </p:sp>
      <p:sp>
        <p:nvSpPr>
          <p:cNvPr id="5" name="Rounded Rectangle 4"/>
          <p:cNvSpPr/>
          <p:nvPr/>
        </p:nvSpPr>
        <p:spPr>
          <a:xfrm>
            <a:off x="777240" y="1920240"/>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PyTorch</a:t>
            </a:r>
          </a:p>
        </p:txBody>
      </p:sp>
      <p:sp>
        <p:nvSpPr>
          <p:cNvPr id="6" name="Rounded Rectangle 5"/>
          <p:cNvSpPr/>
          <p:nvPr/>
        </p:nvSpPr>
        <p:spPr>
          <a:xfrm>
            <a:off x="4462272" y="1920240"/>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Transformers</a:t>
            </a:r>
          </a:p>
        </p:txBody>
      </p:sp>
      <p:sp>
        <p:nvSpPr>
          <p:cNvPr id="7" name="Rounded Rectangle 6"/>
          <p:cNvSpPr/>
          <p:nvPr/>
        </p:nvSpPr>
        <p:spPr>
          <a:xfrm>
            <a:off x="8147304" y="1920240"/>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PEFT</a:t>
            </a:r>
          </a:p>
        </p:txBody>
      </p:sp>
      <p:sp>
        <p:nvSpPr>
          <p:cNvPr id="8" name="Rounded Rectangle 7"/>
          <p:cNvSpPr/>
          <p:nvPr/>
        </p:nvSpPr>
        <p:spPr>
          <a:xfrm>
            <a:off x="777240" y="3273552"/>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BitsAndBytes</a:t>
            </a:r>
          </a:p>
        </p:txBody>
      </p:sp>
      <p:sp>
        <p:nvSpPr>
          <p:cNvPr id="9" name="Rounded Rectangle 8"/>
          <p:cNvSpPr/>
          <p:nvPr/>
        </p:nvSpPr>
        <p:spPr>
          <a:xfrm>
            <a:off x="4462272" y="3273552"/>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llama.cpp</a:t>
            </a:r>
          </a:p>
        </p:txBody>
      </p:sp>
      <p:sp>
        <p:nvSpPr>
          <p:cNvPr id="10" name="Rounded Rectangle 9"/>
          <p:cNvSpPr/>
          <p:nvPr/>
        </p:nvSpPr>
        <p:spPr>
          <a:xfrm>
            <a:off x="8147304" y="3273552"/>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Kaggle</a:t>
            </a:r>
          </a:p>
        </p:txBody>
      </p:sp>
      <p:sp>
        <p:nvSpPr>
          <p:cNvPr id="11" name="Rounded Rectangle 10"/>
          <p:cNvSpPr/>
          <p:nvPr/>
        </p:nvSpPr>
        <p:spPr>
          <a:xfrm>
            <a:off x="777240" y="4626864"/>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FastAPI</a:t>
            </a:r>
          </a:p>
        </p:txBody>
      </p:sp>
      <p:sp>
        <p:nvSpPr>
          <p:cNvPr id="12" name="Rounded Rectangle 11"/>
          <p:cNvSpPr/>
          <p:nvPr/>
        </p:nvSpPr>
        <p:spPr>
          <a:xfrm>
            <a:off x="4462272" y="4626864"/>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Docker</a:t>
            </a:r>
          </a:p>
        </p:txBody>
      </p:sp>
      <p:sp>
        <p:nvSpPr>
          <p:cNvPr id="13" name="Rounded Rectangle 12"/>
          <p:cNvSpPr/>
          <p:nvPr/>
        </p:nvSpPr>
        <p:spPr>
          <a:xfrm>
            <a:off x="8147304" y="4626864"/>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GitHub</a:t>
            </a:r>
          </a:p>
        </p:txBody>
      </p:sp>
      <p:sp>
        <p:nvSpPr>
          <p:cNvPr id="14" name="TextBox 13"/>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31</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ero.jpg"/>
          <p:cNvPicPr>
            <a:picLocks noChangeAspect="1"/>
          </p:cNvPicPr>
          <p:nvPr/>
        </p:nvPicPr>
        <p:blipFill>
          <a:blip r:embed="rId2"/>
          <a:stretch>
            <a:fillRect/>
          </a:stretch>
        </p:blipFill>
        <p:spPr>
          <a:xfrm>
            <a:off x="0" y="0"/>
            <a:ext cx="12191695" cy="6858000"/>
          </a:xfrm>
          <a:prstGeom prst="rect">
            <a:avLst/>
          </a:prstGeom>
        </p:spPr>
      </p:pic>
      <p:sp>
        <p:nvSpPr>
          <p:cNvPr id="3" name="Parallelogram 2"/>
          <p:cNvSpPr/>
          <p:nvPr/>
        </p:nvSpPr>
        <p:spPr>
          <a:xfrm>
            <a:off x="11338560" y="52806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flipH="1">
            <a:off x="11590020" y="52806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11590020" y="502920"/>
            <a:ext cx="0" cy="392277"/>
          </a:xfrm>
          <a:prstGeom prst="line">
            <a:avLst/>
          </a:prstGeom>
          <a:ln w="17780">
            <a:solidFill>
              <a:srgbClr val="1F5B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691640"/>
            <a:ext cx="10607040" cy="365760"/>
          </a:xfrm>
          <a:prstGeom prst="rect">
            <a:avLst/>
          </a:prstGeom>
          <a:noFill/>
        </p:spPr>
        <p:txBody>
          <a:bodyPr wrap="square" lIns="0" rIns="0" tIns="0" bIns="0" anchor="t">
            <a:spAutoFit/>
          </a:bodyPr>
          <a:lstStyle/>
          <a:p>
            <a:pPr algn="ctr">
              <a:lnSpc>
                <a:spcPct val="120000"/>
              </a:lnSpc>
            </a:pPr>
            <a:r>
              <a:rPr sz="1300" b="1" i="0">
                <a:solidFill>
                  <a:srgbClr val="1F5B4D"/>
                </a:solidFill>
                <a:latin typeface="Space Grotesk"/>
              </a:rPr>
              <a:t>ESI-SBA  ·  GROUP 1 — IASD  ·  MAY 2026</a:t>
            </a:r>
          </a:p>
        </p:txBody>
      </p:sp>
      <p:sp>
        <p:nvSpPr>
          <p:cNvPr id="7" name="TextBox 6"/>
          <p:cNvSpPr txBox="1"/>
          <p:nvPr/>
        </p:nvSpPr>
        <p:spPr>
          <a:xfrm>
            <a:off x="777240" y="2103120"/>
            <a:ext cx="10607040" cy="1463040"/>
          </a:xfrm>
          <a:prstGeom prst="rect">
            <a:avLst/>
          </a:prstGeom>
          <a:noFill/>
        </p:spPr>
        <p:txBody>
          <a:bodyPr wrap="square" lIns="0" rIns="0" tIns="0" bIns="0" anchor="t">
            <a:spAutoFit/>
          </a:bodyPr>
          <a:lstStyle/>
          <a:p>
            <a:pPr algn="ctr">
              <a:lnSpc>
                <a:spcPct val="105000"/>
              </a:lnSpc>
            </a:pPr>
            <a:r>
              <a:rPr sz="7200" b="1" i="0">
                <a:solidFill>
                  <a:srgbClr val="1B1B1F"/>
                </a:solidFill>
                <a:latin typeface="Fraunces"/>
              </a:rPr>
              <a:t>Thank you.</a:t>
            </a:r>
          </a:p>
        </p:txBody>
      </p:sp>
      <p:sp>
        <p:nvSpPr>
          <p:cNvPr id="8" name="Rectangle 7"/>
          <p:cNvSpPr/>
          <p:nvPr/>
        </p:nvSpPr>
        <p:spPr>
          <a:xfrm>
            <a:off x="5440680" y="3520440"/>
            <a:ext cx="640080" cy="54864"/>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60" y="3520440"/>
            <a:ext cx="640080" cy="54864"/>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49039"/>
            <a:ext cx="10607040" cy="457200"/>
          </a:xfrm>
          <a:prstGeom prst="rect">
            <a:avLst/>
          </a:prstGeom>
          <a:noFill/>
        </p:spPr>
        <p:txBody>
          <a:bodyPr wrap="square" lIns="0" rIns="0" tIns="0" bIns="0" anchor="t">
            <a:spAutoFit/>
          </a:bodyPr>
          <a:lstStyle/>
          <a:p>
            <a:pPr algn="ctr">
              <a:lnSpc>
                <a:spcPct val="130000"/>
              </a:lnSpc>
            </a:pPr>
            <a:r>
              <a:rPr sz="2000" b="0" i="1">
                <a:solidFill>
                  <a:srgbClr val="585861"/>
                </a:solidFill>
                <a:latin typeface="Space Grotesk"/>
              </a:rPr>
              <a:t>Questions welcome.</a:t>
            </a:r>
          </a:p>
        </p:txBody>
      </p:sp>
      <p:sp>
        <p:nvSpPr>
          <p:cNvPr id="11" name="Rounded Rectangle 10"/>
          <p:cNvSpPr/>
          <p:nvPr/>
        </p:nvSpPr>
        <p:spPr>
          <a:xfrm>
            <a:off x="7772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CODE</a:t>
            </a:r>
          </a:p>
          <a:p>
            <a:pPr algn="ctr">
              <a:lnSpc>
                <a:spcPct val="140000"/>
              </a:lnSpc>
              <a:spcBef>
                <a:spcPts val="400"/>
              </a:spcBef>
              <a:spcAft>
                <a:spcPts val="400"/>
              </a:spcAft>
            </a:pPr>
            <a:r>
              <a:rPr sz="1200" b="0" i="0">
                <a:solidFill>
                  <a:srgbClr val="1B1B1F"/>
                </a:solidFill>
                <a:latin typeface="Consolas"/>
              </a:rPr>
              <a:t>github.com/khedimyoucef/
NLP-MINI-PROJECT</a:t>
            </a:r>
          </a:p>
        </p:txBody>
      </p:sp>
      <p:sp>
        <p:nvSpPr>
          <p:cNvPr id="12" name="Rounded Rectangle 11"/>
          <p:cNvSpPr/>
          <p:nvPr/>
        </p:nvSpPr>
        <p:spPr>
          <a:xfrm>
            <a:off x="44348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MODELS</a:t>
            </a:r>
          </a:p>
          <a:p>
            <a:pPr algn="ctr">
              <a:lnSpc>
                <a:spcPct val="140000"/>
              </a:lnSpc>
              <a:spcBef>
                <a:spcPts val="400"/>
              </a:spcBef>
              <a:spcAft>
                <a:spcPts val="400"/>
              </a:spcAft>
            </a:pPr>
            <a:r>
              <a:rPr sz="1200" b="0" i="0">
                <a:solidFill>
                  <a:srgbClr val="1B1B1F"/>
                </a:solidFill>
                <a:latin typeface="Consolas"/>
              </a:rPr>
              <a:t>huggingface.co/khedim</a:t>
            </a:r>
          </a:p>
        </p:txBody>
      </p:sp>
      <p:sp>
        <p:nvSpPr>
          <p:cNvPr id="13" name="Rounded Rectangle 12"/>
          <p:cNvSpPr/>
          <p:nvPr/>
        </p:nvSpPr>
        <p:spPr>
          <a:xfrm>
            <a:off x="80924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CONTACT</a:t>
            </a:r>
          </a:p>
          <a:p>
            <a:pPr algn="ctr">
              <a:lnSpc>
                <a:spcPct val="140000"/>
              </a:lnSpc>
              <a:spcBef>
                <a:spcPts val="400"/>
              </a:spcBef>
              <a:spcAft>
                <a:spcPts val="400"/>
              </a:spcAft>
            </a:pPr>
            <a:r>
              <a:rPr sz="1200" b="0" i="0">
                <a:solidFill>
                  <a:srgbClr val="1B1B1F"/>
                </a:solidFill>
                <a:latin typeface="Consolas"/>
              </a:rPr>
              <a:t>i.benhammadi@esi-sba.dz</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Fine-Tuning LLMs for Children's Story Generation</dc:title>
  <dc:subject/>
  <dc:creator>Benhammadi Lokmane · Khedim Youcef</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