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9" r:id="rId3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A86"/>
    <a:srgbClr val="454A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322" autoAdjust="0"/>
    <p:restoredTop sz="94610"/>
  </p:normalViewPr>
  <p:slideViewPr>
    <p:cSldViewPr snapToGrid="0" snapToObjects="1">
      <p:cViewPr>
        <p:scale>
          <a:sx n="118" d="100"/>
          <a:sy n="118" d="100"/>
        </p:scale>
        <p:origin x="-178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219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I'll be presenting my final-year project: a system that reads handwritten medical prescriptions using TrOCR — a vision encoder–decoder model from Microsoft. I'm Benhammadi Lokmane, and this work was conducted at ESI in December 2025. Over the next twenty minutes I'll walk you through the problem, our solution, the technical approach, a live demo, and conclude with limitations and future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presentation follows five acts. First the problem — why handwritten prescriptions remain a real-world hazard. Second the solution — fine-tuning TrOCR end-to-end. Third the approach — six concrete engineering steps from data collection to evaluation. Fourth a live demo of the React frontend hitting the FastAPI backend. Fifth conclusions, limitations, and future directions. I'll keep moving and we'll have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electronic systems, handwritten prescriptions still dominate clinical practice in many settings. The issue is that doctors' handwriting is famously difficult to read, and pharmacists make dispensing errors that cause measurable patient harm — wrong drug, wrong dose, wrong frequency. The Institute of Medicine has estimated tens of thousands of injuries per year in the US alone are linked to medication errors, and illegible handwriting is a leading contributor.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make this hard. Domain vocabulary — drug names like Hydrochlorothiazide or Levothyroxine are out of distribution for any general OCR. Layout variability — every clinic uses a different prescription template with different fields and orderings. And acquisition noise — these are phone photos, not scanned documents, so we have shadows, skew, low contrast, and motion blur. A solution has to handle all three together.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OCR engines like Tesseract were built for printed text and fail almost entirely on cursive handwriting. Generic deep-learning OCR trained on receipts or license plates lacks medical context — it confuses similar drug names and hallucinates plausible-looking words. We need a model that is both handwriting-aware and primed to expect medical vocabulary. That gap is what motivates fine-tuning a handwritten OCR backbone on prescription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in one sentence: we fine-tune Microsoft's TrOCR base-handwritten checkpoint on a prescription dataset, wrap inference in a clean pipeline — image, preprocess, line segmentation, TrOCR, post-processing to JSON — and serve it through a FastAPI backend with a React frontend. The pipeline animates piece by piece in this slide. Each block is independent, instrumented, and replaceable.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TrOCR specifically. First, it's a vision encoder–decoder, so the decoder gives us a real language model prior — it knows what English text looks like statistically. Second, the base-handwritten checkpoint was pretrained on the IAM handwriting dataset, so it already understands cursive strokes. Third, it's distributed through Hugging Face, which means the entire training, evaluation, and deployment toolchain is mature and reproducible.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TrOCR is a BEiT-style vision transformer encoder that ingests image patches, plus a RoBERTa-initialized text decoder that emits subword tokens autoregressively. Cross-attention links the two — the decoder attends to the visual representation while generating text. This is the diagram from the original TrOCR paper, showing patch flatten on the input side and shifted-right outputs on the decoder side.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approach. Six steps, executed in this order: collect data, explore it, augment it, preprocess and segment, fine-tune, and evaluate. Each step has a deliverable and a checkpoint. The stepper at the top will reappear in subsequent slides so you always know which step we're 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was data. We used the chinmays18 medical-prescription dataset on Hugging Face Hub. It provides line-level crops of handwritten prescriptions paired with ground-truth transcriptions covering patient name, age, medications with dose and frequency, dates, and clinic metadata. The line-level granularity is important — TrOCR is a single-line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two was exploration. We split the data 80-10-10 train, val, test. We profiled character-length distribution — most lines are between 200 and 340 characters — and token-length distribution, where 95 percent of samples fit comfortably under 100 TrOCR tokens, well below the 256 max length. We also looked at drug frequency, with Gabapentin, Metformin, and Prednisone leading.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was augmentation. To improve robustness to phone-photo conditions we apply rotation up to plus or minus five degrees, gaussian blur, brightness and contrast jitter, and light elastic distortion. The samples on the right are real outputs from our notebook — original on top, augmented on bottom. This roughly triples effective training-set diversity.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was preprocessing and line segmentation. The pipeline is: convert to grayscale, denoise with a light bilateral filter, adaptive binarize using local Otsu, then deskew via Hough transform. Once we have a clean binary image we run horizontal projection to detect line breaks, then refine each line box with contour analysis. The two visuals show the cleanup result and the detected line boxes overlaid in color.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 fine-tuning configuration. Thirty epochs, batch size eight, learning rate five-by-ten-to-the-minus-five, weight decay one percent, five-hundred-step warmup, gradient clipping at one. At inference we use beam search with beam size two and a max length of one hundred and twenty-eight tokens. This config lives in configs/config.yaml in the repo so anyone can reproduce the run.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environment was a Kaggle notebook with two T4 GPUs. The whole pipeline is automated end-to-end: a single script downloads the dataset, runs training with logging to Weights and Biases, evaluates on the test set, and pushes the final checkpoint to a Hugging Face Hub repository. The training-loss curve shows a smooth convergence from 0.041 at epoch one down to under 0.006 at epoch five.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loss and optimization side: the decoder is trained with cross-entropy and teacher forcing, meaning ground-truth tokens are fed at each step rather than the model's own predictions. The optimizer is AdamW with a linear warmup-then-decay schedule. Gradient clipping at norm one keeps training stable. At inference we switch to beam search with beam two for slightly better decoding without huge cost.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 evaluation. We report three metrics. CER, character error rate, is the edit distance at the character level normalized by reference length — the headline number for handwriting OCR. WER, word error rate, is the same but at word level — penalizes any wrong token. Exact match is the strictest, the fraction of lines where prediction equals ground truth verbatim.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Quantitative results: zero-shot TrOCR on prescription data is essentially unusable, with CER around 78 percent. Our fine-tuned model brings CER down to roughly 4 percent and exact-match up to about 87 percent — a step change that's visible to any reviewer of the qualitative outputs. Numbers are placeholder pending the final test-set run; the trend is robust across our intermediate checkpoints.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Qualitatively, on the left a clear win — Simvastatin five hundred milligrams, as needed for pain, predicted exactly. In the middle a partial — patient name picked up but age slightly off. On the right a failure — overlapping cursive on a signature line confuses the segmentation, and the model hallucinates a plausible name. These three cases set up the next slide on failure modes.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dominate. Overlapping cursive — when adjacent line strokes touch, segmentation fuses them. Rare drug names outside our vocabulary — the model snaps to a phonetically similar but wrong word. And residual shadows from imperfect preprocessing that survive binarization and bias the encoder. Each is a concrete improvement target.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serving side, FastAPI exposes two endpoints — health and predict. The model is loaded once at startup so per-request latency stays low. Requests are multipart image uploads; responses are JSON with extracted lines, raw text, and processing time. Swagger UI gives us interactive testing for free.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React plus Vite single-page application. The user uploads an image, the SPA POSTs it to the predict endpoint, and renders the parsed lines back. There's no state management library — react query handles the fetch and a small reducer holds upload state. The architecture diagram on the right shows the full request path.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upload screen. Two callouts: the central drop zone supports drag and drop, and we accept JPG, PNG, and PDF formats up to ten megabytes. The visual is intentionally minimal — one job, one button.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screen has three regions: image preview on the left so the user can sanity-check the input, extracted line cards in the middle showing each transcribed line, and a small footer with end-to-end processing time. Typical inference is under two seconds on the cloud GPU.</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I'll do three things: upload a sample prescription from the test set, show the JSON response in DevTools, and walk through the parsed structured fields on the page. If we have time I'll also upload a phone photo of my own to demonstrate generalization beyond the training distribution.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what we built: a fine-tuned TrOCR pipeline that turns handwritten prescriptions into structured JSON, served behind a clean React frontend. End to end, image upload to JSON in under two seconds, with reproducible training, automated evaluation, and a checkpoint published openly on the Hub.</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about limitations. The dataset is small — under five thousand line crops. The pipeline is a cascade, so segmentation errors propagate downstream into OCR. We don't normalize against any drug formulary, so the output is faithful to the handwriting but not validated against a real drug database. And we only support English; multilingual prescriptions would need a different decoder.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in three directions. First, a layout-aware end-to-end model — Donut or LayoutLMv3 — that skips explicit segmentation entirely. Second, a drug-formulary linker that maps free-text drug strings to RxNorm or the local equivalent and flags impossible combinations. Third, multilingual support — Arabic and French are the obvious targets for the Algerian context.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 stack underpinning all of this: PyTorch for training, Hugging Face Transformers for the model and tokenizer, FastAPI for the backend, React plus Vite for the frontend, Docker for packaging, Kaggle for the GPU compute, and GitHub for source control. Standard, boring, reliable.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repository link is on screen along with my contact email. I'm happy to take any questions on the model, the data pipeline, the engineering decisions, or directions for follow-up work.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alpha val="90000"/>
            </a:srgbClr>
          </a:solidFill>
          <a:ln/>
        </p:spPr>
      </p:sp>
      <p:sp>
        <p:nvSpPr>
          <p:cNvPr id="3" name="Shape 1"/>
          <p:cNvSpPr/>
          <p:nvPr/>
        </p:nvSpPr>
        <p:spPr>
          <a:xfrm>
            <a:off x="3657600" y="0"/>
            <a:ext cx="3657600" cy="76200"/>
          </a:xfrm>
          <a:prstGeom prst="rect">
            <a:avLst/>
          </a:prstGeom>
          <a:solidFill>
            <a:srgbClr val="6070FF">
              <a:alpha val="90000"/>
            </a:srgbClr>
          </a:solidFill>
          <a:ln/>
        </p:spPr>
      </p:sp>
      <p:sp>
        <p:nvSpPr>
          <p:cNvPr id="4" name="Shape 2"/>
          <p:cNvSpPr/>
          <p:nvPr/>
        </p:nvSpPr>
        <p:spPr>
          <a:xfrm>
            <a:off x="7315200" y="0"/>
            <a:ext cx="3657600" cy="76200"/>
          </a:xfrm>
          <a:prstGeom prst="rect">
            <a:avLst/>
          </a:prstGeom>
          <a:solidFill>
            <a:srgbClr val="FA3585">
              <a:alpha val="90000"/>
            </a:srgbClr>
          </a:solidFill>
          <a:ln/>
        </p:spPr>
      </p:sp>
      <p:sp>
        <p:nvSpPr>
          <p:cNvPr id="5" name="Shape 3"/>
          <p:cNvSpPr/>
          <p:nvPr/>
        </p:nvSpPr>
        <p:spPr>
          <a:xfrm>
            <a:off x="10972800" y="0"/>
            <a:ext cx="3657600" cy="76200"/>
          </a:xfrm>
          <a:prstGeom prst="rect">
            <a:avLst/>
          </a:prstGeom>
          <a:solidFill>
            <a:srgbClr val="FF8E38">
              <a:alpha val="90000"/>
            </a:srgbClr>
          </a:solidFill>
          <a:ln/>
        </p:spPr>
      </p:sp>
      <p:sp>
        <p:nvSpPr>
          <p:cNvPr id="6" name="Shape 4"/>
          <p:cNvSpPr/>
          <p:nvPr/>
        </p:nvSpPr>
        <p:spPr>
          <a:xfrm>
            <a:off x="14630400" y="0"/>
            <a:ext cx="3657600" cy="76200"/>
          </a:xfrm>
          <a:prstGeom prst="rect">
            <a:avLst/>
          </a:prstGeom>
          <a:solidFill>
            <a:srgbClr val="F7C83B">
              <a:alpha val="90000"/>
            </a:srgbClr>
          </a:solidFill>
          <a:ln/>
        </p:spPr>
      </p:sp>
      <p:sp>
        <p:nvSpPr>
          <p:cNvPr id="7" name="Shape 5"/>
          <p:cNvSpPr/>
          <p:nvPr/>
        </p:nvSpPr>
        <p:spPr>
          <a:xfrm>
            <a:off x="15278100" y="1143000"/>
            <a:ext cx="266700" cy="1143000"/>
          </a:xfrm>
          <a:prstGeom prst="roundRect">
            <a:avLst>
              <a:gd name="adj" fmla="val 14286"/>
            </a:avLst>
          </a:prstGeom>
          <a:solidFill>
            <a:srgbClr val="3BC8F1"/>
          </a:solidFill>
          <a:ln/>
        </p:spPr>
      </p:sp>
      <p:sp>
        <p:nvSpPr>
          <p:cNvPr id="8" name="Shape 6"/>
          <p:cNvSpPr/>
          <p:nvPr/>
        </p:nvSpPr>
        <p:spPr>
          <a:xfrm>
            <a:off x="15678150" y="1143000"/>
            <a:ext cx="266700" cy="1143000"/>
          </a:xfrm>
          <a:prstGeom prst="roundRect">
            <a:avLst>
              <a:gd name="adj" fmla="val 14286"/>
            </a:avLst>
          </a:prstGeom>
          <a:solidFill>
            <a:srgbClr val="6070FF"/>
          </a:solidFill>
          <a:ln/>
        </p:spPr>
      </p:sp>
      <p:sp>
        <p:nvSpPr>
          <p:cNvPr id="9" name="Shape 7"/>
          <p:cNvSpPr/>
          <p:nvPr/>
        </p:nvSpPr>
        <p:spPr>
          <a:xfrm>
            <a:off x="16078200" y="1143000"/>
            <a:ext cx="266700" cy="1143000"/>
          </a:xfrm>
          <a:prstGeom prst="roundRect">
            <a:avLst>
              <a:gd name="adj" fmla="val 14286"/>
            </a:avLst>
          </a:prstGeom>
          <a:solidFill>
            <a:srgbClr val="FA3585"/>
          </a:solidFill>
          <a:ln/>
        </p:spPr>
      </p:sp>
      <p:sp>
        <p:nvSpPr>
          <p:cNvPr id="10" name="Shape 8"/>
          <p:cNvSpPr/>
          <p:nvPr/>
        </p:nvSpPr>
        <p:spPr>
          <a:xfrm>
            <a:off x="16478250" y="1143000"/>
            <a:ext cx="266700" cy="1143000"/>
          </a:xfrm>
          <a:prstGeom prst="roundRect">
            <a:avLst>
              <a:gd name="adj" fmla="val 14286"/>
            </a:avLst>
          </a:prstGeom>
          <a:solidFill>
            <a:srgbClr val="FF8E38"/>
          </a:solidFill>
          <a:ln/>
        </p:spPr>
      </p:sp>
      <p:sp>
        <p:nvSpPr>
          <p:cNvPr id="11" name="Shape 9"/>
          <p:cNvSpPr/>
          <p:nvPr/>
        </p:nvSpPr>
        <p:spPr>
          <a:xfrm>
            <a:off x="16878300" y="1143000"/>
            <a:ext cx="266700" cy="1143000"/>
          </a:xfrm>
          <a:prstGeom prst="roundRect">
            <a:avLst>
              <a:gd name="adj" fmla="val 14286"/>
            </a:avLst>
          </a:prstGeom>
          <a:solidFill>
            <a:srgbClr val="F7C83B"/>
          </a:solidFill>
          <a:ln/>
        </p:spPr>
      </p:sp>
      <p:sp>
        <p:nvSpPr>
          <p:cNvPr id="12" name="Text 10"/>
          <p:cNvSpPr/>
          <p:nvPr/>
        </p:nvSpPr>
        <p:spPr>
          <a:xfrm>
            <a:off x="1143000" y="3722370"/>
            <a:ext cx="1648206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3BC8F1"/>
                </a:solidFill>
                <a:latin typeface="Century Gothic" pitchFamily="34" charset="0"/>
                <a:ea typeface="Century Gothic" pitchFamily="34" charset="-122"/>
                <a:cs typeface="Century Gothic" pitchFamily="34" charset="-120"/>
              </a:rPr>
              <a:t>Deep Learning Mini Project</a:t>
            </a:r>
            <a:endParaRPr lang="en-US" sz="1650" dirty="0"/>
          </a:p>
        </p:txBody>
      </p:sp>
      <p:sp>
        <p:nvSpPr>
          <p:cNvPr id="13" name="Text 11"/>
          <p:cNvSpPr/>
          <p:nvPr/>
        </p:nvSpPr>
        <p:spPr>
          <a:xfrm>
            <a:off x="1143000" y="4208145"/>
            <a:ext cx="14716125" cy="1718310"/>
          </a:xfrm>
          <a:prstGeom prst="rect">
            <a:avLst/>
          </a:prstGeom>
          <a:noFill/>
          <a:ln/>
        </p:spPr>
        <p:txBody>
          <a:bodyPr wrap="square" lIns="25400" tIns="25400" rIns="25400" bIns="25400" rtlCol="0" anchor="t">
            <a:normAutofit/>
          </a:bodyPr>
          <a:lstStyle/>
          <a:p>
            <a:pPr marL="0" indent="0" algn="l">
              <a:lnSpc>
                <a:spcPct val="105000"/>
              </a:lnSpc>
              <a:buNone/>
            </a:pPr>
            <a:r>
              <a:rPr lang="en-US" sz="6300" b="1" kern="0" spc="-63" dirty="0">
                <a:solidFill>
                  <a:srgbClr val="454A5C"/>
                </a:solidFill>
                <a:latin typeface="Century Gothic" pitchFamily="34" charset="0"/>
                <a:ea typeface="Century Gothic" pitchFamily="34" charset="-122"/>
                <a:cs typeface="Century Gothic" pitchFamily="34" charset="-120"/>
              </a:rPr>
              <a:t>Medical Prescription OCR with TrOCR</a:t>
            </a:r>
            <a:endParaRPr lang="en-US" sz="6300" dirty="0">
              <a:solidFill>
                <a:srgbClr val="454A5C"/>
              </a:solidFill>
            </a:endParaRPr>
          </a:p>
        </p:txBody>
      </p:sp>
      <p:sp>
        <p:nvSpPr>
          <p:cNvPr id="14" name="Text 12"/>
          <p:cNvSpPr/>
          <p:nvPr/>
        </p:nvSpPr>
        <p:spPr>
          <a:xfrm>
            <a:off x="1143000" y="6155055"/>
            <a:ext cx="13735050" cy="447675"/>
          </a:xfrm>
          <a:prstGeom prst="rect">
            <a:avLst/>
          </a:prstGeom>
          <a:noFill/>
          <a:ln/>
        </p:spPr>
        <p:txBody>
          <a:bodyPr wrap="square" lIns="25400" tIns="25400" rIns="25400" bIns="25400" rtlCol="0" anchor="t">
            <a:normAutofit/>
          </a:bodyPr>
          <a:lstStyle/>
          <a:p>
            <a:pPr marL="0" indent="0" algn="l">
              <a:buNone/>
            </a:pPr>
            <a:r>
              <a:rPr lang="en-US" sz="2550" dirty="0">
                <a:solidFill>
                  <a:srgbClr val="777A86"/>
                </a:solidFill>
                <a:latin typeface="Century Gothic" pitchFamily="34" charset="0"/>
                <a:ea typeface="Century Gothic" pitchFamily="34" charset="-122"/>
                <a:cs typeface="Century Gothic" pitchFamily="34" charset="-120"/>
              </a:rPr>
              <a:t>Fine-tuning a Vision Encoder–Decoder for Handwritten Prescriptions</a:t>
            </a:r>
            <a:endParaRPr lang="en-US" sz="2550" dirty="0">
              <a:solidFill>
                <a:srgbClr val="777A86"/>
              </a:solidFill>
            </a:endParaRPr>
          </a:p>
        </p:txBody>
      </p:sp>
      <p:sp>
        <p:nvSpPr>
          <p:cNvPr id="15" name="Text 13"/>
          <p:cNvSpPr/>
          <p:nvPr/>
        </p:nvSpPr>
        <p:spPr>
          <a:xfrm>
            <a:off x="1143000" y="8439150"/>
            <a:ext cx="3558196"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Century Gothic" pitchFamily="34" charset="0"/>
                <a:ea typeface="Century Gothic" pitchFamily="34" charset="-122"/>
                <a:cs typeface="Century Gothic" pitchFamily="34" charset="-120"/>
              </a:rPr>
              <a:t>Benhammadi Lokmane</a:t>
            </a:r>
            <a:endParaRPr lang="en-US" sz="2250" dirty="0"/>
          </a:p>
        </p:txBody>
      </p:sp>
      <p:sp>
        <p:nvSpPr>
          <p:cNvPr id="16" name="Text 14"/>
          <p:cNvSpPr/>
          <p:nvPr/>
        </p:nvSpPr>
        <p:spPr>
          <a:xfrm>
            <a:off x="1143000" y="8858250"/>
            <a:ext cx="3558196" cy="323850"/>
          </a:xfrm>
          <a:prstGeom prst="rect">
            <a:avLst/>
          </a:prstGeom>
          <a:noFill/>
          <a:ln/>
        </p:spPr>
        <p:txBody>
          <a:bodyPr wrap="square" lIns="0" tIns="0" rIns="0" bIns="0" rtlCol="0" anchor="t">
            <a:normAutofit fontScale="85000" lnSpcReduction="10000"/>
          </a:bodyPr>
          <a:lstStyle/>
          <a:p>
            <a:pPr marL="0" indent="0" algn="l">
              <a:buNone/>
            </a:pPr>
            <a:r>
              <a:rPr lang="en-US" sz="1800" dirty="0">
                <a:solidFill>
                  <a:srgbClr val="777A86"/>
                </a:solidFill>
                <a:latin typeface="Century Gothic" pitchFamily="34" charset="0"/>
                <a:ea typeface="Century Gothic" pitchFamily="34" charset="-122"/>
                <a:cs typeface="Century Gothic" pitchFamily="34" charset="-120"/>
              </a:rPr>
              <a:t>École Supérieure d'Informatique (ESI)</a:t>
            </a:r>
            <a:endParaRPr lang="en-US" sz="1800" dirty="0">
              <a:solidFill>
                <a:srgbClr val="777A86"/>
              </a:solidFill>
            </a:endParaRPr>
          </a:p>
        </p:txBody>
      </p:sp>
      <p:sp>
        <p:nvSpPr>
          <p:cNvPr id="17" name="Text 15"/>
          <p:cNvSpPr/>
          <p:nvPr/>
        </p:nvSpPr>
        <p:spPr>
          <a:xfrm>
            <a:off x="15715773" y="8629650"/>
            <a:ext cx="1429226" cy="552450"/>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777A86"/>
                </a:solidFill>
                <a:latin typeface="Century Gothic" pitchFamily="34" charset="0"/>
                <a:ea typeface="Century Gothic" pitchFamily="34" charset="-122"/>
                <a:cs typeface="Century Gothic" pitchFamily="34" charset="-120"/>
              </a:rPr>
              <a:t>Mai 2025 SBA, Algeria</a:t>
            </a:r>
            <a:endParaRPr lang="en-US" sz="1650" dirty="0">
              <a:solidFill>
                <a:srgbClr val="777A86"/>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842"/>
    </mc:Choice>
    <mc:Fallback>
      <p:transition spd="slow" advTm="84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6070FF"/>
                </a:solidFill>
                <a:latin typeface="Century Gothic" pitchFamily="34" charset="0"/>
                <a:ea typeface="Century Gothic" pitchFamily="34" charset="-122"/>
                <a:cs typeface="Century Gothic" pitchFamily="34" charset="-120"/>
              </a:rPr>
              <a:t>AGENDA</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Five acts</a:t>
            </a:r>
            <a:endParaRPr lang="en-US" sz="3600" dirty="0"/>
          </a:p>
        </p:txBody>
      </p:sp>
      <p:sp>
        <p:nvSpPr>
          <p:cNvPr id="9" name="Shape 7"/>
          <p:cNvSpPr/>
          <p:nvPr/>
        </p:nvSpPr>
        <p:spPr>
          <a:xfrm>
            <a:off x="952500" y="2360295"/>
            <a:ext cx="3093720" cy="3943350"/>
          </a:xfrm>
          <a:prstGeom prst="roundRect">
            <a:avLst>
              <a:gd name="adj" fmla="val 5542"/>
            </a:avLst>
          </a:prstGeom>
          <a:solidFill>
            <a:srgbClr val="FFFFFF"/>
          </a:solidFill>
          <a:ln w="9525">
            <a:solidFill>
              <a:srgbClr val="E6E8F0"/>
            </a:solidFill>
            <a:prstDash val="solid"/>
          </a:ln>
        </p:spPr>
      </p:sp>
      <p:sp>
        <p:nvSpPr>
          <p:cNvPr id="10" name="Text 8"/>
          <p:cNvSpPr/>
          <p:nvPr/>
        </p:nvSpPr>
        <p:spPr>
          <a:xfrm>
            <a:off x="1228725" y="2712720"/>
            <a:ext cx="2617508"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3BC8F1"/>
                </a:solidFill>
                <a:latin typeface="Century Gothic" pitchFamily="34" charset="0"/>
                <a:ea typeface="Century Gothic" pitchFamily="34" charset="-122"/>
                <a:cs typeface="Century Gothic" pitchFamily="34" charset="-120"/>
              </a:rPr>
              <a:t>1</a:t>
            </a:r>
            <a:endParaRPr lang="en-US" sz="6600" dirty="0"/>
          </a:p>
        </p:txBody>
      </p:sp>
      <p:sp>
        <p:nvSpPr>
          <p:cNvPr id="11" name="Text 9"/>
          <p:cNvSpPr/>
          <p:nvPr/>
        </p:nvSpPr>
        <p:spPr>
          <a:xfrm>
            <a:off x="1228725" y="3550920"/>
            <a:ext cx="2617508"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172144"/>
                </a:solidFill>
                <a:latin typeface="Century Gothic" pitchFamily="34" charset="0"/>
                <a:ea typeface="Century Gothic" pitchFamily="34" charset="-122"/>
                <a:cs typeface="Century Gothic" pitchFamily="34" charset="-120"/>
              </a:rPr>
              <a:t>Problem</a:t>
            </a:r>
            <a:endParaRPr lang="en-US" sz="2250" dirty="0"/>
          </a:p>
        </p:txBody>
      </p:sp>
      <p:sp>
        <p:nvSpPr>
          <p:cNvPr id="12" name="Text 10"/>
          <p:cNvSpPr/>
          <p:nvPr/>
        </p:nvSpPr>
        <p:spPr>
          <a:xfrm>
            <a:off x="1228725" y="5455920"/>
            <a:ext cx="2617508" cy="53340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Why handwritten prescriptions still cause harm.</a:t>
            </a:r>
            <a:endParaRPr lang="en-US" sz="1500" dirty="0"/>
          </a:p>
        </p:txBody>
      </p:sp>
      <p:sp>
        <p:nvSpPr>
          <p:cNvPr id="13" name="Shape 11"/>
          <p:cNvSpPr/>
          <p:nvPr/>
        </p:nvSpPr>
        <p:spPr>
          <a:xfrm>
            <a:off x="4274820" y="2360295"/>
            <a:ext cx="3093720" cy="3943350"/>
          </a:xfrm>
          <a:prstGeom prst="roundRect">
            <a:avLst>
              <a:gd name="adj" fmla="val 5542"/>
            </a:avLst>
          </a:prstGeom>
          <a:solidFill>
            <a:srgbClr val="FFFFFF"/>
          </a:solidFill>
          <a:ln w="9525">
            <a:solidFill>
              <a:srgbClr val="E6E8F0"/>
            </a:solidFill>
            <a:prstDash val="solid"/>
          </a:ln>
        </p:spPr>
      </p:sp>
      <p:sp>
        <p:nvSpPr>
          <p:cNvPr id="14" name="Text 12"/>
          <p:cNvSpPr/>
          <p:nvPr/>
        </p:nvSpPr>
        <p:spPr>
          <a:xfrm>
            <a:off x="4551045" y="2712720"/>
            <a:ext cx="2617508"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6070FF"/>
                </a:solidFill>
                <a:latin typeface="Century Gothic" pitchFamily="34" charset="0"/>
                <a:ea typeface="Century Gothic" pitchFamily="34" charset="-122"/>
                <a:cs typeface="Century Gothic" pitchFamily="34" charset="-120"/>
              </a:rPr>
              <a:t>2</a:t>
            </a:r>
            <a:endParaRPr lang="en-US" sz="6600" dirty="0"/>
          </a:p>
        </p:txBody>
      </p:sp>
      <p:sp>
        <p:nvSpPr>
          <p:cNvPr id="15" name="Text 13"/>
          <p:cNvSpPr/>
          <p:nvPr/>
        </p:nvSpPr>
        <p:spPr>
          <a:xfrm>
            <a:off x="4551045" y="3550920"/>
            <a:ext cx="2617508"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172144"/>
                </a:solidFill>
                <a:latin typeface="Century Gothic" pitchFamily="34" charset="0"/>
                <a:ea typeface="Century Gothic" pitchFamily="34" charset="-122"/>
                <a:cs typeface="Century Gothic" pitchFamily="34" charset="-120"/>
              </a:rPr>
              <a:t>Solution</a:t>
            </a:r>
            <a:endParaRPr lang="en-US" sz="2250" dirty="0"/>
          </a:p>
        </p:txBody>
      </p:sp>
      <p:sp>
        <p:nvSpPr>
          <p:cNvPr id="16" name="Text 14"/>
          <p:cNvSpPr/>
          <p:nvPr/>
        </p:nvSpPr>
        <p:spPr>
          <a:xfrm>
            <a:off x="4551045" y="5455920"/>
            <a:ext cx="2617508" cy="53340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A fine-tuned TrOCR pipeline, end to end.</a:t>
            </a:r>
            <a:endParaRPr lang="en-US" sz="1500" dirty="0"/>
          </a:p>
        </p:txBody>
      </p:sp>
      <p:sp>
        <p:nvSpPr>
          <p:cNvPr id="17" name="Shape 15"/>
          <p:cNvSpPr/>
          <p:nvPr/>
        </p:nvSpPr>
        <p:spPr>
          <a:xfrm>
            <a:off x="7597140" y="2360295"/>
            <a:ext cx="3093720" cy="3943350"/>
          </a:xfrm>
          <a:prstGeom prst="roundRect">
            <a:avLst>
              <a:gd name="adj" fmla="val 5542"/>
            </a:avLst>
          </a:prstGeom>
          <a:solidFill>
            <a:srgbClr val="FFFFFF"/>
          </a:solidFill>
          <a:ln w="9525">
            <a:solidFill>
              <a:srgbClr val="E6E8F0"/>
            </a:solidFill>
            <a:prstDash val="solid"/>
          </a:ln>
        </p:spPr>
      </p:sp>
      <p:sp>
        <p:nvSpPr>
          <p:cNvPr id="18" name="Text 16"/>
          <p:cNvSpPr/>
          <p:nvPr/>
        </p:nvSpPr>
        <p:spPr>
          <a:xfrm>
            <a:off x="7873365" y="2712720"/>
            <a:ext cx="2617508"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FA3585"/>
                </a:solidFill>
                <a:latin typeface="Century Gothic" pitchFamily="34" charset="0"/>
                <a:ea typeface="Century Gothic" pitchFamily="34" charset="-122"/>
                <a:cs typeface="Century Gothic" pitchFamily="34" charset="-120"/>
              </a:rPr>
              <a:t>3</a:t>
            </a:r>
            <a:endParaRPr lang="en-US" sz="6600" dirty="0"/>
          </a:p>
        </p:txBody>
      </p:sp>
      <p:sp>
        <p:nvSpPr>
          <p:cNvPr id="19" name="Text 17"/>
          <p:cNvSpPr/>
          <p:nvPr/>
        </p:nvSpPr>
        <p:spPr>
          <a:xfrm>
            <a:off x="7873365" y="3550920"/>
            <a:ext cx="2617508"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172144"/>
                </a:solidFill>
                <a:latin typeface="Century Gothic" pitchFamily="34" charset="0"/>
                <a:ea typeface="Century Gothic" pitchFamily="34" charset="-122"/>
                <a:cs typeface="Century Gothic" pitchFamily="34" charset="-120"/>
              </a:rPr>
              <a:t>Approach</a:t>
            </a:r>
            <a:endParaRPr lang="en-US" sz="2250" dirty="0"/>
          </a:p>
        </p:txBody>
      </p:sp>
      <p:sp>
        <p:nvSpPr>
          <p:cNvPr id="20" name="Text 18"/>
          <p:cNvSpPr/>
          <p:nvPr/>
        </p:nvSpPr>
        <p:spPr>
          <a:xfrm>
            <a:off x="7873365" y="5703570"/>
            <a:ext cx="2617508" cy="28575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Six concrete engineering steps.</a:t>
            </a:r>
            <a:endParaRPr lang="en-US" sz="1500" dirty="0"/>
          </a:p>
        </p:txBody>
      </p:sp>
      <p:sp>
        <p:nvSpPr>
          <p:cNvPr id="21" name="Shape 19"/>
          <p:cNvSpPr/>
          <p:nvPr/>
        </p:nvSpPr>
        <p:spPr>
          <a:xfrm>
            <a:off x="10919460" y="2360295"/>
            <a:ext cx="3093720" cy="3943350"/>
          </a:xfrm>
          <a:prstGeom prst="roundRect">
            <a:avLst>
              <a:gd name="adj" fmla="val 5542"/>
            </a:avLst>
          </a:prstGeom>
          <a:solidFill>
            <a:srgbClr val="FFFFFF"/>
          </a:solidFill>
          <a:ln w="9525">
            <a:solidFill>
              <a:srgbClr val="E6E8F0"/>
            </a:solidFill>
            <a:prstDash val="solid"/>
          </a:ln>
        </p:spPr>
      </p:sp>
      <p:sp>
        <p:nvSpPr>
          <p:cNvPr id="22" name="Text 20"/>
          <p:cNvSpPr/>
          <p:nvPr/>
        </p:nvSpPr>
        <p:spPr>
          <a:xfrm>
            <a:off x="11195685" y="2712720"/>
            <a:ext cx="2617508"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FF8E38"/>
                </a:solidFill>
                <a:latin typeface="Century Gothic" pitchFamily="34" charset="0"/>
                <a:ea typeface="Century Gothic" pitchFamily="34" charset="-122"/>
                <a:cs typeface="Century Gothic" pitchFamily="34" charset="-120"/>
              </a:rPr>
              <a:t>4</a:t>
            </a:r>
            <a:endParaRPr lang="en-US" sz="6600" dirty="0"/>
          </a:p>
        </p:txBody>
      </p:sp>
      <p:sp>
        <p:nvSpPr>
          <p:cNvPr id="23" name="Text 21"/>
          <p:cNvSpPr/>
          <p:nvPr/>
        </p:nvSpPr>
        <p:spPr>
          <a:xfrm>
            <a:off x="11195685" y="3550920"/>
            <a:ext cx="2617508"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172144"/>
                </a:solidFill>
                <a:latin typeface="Century Gothic" pitchFamily="34" charset="0"/>
                <a:ea typeface="Century Gothic" pitchFamily="34" charset="-122"/>
                <a:cs typeface="Century Gothic" pitchFamily="34" charset="-120"/>
              </a:rPr>
              <a:t>Demo</a:t>
            </a:r>
            <a:endParaRPr lang="en-US" sz="2250" dirty="0"/>
          </a:p>
        </p:txBody>
      </p:sp>
      <p:sp>
        <p:nvSpPr>
          <p:cNvPr id="24" name="Text 22"/>
          <p:cNvSpPr/>
          <p:nvPr/>
        </p:nvSpPr>
        <p:spPr>
          <a:xfrm>
            <a:off x="11195685" y="5455920"/>
            <a:ext cx="2617508" cy="53340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React frontend · FastAPI backend.</a:t>
            </a:r>
            <a:endParaRPr lang="en-US" sz="1500" dirty="0"/>
          </a:p>
        </p:txBody>
      </p:sp>
      <p:sp>
        <p:nvSpPr>
          <p:cNvPr id="25" name="Shape 23"/>
          <p:cNvSpPr/>
          <p:nvPr/>
        </p:nvSpPr>
        <p:spPr>
          <a:xfrm>
            <a:off x="14241780" y="2360295"/>
            <a:ext cx="3093720" cy="3943350"/>
          </a:xfrm>
          <a:prstGeom prst="roundRect">
            <a:avLst>
              <a:gd name="adj" fmla="val 5542"/>
            </a:avLst>
          </a:prstGeom>
          <a:solidFill>
            <a:srgbClr val="FFFFFF"/>
          </a:solidFill>
          <a:ln w="9525">
            <a:solidFill>
              <a:srgbClr val="E6E8F0"/>
            </a:solidFill>
            <a:prstDash val="solid"/>
          </a:ln>
        </p:spPr>
      </p:sp>
      <p:sp>
        <p:nvSpPr>
          <p:cNvPr id="26" name="Text 24"/>
          <p:cNvSpPr/>
          <p:nvPr/>
        </p:nvSpPr>
        <p:spPr>
          <a:xfrm>
            <a:off x="14518005" y="2712720"/>
            <a:ext cx="2617508" cy="8763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600" b="1" dirty="0">
                <a:solidFill>
                  <a:srgbClr val="F7C83B"/>
                </a:solidFill>
                <a:latin typeface="Century Gothic" pitchFamily="34" charset="0"/>
                <a:ea typeface="Century Gothic" pitchFamily="34" charset="-122"/>
                <a:cs typeface="Century Gothic" pitchFamily="34" charset="-120"/>
              </a:rPr>
              <a:t>5</a:t>
            </a:r>
            <a:endParaRPr lang="en-US" sz="6600" dirty="0"/>
          </a:p>
        </p:txBody>
      </p:sp>
      <p:sp>
        <p:nvSpPr>
          <p:cNvPr id="27" name="Text 25"/>
          <p:cNvSpPr/>
          <p:nvPr/>
        </p:nvSpPr>
        <p:spPr>
          <a:xfrm>
            <a:off x="14518005" y="3550920"/>
            <a:ext cx="2617508"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172144"/>
                </a:solidFill>
                <a:latin typeface="Century Gothic" pitchFamily="34" charset="0"/>
                <a:ea typeface="Century Gothic" pitchFamily="34" charset="-122"/>
                <a:cs typeface="Century Gothic" pitchFamily="34" charset="-120"/>
              </a:rPr>
              <a:t>Conclusion</a:t>
            </a:r>
            <a:endParaRPr lang="en-US" sz="2250" dirty="0"/>
          </a:p>
        </p:txBody>
      </p:sp>
      <p:sp>
        <p:nvSpPr>
          <p:cNvPr id="28" name="Text 26"/>
          <p:cNvSpPr/>
          <p:nvPr/>
        </p:nvSpPr>
        <p:spPr>
          <a:xfrm>
            <a:off x="14518005" y="5703570"/>
            <a:ext cx="2617508" cy="28575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Limits, future work, Q&amp;A.</a:t>
            </a:r>
            <a:endParaRPr lang="en-US" sz="1500" dirty="0"/>
          </a:p>
        </p:txBody>
      </p:sp>
      <p:sp>
        <p:nvSpPr>
          <p:cNvPr id="29" name="Text 27"/>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77A86"/>
                </a:solidFill>
                <a:latin typeface="Century Gothic" pitchFamily="34" charset="0"/>
                <a:ea typeface="Century Gothic" pitchFamily="34" charset="-122"/>
                <a:cs typeface="Century Gothic" pitchFamily="34" charset="-120"/>
              </a:rPr>
              <a:t>Medical Prescription OCR with TrOCR — ESI, Mai 2025</a:t>
            </a:r>
            <a:endParaRPr lang="en-US" sz="1350" dirty="0">
              <a:solidFill>
                <a:srgbClr val="777A86"/>
              </a:solidFill>
            </a:endParaRPr>
          </a:p>
        </p:txBody>
      </p:sp>
      <p:sp>
        <p:nvSpPr>
          <p:cNvPr id="30" name="Text 28"/>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02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801">
        <p159:morph option="byObject"/>
      </p:transition>
    </mc:Choice>
    <mc:Fallback>
      <p:transition spd="slow" advTm="80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14827886" y="762000"/>
            <a:ext cx="2393315" cy="2324100"/>
          </a:xfrm>
          <a:prstGeom prst="rect">
            <a:avLst/>
          </a:prstGeom>
          <a:noFill/>
          <a:ln/>
        </p:spPr>
        <p:txBody>
          <a:bodyPr wrap="square" lIns="25400" tIns="25400" rIns="25400" bIns="25400" rtlCol="0" anchor="t">
            <a:normAutofit fontScale="85000" lnSpcReduction="10000"/>
          </a:bodyPr>
          <a:lstStyle/>
          <a:p>
            <a:pPr marL="0" indent="0" algn="l">
              <a:lnSpc>
                <a:spcPct val="100000"/>
              </a:lnSpc>
              <a:buNone/>
            </a:pPr>
            <a:r>
              <a:rPr lang="en-US" sz="18000" b="1" dirty="0">
                <a:solidFill>
                  <a:srgbClr val="777A86">
                    <a:alpha val="8000"/>
                  </a:srgbClr>
                </a:solidFill>
                <a:latin typeface="Century Gothic" pitchFamily="34" charset="0"/>
                <a:ea typeface="Century Gothic" pitchFamily="34" charset="-122"/>
                <a:cs typeface="Century Gothic" pitchFamily="34" charset="-120"/>
              </a:rPr>
              <a:t>01</a:t>
            </a:r>
            <a:endParaRPr lang="en-US" sz="18000" dirty="0">
              <a:solidFill>
                <a:srgbClr val="777A86">
                  <a:alpha val="8000"/>
                </a:srgbClr>
              </a:solidFill>
            </a:endParaRPr>
          </a:p>
        </p:txBody>
      </p:sp>
      <p:sp>
        <p:nvSpPr>
          <p:cNvPr id="8" name="Text 6"/>
          <p:cNvSpPr/>
          <p:nvPr/>
        </p:nvSpPr>
        <p:spPr>
          <a:xfrm>
            <a:off x="1143000" y="4082415"/>
            <a:ext cx="1648206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3BC8F1"/>
                </a:solidFill>
                <a:latin typeface="Century Gothic" pitchFamily="34" charset="0"/>
                <a:ea typeface="Century Gothic" pitchFamily="34" charset="-122"/>
                <a:cs typeface="Century Gothic" pitchFamily="34" charset="-120"/>
              </a:rPr>
              <a:t>ACT 1</a:t>
            </a:r>
            <a:endParaRPr lang="en-US" sz="1800" dirty="0"/>
          </a:p>
        </p:txBody>
      </p:sp>
      <p:sp>
        <p:nvSpPr>
          <p:cNvPr id="9" name="Text 7"/>
          <p:cNvSpPr/>
          <p:nvPr/>
        </p:nvSpPr>
        <p:spPr>
          <a:xfrm>
            <a:off x="1143000" y="4596765"/>
            <a:ext cx="13735050" cy="99822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454A5C"/>
                </a:solidFill>
                <a:latin typeface="Century Gothic" pitchFamily="34" charset="0"/>
                <a:ea typeface="Century Gothic" pitchFamily="34" charset="-122"/>
                <a:cs typeface="Century Gothic" pitchFamily="34" charset="-120"/>
              </a:rPr>
              <a:t>Problem</a:t>
            </a:r>
            <a:endParaRPr lang="en-US" sz="7200" dirty="0">
              <a:solidFill>
                <a:srgbClr val="454A5C"/>
              </a:solidFill>
            </a:endParaRPr>
          </a:p>
        </p:txBody>
      </p:sp>
      <p:sp>
        <p:nvSpPr>
          <p:cNvPr id="10" name="Text 8"/>
          <p:cNvSpPr/>
          <p:nvPr/>
        </p:nvSpPr>
        <p:spPr>
          <a:xfrm>
            <a:off x="1143000" y="5842635"/>
            <a:ext cx="12753975" cy="400050"/>
          </a:xfrm>
          <a:prstGeom prst="rect">
            <a:avLst/>
          </a:prstGeom>
          <a:noFill/>
          <a:ln/>
        </p:spPr>
        <p:txBody>
          <a:bodyPr wrap="square" lIns="25400" tIns="25400" rIns="25400" bIns="25400" rtlCol="0" anchor="t">
            <a:normAutofit/>
          </a:bodyPr>
          <a:lstStyle/>
          <a:p>
            <a:pPr marL="0" indent="0" algn="l">
              <a:buNone/>
            </a:pPr>
            <a:r>
              <a:rPr lang="en-US" sz="2250" dirty="0">
                <a:solidFill>
                  <a:srgbClr val="777A86"/>
                </a:solidFill>
                <a:latin typeface="Calibri" pitchFamily="34" charset="0"/>
                <a:ea typeface="Calibri" pitchFamily="34" charset="-122"/>
                <a:cs typeface="Calibri" pitchFamily="34" charset="-120"/>
              </a:rPr>
              <a:t>Handwritten prescriptions still dominate, and misreadings cost lives.</a:t>
            </a:r>
            <a:endParaRPr lang="en-US" sz="2250" dirty="0">
              <a:solidFill>
                <a:srgbClr val="777A86"/>
              </a:solidFill>
            </a:endParaRPr>
          </a:p>
        </p:txBody>
      </p:sp>
      <p:sp>
        <p:nvSpPr>
          <p:cNvPr id="11" name="Text 9"/>
          <p:cNvSpPr/>
          <p:nvPr/>
        </p:nvSpPr>
        <p:spPr>
          <a:xfrm>
            <a:off x="762000" y="8691563"/>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77A86"/>
                </a:solidFill>
                <a:latin typeface="Century Gothic" pitchFamily="34" charset="0"/>
                <a:ea typeface="Century Gothic" pitchFamily="34" charset="-122"/>
                <a:cs typeface="Century Gothic" pitchFamily="34" charset="-120"/>
              </a:rPr>
              <a:t>Medical Prescription OCR with TrOCR — ESI, Mai 2025</a:t>
            </a:r>
            <a:endParaRPr lang="en-US" sz="1350" dirty="0">
              <a:solidFill>
                <a:srgbClr val="777A86"/>
              </a:solidFill>
            </a:endParaRPr>
          </a:p>
        </p:txBody>
      </p:sp>
      <p:sp>
        <p:nvSpPr>
          <p:cNvPr id="12" name="Text 10"/>
          <p:cNvSpPr/>
          <p:nvPr/>
        </p:nvSpPr>
        <p:spPr>
          <a:xfrm>
            <a:off x="14787329" y="7658100"/>
            <a:ext cx="2738671" cy="2324100"/>
          </a:xfrm>
          <a:prstGeom prst="rect">
            <a:avLst/>
          </a:prstGeom>
          <a:noFill/>
          <a:ln/>
        </p:spPr>
        <p:txBody>
          <a:bodyPr wrap="square" lIns="25400" tIns="25400" rIns="25400" bIns="25400" rtlCol="0" anchor="t">
            <a:normAutofit fontScale="92500" lnSpcReduction="20000"/>
          </a:bodyPr>
          <a:lstStyle/>
          <a:p>
            <a:pPr marL="0" indent="0" algn="r">
              <a:buNone/>
            </a:pPr>
            <a:r>
              <a:rPr lang="en-US" sz="18000" b="1" kern="0" spc="27" dirty="0">
                <a:solidFill>
                  <a:srgbClr val="777A86"/>
                </a:solidFill>
                <a:latin typeface="Century Gothic" pitchFamily="34" charset="0"/>
                <a:ea typeface="Century Gothic" pitchFamily="34" charset="-122"/>
                <a:cs typeface="Century Gothic" pitchFamily="34" charset="-120"/>
              </a:rPr>
              <a:t>03</a:t>
            </a:r>
            <a:r>
              <a:rPr lang="en-US" sz="18000" b="1" kern="0" spc="27" dirty="0">
                <a:solidFill>
                  <a:srgbClr val="FFFFFF"/>
                </a:solidFill>
                <a:latin typeface="Century Gothic" pitchFamily="34" charset="0"/>
                <a:ea typeface="Century Gothic" pitchFamily="34" charset="-122"/>
                <a:cs typeface="Century Gothic" pitchFamily="34" charset="-120"/>
              </a:rPr>
              <a:t> </a:t>
            </a:r>
            <a:r>
              <a:rPr lang="en-US" sz="1350" kern="0" spc="27" dirty="0">
                <a:solidFill>
                  <a:srgbClr val="FFFFFF">
                    <a:alpha val="50000"/>
                  </a:srgbClr>
                </a:solidFill>
                <a:latin typeface="Century Gothic" pitchFamily="34" charset="0"/>
                <a:ea typeface="Century Gothic" pitchFamily="34" charset="-122"/>
                <a:cs typeface="Century Gothic" pitchFamily="34" charset="-120"/>
              </a:rPr>
              <a:t>/ 30</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777">
        <p159:morph option="byObject"/>
      </p:transition>
    </mc:Choice>
    <mc:Fallback>
      <p:transition spd="slow" advTm="777">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A3585"/>
                </a:solidFill>
                <a:latin typeface="Century Gothic" pitchFamily="34" charset="0"/>
                <a:ea typeface="Century Gothic" pitchFamily="34" charset="-122"/>
                <a:cs typeface="Century Gothic" pitchFamily="34" charset="-120"/>
              </a:rPr>
              <a:t>ACT 1 · THE PROBLEM</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Illegible handwriting harms patients</a:t>
            </a:r>
            <a:endParaRPr lang="en-US" sz="3600" dirty="0"/>
          </a:p>
        </p:txBody>
      </p:sp>
      <p:sp>
        <p:nvSpPr>
          <p:cNvPr id="9" name="Shape 7"/>
          <p:cNvSpPr/>
          <p:nvPr/>
        </p:nvSpPr>
        <p:spPr>
          <a:xfrm>
            <a:off x="952500" y="2265045"/>
            <a:ext cx="57150" cy="1562100"/>
          </a:xfrm>
          <a:prstGeom prst="rect">
            <a:avLst/>
          </a:prstGeom>
          <a:solidFill>
            <a:srgbClr val="FA3585"/>
          </a:solidFill>
          <a:ln/>
        </p:spPr>
      </p:sp>
      <p:sp>
        <p:nvSpPr>
          <p:cNvPr id="10" name="Text 8"/>
          <p:cNvSpPr/>
          <p:nvPr/>
        </p:nvSpPr>
        <p:spPr>
          <a:xfrm>
            <a:off x="1276350" y="2265045"/>
            <a:ext cx="7789736"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172144"/>
                </a:solidFill>
                <a:latin typeface="Century Gothic" pitchFamily="34" charset="0"/>
                <a:ea typeface="Century Gothic" pitchFamily="34" charset="-122"/>
                <a:cs typeface="Century Gothic" pitchFamily="34" charset="-120"/>
              </a:rPr>
              <a:t>7,000+</a:t>
            </a:r>
            <a:endParaRPr lang="en-US" sz="7200" dirty="0"/>
          </a:p>
        </p:txBody>
      </p:sp>
      <p:sp>
        <p:nvSpPr>
          <p:cNvPr id="11" name="Text 9"/>
          <p:cNvSpPr/>
          <p:nvPr/>
        </p:nvSpPr>
        <p:spPr>
          <a:xfrm>
            <a:off x="1276350" y="3312795"/>
            <a:ext cx="5494020" cy="55245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3A4368"/>
                </a:solidFill>
                <a:latin typeface="Calibri" pitchFamily="34" charset="0"/>
                <a:ea typeface="Calibri" pitchFamily="34" charset="-122"/>
                <a:cs typeface="Calibri" pitchFamily="34" charset="-120"/>
              </a:rPr>
              <a:t>deaths per year in the U.S. attributed to medication errors — illegible handwriting is a leading contributor.</a:t>
            </a:r>
            <a:endParaRPr lang="en-US" sz="1650" dirty="0"/>
          </a:p>
        </p:txBody>
      </p:sp>
      <p:sp>
        <p:nvSpPr>
          <p:cNvPr id="12" name="Text 10"/>
          <p:cNvSpPr/>
          <p:nvPr/>
        </p:nvSpPr>
        <p:spPr>
          <a:xfrm>
            <a:off x="779145" y="4112895"/>
            <a:ext cx="8136255" cy="187833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Paper prescriptions remain the default in many clinics worldwide</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Pharmacists frequently misread drug, dose, or frequency</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Errors propagate downstream into patient harm</a:t>
            </a:r>
            <a:endParaRPr lang="en-US" sz="1950" dirty="0"/>
          </a:p>
        </p:txBody>
      </p:sp>
      <p:sp>
        <p:nvSpPr>
          <p:cNvPr id="13" name="Shape 11"/>
          <p:cNvSpPr/>
          <p:nvPr/>
        </p:nvSpPr>
        <p:spPr>
          <a:xfrm>
            <a:off x="9448800" y="2188845"/>
            <a:ext cx="7886700" cy="5314950"/>
          </a:xfrm>
          <a:prstGeom prst="roundRect">
            <a:avLst>
              <a:gd name="adj" fmla="val 2509"/>
            </a:avLst>
          </a:prstGeom>
          <a:solidFill>
            <a:srgbClr val="F7F8FC"/>
          </a:solidFill>
          <a:ln w="9525">
            <a:solidFill>
              <a:srgbClr val="E6E8F0"/>
            </a:solidFill>
            <a:prstDash val="solid"/>
          </a:ln>
        </p:spPr>
      </p:sp>
      <p:sp>
        <p:nvSpPr>
          <p:cNvPr id="14" name="Shape 12"/>
          <p:cNvSpPr/>
          <p:nvPr/>
        </p:nvSpPr>
        <p:spPr>
          <a:xfrm>
            <a:off x="9629775" y="2084070"/>
            <a:ext cx="7524750" cy="5524500"/>
          </a:xfrm>
          <a:prstGeom prst="rect">
            <a:avLst/>
          </a:prstGeom>
          <a:solidFill>
            <a:srgbClr val="FDFDFD"/>
          </a:solidFill>
          <a:ln/>
        </p:spPr>
      </p:sp>
      <p:sp>
        <p:nvSpPr>
          <p:cNvPr id="15" name="Text 13"/>
          <p:cNvSpPr/>
          <p:nvPr/>
        </p:nvSpPr>
        <p:spPr>
          <a:xfrm>
            <a:off x="9811226" y="3228975"/>
            <a:ext cx="7161848" cy="312420"/>
          </a:xfrm>
          <a:prstGeom prst="rect">
            <a:avLst/>
          </a:prstGeom>
          <a:noFill/>
          <a:ln/>
        </p:spPr>
        <p:txBody>
          <a:bodyPr wrap="square" lIns="25400" tIns="25400" rIns="25400" bIns="25400" rtlCol="0" anchor="t">
            <a:normAutofit fontScale="92500"/>
          </a:bodyPr>
          <a:lstStyle/>
          <a:p>
            <a:pPr marL="0" indent="0" algn="ctr">
              <a:lnSpc>
                <a:spcPct val="160000"/>
              </a:lnSpc>
              <a:buNone/>
            </a:pPr>
            <a:r>
              <a:rPr lang="en-US" sz="1350" kern="0" spc="135" dirty="0">
                <a:solidFill>
                  <a:srgbClr val="7A8099"/>
                </a:solidFill>
                <a:latin typeface="Century Gothic" pitchFamily="34" charset="0"/>
                <a:ea typeface="Century Gothic" pitchFamily="34" charset="-122"/>
                <a:cs typeface="Century Gothic" pitchFamily="34" charset="-120"/>
              </a:rPr>
              <a:t>RIVERSIDE CLINIC — RX</a:t>
            </a:r>
            <a:endParaRPr lang="en-US" sz="1350" dirty="0"/>
          </a:p>
        </p:txBody>
      </p:sp>
      <p:sp>
        <p:nvSpPr>
          <p:cNvPr id="16" name="Text 14"/>
          <p:cNvSpPr/>
          <p:nvPr/>
        </p:nvSpPr>
        <p:spPr>
          <a:xfrm>
            <a:off x="9811226" y="3674745"/>
            <a:ext cx="7161848" cy="678180"/>
          </a:xfrm>
          <a:prstGeom prst="rect">
            <a:avLst/>
          </a:prstGeom>
          <a:noFill/>
          <a:ln/>
        </p:spPr>
        <p:txBody>
          <a:bodyPr wrap="square" lIns="25400" tIns="25400" rIns="25400" bIns="25400" rtlCol="0" anchor="t">
            <a:normAutofit fontScale="92500"/>
          </a:bodyPr>
          <a:lstStyle/>
          <a:p>
            <a:pPr marL="0" indent="0" algn="ctr">
              <a:lnSpc>
                <a:spcPct val="160000"/>
              </a:lnSpc>
              <a:buNone/>
            </a:pPr>
            <a:r>
              <a:rPr lang="en-US" sz="3150" dirty="0">
                <a:solidFill>
                  <a:srgbClr val="222222"/>
                </a:solidFill>
                <a:latin typeface="Caveat" pitchFamily="34" charset="0"/>
                <a:ea typeface="Caveat" pitchFamily="34" charset="-122"/>
                <a:cs typeface="Caveat" pitchFamily="34" charset="-120"/>
              </a:rPr>
              <a:t>Patient: J. Doe · Age 45</a:t>
            </a:r>
            <a:endParaRPr lang="en-US" sz="3150" dirty="0"/>
          </a:p>
        </p:txBody>
      </p:sp>
      <p:sp>
        <p:nvSpPr>
          <p:cNvPr id="17" name="Text 15"/>
          <p:cNvSpPr/>
          <p:nvPr/>
        </p:nvSpPr>
        <p:spPr>
          <a:xfrm>
            <a:off x="9811226" y="4314825"/>
            <a:ext cx="7161848" cy="678180"/>
          </a:xfrm>
          <a:prstGeom prst="rect">
            <a:avLst/>
          </a:prstGeom>
          <a:noFill/>
          <a:ln/>
        </p:spPr>
        <p:txBody>
          <a:bodyPr wrap="square" lIns="25400" tIns="25400" rIns="25400" bIns="25400" rtlCol="0" anchor="t">
            <a:normAutofit fontScale="92500" lnSpcReduction="10000"/>
          </a:bodyPr>
          <a:lstStyle/>
          <a:p>
            <a:pPr marL="0" indent="0" algn="ctr">
              <a:lnSpc>
                <a:spcPct val="160000"/>
              </a:lnSpc>
              <a:buNone/>
            </a:pPr>
            <a:r>
              <a:rPr lang="en-US" sz="3150" dirty="0">
                <a:solidFill>
                  <a:srgbClr val="222222"/>
                </a:solidFill>
                <a:latin typeface="Caveat" pitchFamily="34" charset="0"/>
                <a:ea typeface="Caveat" pitchFamily="34" charset="-122"/>
                <a:cs typeface="Caveat" pitchFamily="34" charset="-120"/>
              </a:rPr>
              <a:t>Metformin 500 mg — twice daily</a:t>
            </a:r>
            <a:endParaRPr lang="en-US" sz="3150" dirty="0"/>
          </a:p>
        </p:txBody>
      </p:sp>
      <p:sp>
        <p:nvSpPr>
          <p:cNvPr id="18" name="Text 16"/>
          <p:cNvSpPr/>
          <p:nvPr/>
        </p:nvSpPr>
        <p:spPr>
          <a:xfrm>
            <a:off x="9811226" y="4954905"/>
            <a:ext cx="7161848" cy="678180"/>
          </a:xfrm>
          <a:prstGeom prst="rect">
            <a:avLst/>
          </a:prstGeom>
          <a:noFill/>
          <a:ln/>
        </p:spPr>
        <p:txBody>
          <a:bodyPr wrap="square" lIns="25400" tIns="25400" rIns="25400" bIns="25400" rtlCol="0" anchor="t">
            <a:normAutofit fontScale="92500"/>
          </a:bodyPr>
          <a:lstStyle/>
          <a:p>
            <a:pPr marL="0" indent="0" algn="ctr">
              <a:lnSpc>
                <a:spcPct val="160000"/>
              </a:lnSpc>
              <a:buNone/>
            </a:pPr>
            <a:r>
              <a:rPr lang="en-US" sz="3150" dirty="0">
                <a:solidFill>
                  <a:srgbClr val="222222"/>
                </a:solidFill>
                <a:latin typeface="Caveat" pitchFamily="34" charset="0"/>
                <a:ea typeface="Caveat" pitchFamily="34" charset="-122"/>
                <a:cs typeface="Caveat" pitchFamily="34" charset="-120"/>
              </a:rPr>
              <a:t>Lisinopril 10 mg — at bedtime</a:t>
            </a:r>
            <a:endParaRPr lang="en-US" sz="3150" dirty="0"/>
          </a:p>
        </p:txBody>
      </p:sp>
      <p:sp>
        <p:nvSpPr>
          <p:cNvPr id="19" name="Text 17"/>
          <p:cNvSpPr/>
          <p:nvPr/>
        </p:nvSpPr>
        <p:spPr>
          <a:xfrm>
            <a:off x="9811226" y="5823585"/>
            <a:ext cx="7161848" cy="678180"/>
          </a:xfrm>
          <a:prstGeom prst="rect">
            <a:avLst/>
          </a:prstGeom>
          <a:noFill/>
          <a:ln/>
        </p:spPr>
        <p:txBody>
          <a:bodyPr wrap="square" lIns="25400" tIns="25400" rIns="25400" bIns="25400" rtlCol="0" anchor="t">
            <a:normAutofit fontScale="92500" lnSpcReduction="10000"/>
          </a:bodyPr>
          <a:lstStyle/>
          <a:p>
            <a:pPr marL="0" indent="0" algn="ctr">
              <a:lnSpc>
                <a:spcPct val="160000"/>
              </a:lnSpc>
              <a:buNone/>
            </a:pPr>
            <a:r>
              <a:rPr lang="en-US" sz="3150" i="1" dirty="0">
                <a:solidFill>
                  <a:srgbClr val="222222"/>
                </a:solidFill>
                <a:latin typeface="Caveat" pitchFamily="34" charset="0"/>
                <a:ea typeface="Caveat" pitchFamily="34" charset="-122"/>
                <a:cs typeface="Caveat" pitchFamily="34" charset="-120"/>
              </a:rPr>
              <a:t>— Dr. R. Patel</a:t>
            </a:r>
            <a:endParaRPr lang="en-US" sz="3150" dirty="0"/>
          </a:p>
        </p:txBody>
      </p:sp>
      <p:sp>
        <p:nvSpPr>
          <p:cNvPr id="20" name="Text 18"/>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21" name="Text 19"/>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04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38">
        <p159:morph option="byObject"/>
      </p:transition>
    </mc:Choice>
    <mc:Fallback>
      <p:transition spd="slow" advTm="438">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A3585"/>
                </a:solidFill>
                <a:latin typeface="Century Gothic" pitchFamily="34" charset="0"/>
                <a:ea typeface="Century Gothic" pitchFamily="34" charset="-122"/>
                <a:cs typeface="Century Gothic" pitchFamily="34" charset="-120"/>
              </a:rPr>
              <a:t>ACT 1 · WHY IT'S HARD</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Three pillars of difficulty</a:t>
            </a:r>
            <a:endParaRPr lang="en-US" sz="3600" dirty="0"/>
          </a:p>
        </p:txBody>
      </p:sp>
      <p:sp>
        <p:nvSpPr>
          <p:cNvPr id="9" name="Shape 7"/>
          <p:cNvSpPr/>
          <p:nvPr/>
        </p:nvSpPr>
        <p:spPr>
          <a:xfrm>
            <a:off x="952500" y="3129371"/>
            <a:ext cx="5232400" cy="2819400"/>
          </a:xfrm>
          <a:prstGeom prst="roundRect">
            <a:avLst>
              <a:gd name="adj" fmla="val 5405"/>
            </a:avLst>
          </a:prstGeom>
          <a:solidFill>
            <a:srgbClr val="FFFFFF"/>
          </a:solidFill>
          <a:ln w="9525">
            <a:solidFill>
              <a:srgbClr val="E6E8F0"/>
            </a:solidFill>
            <a:prstDash val="solid"/>
          </a:ln>
        </p:spPr>
      </p:sp>
      <p:sp>
        <p:nvSpPr>
          <p:cNvPr id="10" name="Shape 8"/>
          <p:cNvSpPr/>
          <p:nvPr/>
        </p:nvSpPr>
        <p:spPr>
          <a:xfrm>
            <a:off x="1228725" y="3392533"/>
            <a:ext cx="609600" cy="609600"/>
          </a:xfrm>
          <a:prstGeom prst="roundRect">
            <a:avLst>
              <a:gd name="adj" fmla="val 21875"/>
            </a:avLst>
          </a:prstGeom>
          <a:solidFill>
            <a:srgbClr val="3BC8F1"/>
          </a:solidFill>
          <a:ln/>
        </p:spPr>
      </p:sp>
      <p:sp>
        <p:nvSpPr>
          <p:cNvPr id="11" name="Text 9"/>
          <p:cNvSpPr/>
          <p:nvPr/>
        </p:nvSpPr>
        <p:spPr>
          <a:xfrm>
            <a:off x="1190625" y="3405596"/>
            <a:ext cx="685800" cy="6477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Century Gothic" pitchFamily="34" charset="0"/>
                <a:ea typeface="Century Gothic" pitchFamily="34" charset="-122"/>
                <a:cs typeface="Century Gothic" pitchFamily="34" charset="-120"/>
              </a:rPr>
              <a:t>Aa</a:t>
            </a:r>
            <a:endParaRPr lang="en-US" sz="2100" dirty="0"/>
          </a:p>
        </p:txBody>
      </p:sp>
      <p:sp>
        <p:nvSpPr>
          <p:cNvPr id="12" name="Text 10"/>
          <p:cNvSpPr/>
          <p:nvPr/>
        </p:nvSpPr>
        <p:spPr>
          <a:xfrm>
            <a:off x="1228725" y="4186646"/>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Domain vocabulary</a:t>
            </a:r>
            <a:endParaRPr lang="en-US" sz="1950" dirty="0"/>
          </a:p>
        </p:txBody>
      </p:sp>
      <p:sp>
        <p:nvSpPr>
          <p:cNvPr id="13" name="Text 11"/>
          <p:cNvSpPr/>
          <p:nvPr/>
        </p:nvSpPr>
        <p:spPr>
          <a:xfrm>
            <a:off x="1228725" y="4586696"/>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Drug names like Hydrochlorothiazide are out-of-distribution for any general OCR.</a:t>
            </a:r>
            <a:endParaRPr lang="en-US" sz="1500" dirty="0"/>
          </a:p>
        </p:txBody>
      </p:sp>
      <p:sp>
        <p:nvSpPr>
          <p:cNvPr id="14" name="Shape 12"/>
          <p:cNvSpPr/>
          <p:nvPr/>
        </p:nvSpPr>
        <p:spPr>
          <a:xfrm>
            <a:off x="6527800" y="3116308"/>
            <a:ext cx="5232400" cy="2819400"/>
          </a:xfrm>
          <a:prstGeom prst="roundRect">
            <a:avLst>
              <a:gd name="adj" fmla="val 5405"/>
            </a:avLst>
          </a:prstGeom>
          <a:solidFill>
            <a:srgbClr val="FFFFFF"/>
          </a:solidFill>
          <a:ln w="9525">
            <a:solidFill>
              <a:srgbClr val="E6E8F0"/>
            </a:solidFill>
            <a:prstDash val="solid"/>
          </a:ln>
        </p:spPr>
      </p:sp>
      <p:sp>
        <p:nvSpPr>
          <p:cNvPr id="15" name="Shape 13"/>
          <p:cNvSpPr/>
          <p:nvPr/>
        </p:nvSpPr>
        <p:spPr>
          <a:xfrm>
            <a:off x="6804025" y="3405596"/>
            <a:ext cx="609600" cy="609600"/>
          </a:xfrm>
          <a:prstGeom prst="roundRect">
            <a:avLst>
              <a:gd name="adj" fmla="val 21875"/>
            </a:avLst>
          </a:prstGeom>
          <a:solidFill>
            <a:srgbClr val="6070FF"/>
          </a:solidFill>
          <a:ln/>
        </p:spPr>
      </p:sp>
      <p:sp>
        <p:nvSpPr>
          <p:cNvPr id="16" name="Text 14"/>
          <p:cNvSpPr/>
          <p:nvPr/>
        </p:nvSpPr>
        <p:spPr>
          <a:xfrm>
            <a:off x="6765925" y="3392533"/>
            <a:ext cx="685800" cy="6477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Century Gothic" pitchFamily="34" charset="0"/>
                <a:ea typeface="Century Gothic" pitchFamily="34" charset="-122"/>
                <a:cs typeface="Century Gothic" pitchFamily="34" charset="-120"/>
              </a:rPr>
              <a:t>▦</a:t>
            </a:r>
            <a:endParaRPr lang="en-US" sz="2100" dirty="0"/>
          </a:p>
        </p:txBody>
      </p:sp>
      <p:sp>
        <p:nvSpPr>
          <p:cNvPr id="17" name="Text 15"/>
          <p:cNvSpPr/>
          <p:nvPr/>
        </p:nvSpPr>
        <p:spPr>
          <a:xfrm>
            <a:off x="6804025" y="4186646"/>
            <a:ext cx="4820349"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Layout variability</a:t>
            </a:r>
            <a:endParaRPr lang="en-US" sz="1950" dirty="0"/>
          </a:p>
        </p:txBody>
      </p:sp>
      <p:sp>
        <p:nvSpPr>
          <p:cNvPr id="18" name="Text 16"/>
          <p:cNvSpPr/>
          <p:nvPr/>
        </p:nvSpPr>
        <p:spPr>
          <a:xfrm>
            <a:off x="6804025" y="4586696"/>
            <a:ext cx="482034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Every clinic uses a different template — fields, ordering, headers, signatures.</a:t>
            </a:r>
            <a:endParaRPr lang="en-US" sz="1500" dirty="0"/>
          </a:p>
        </p:txBody>
      </p:sp>
      <p:sp>
        <p:nvSpPr>
          <p:cNvPr id="19" name="Shape 17"/>
          <p:cNvSpPr/>
          <p:nvPr/>
        </p:nvSpPr>
        <p:spPr>
          <a:xfrm>
            <a:off x="12103100" y="3129371"/>
            <a:ext cx="5232400" cy="2819400"/>
          </a:xfrm>
          <a:prstGeom prst="roundRect">
            <a:avLst>
              <a:gd name="adj" fmla="val 5405"/>
            </a:avLst>
          </a:prstGeom>
          <a:solidFill>
            <a:srgbClr val="FFFFFF"/>
          </a:solidFill>
          <a:ln w="9525">
            <a:solidFill>
              <a:srgbClr val="E6E8F0"/>
            </a:solidFill>
            <a:prstDash val="solid"/>
          </a:ln>
        </p:spPr>
      </p:sp>
      <p:sp>
        <p:nvSpPr>
          <p:cNvPr id="20" name="Shape 18"/>
          <p:cNvSpPr/>
          <p:nvPr/>
        </p:nvSpPr>
        <p:spPr>
          <a:xfrm>
            <a:off x="12379325" y="3405596"/>
            <a:ext cx="609600" cy="609600"/>
          </a:xfrm>
          <a:prstGeom prst="roundRect">
            <a:avLst>
              <a:gd name="adj" fmla="val 21875"/>
            </a:avLst>
          </a:prstGeom>
          <a:solidFill>
            <a:srgbClr val="FF8E38"/>
          </a:solidFill>
          <a:ln/>
        </p:spPr>
      </p:sp>
      <p:sp>
        <p:nvSpPr>
          <p:cNvPr id="21" name="Text 19"/>
          <p:cNvSpPr/>
          <p:nvPr/>
        </p:nvSpPr>
        <p:spPr>
          <a:xfrm>
            <a:off x="12341225" y="3392533"/>
            <a:ext cx="685800" cy="647700"/>
          </a:xfrm>
          <a:prstGeom prst="rect">
            <a:avLst/>
          </a:prstGeom>
          <a:noFill/>
          <a:ln/>
        </p:spPr>
        <p:txBody>
          <a:bodyPr wrap="square" lIns="25400" tIns="25400" rIns="25400" bIns="25400" rtlCol="0" anchor="ctr">
            <a:normAutofit/>
          </a:bodyPr>
          <a:lstStyle/>
          <a:p>
            <a:pPr marL="0" indent="0" algn="ctr">
              <a:buNone/>
            </a:pPr>
            <a:r>
              <a:rPr lang="en-US" sz="2100" b="1" dirty="0">
                <a:solidFill>
                  <a:srgbClr val="FFFFFF"/>
                </a:solidFill>
                <a:latin typeface="Century Gothic" pitchFamily="34" charset="0"/>
                <a:ea typeface="Century Gothic" pitchFamily="34" charset="-122"/>
                <a:cs typeface="Century Gothic" pitchFamily="34" charset="-120"/>
              </a:rPr>
              <a:t>◐</a:t>
            </a:r>
            <a:endParaRPr lang="en-US" sz="2100" dirty="0"/>
          </a:p>
        </p:txBody>
      </p:sp>
      <p:sp>
        <p:nvSpPr>
          <p:cNvPr id="22" name="Text 20"/>
          <p:cNvSpPr/>
          <p:nvPr/>
        </p:nvSpPr>
        <p:spPr>
          <a:xfrm>
            <a:off x="12379325" y="4186646"/>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Acquisition noise</a:t>
            </a:r>
            <a:endParaRPr lang="en-US" sz="1950" dirty="0"/>
          </a:p>
        </p:txBody>
      </p:sp>
      <p:sp>
        <p:nvSpPr>
          <p:cNvPr id="23" name="Text 21"/>
          <p:cNvSpPr/>
          <p:nvPr/>
        </p:nvSpPr>
        <p:spPr>
          <a:xfrm>
            <a:off x="12379325" y="4586696"/>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Phone photos bring shadows, skew, motion blur, low contrast and reflections.</a:t>
            </a:r>
            <a:endParaRPr lang="en-US" sz="1500" dirty="0"/>
          </a:p>
        </p:txBody>
      </p:sp>
      <p:sp>
        <p:nvSpPr>
          <p:cNvPr id="24" name="Text 22"/>
          <p:cNvSpPr/>
          <p:nvPr/>
        </p:nvSpPr>
        <p:spPr>
          <a:xfrm>
            <a:off x="952500" y="6224996"/>
            <a:ext cx="14716125"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A solution must handle all three together — printed-text OCR or generic deep models address only one dimension at most.</a:t>
            </a:r>
            <a:endParaRPr lang="en-US" sz="1950" dirty="0"/>
          </a:p>
        </p:txBody>
      </p:sp>
      <p:sp>
        <p:nvSpPr>
          <p:cNvPr id="25" name="Text 23"/>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26" name="Text 24"/>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05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56">
        <p159:morph option="byObject"/>
      </p:transition>
    </mc:Choice>
    <mc:Fallback>
      <p:transition spd="slow" advTm="556">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A3585"/>
                </a:solidFill>
                <a:latin typeface="Century Gothic" pitchFamily="34" charset="0"/>
                <a:ea typeface="Century Gothic" pitchFamily="34" charset="-122"/>
                <a:cs typeface="Century Gothic" pitchFamily="34" charset="-120"/>
              </a:rPr>
              <a:t>ACT 1 · STATE OF THE ART</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What's missing today</a:t>
            </a:r>
            <a:endParaRPr lang="en-US" sz="3600" dirty="0"/>
          </a:p>
        </p:txBody>
      </p:sp>
      <p:sp>
        <p:nvSpPr>
          <p:cNvPr id="9" name="Shape 7"/>
          <p:cNvSpPr/>
          <p:nvPr/>
        </p:nvSpPr>
        <p:spPr>
          <a:xfrm>
            <a:off x="952500" y="3362329"/>
            <a:ext cx="5875496" cy="19050"/>
          </a:xfrm>
          <a:prstGeom prst="rect">
            <a:avLst/>
          </a:prstGeom>
          <a:solidFill>
            <a:srgbClr val="172144"/>
          </a:solidFill>
          <a:ln/>
        </p:spPr>
      </p:sp>
      <p:sp>
        <p:nvSpPr>
          <p:cNvPr id="10" name="Text 8"/>
          <p:cNvSpPr/>
          <p:nvPr/>
        </p:nvSpPr>
        <p:spPr>
          <a:xfrm>
            <a:off x="1143000" y="3000379"/>
            <a:ext cx="5670761"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APPROACH</a:t>
            </a:r>
            <a:endParaRPr lang="en-US" sz="1200" dirty="0"/>
          </a:p>
        </p:txBody>
      </p:sp>
      <p:sp>
        <p:nvSpPr>
          <p:cNvPr id="11" name="Shape 9"/>
          <p:cNvSpPr/>
          <p:nvPr/>
        </p:nvSpPr>
        <p:spPr>
          <a:xfrm>
            <a:off x="6827996" y="3362329"/>
            <a:ext cx="3371215" cy="19050"/>
          </a:xfrm>
          <a:prstGeom prst="rect">
            <a:avLst/>
          </a:prstGeom>
          <a:solidFill>
            <a:srgbClr val="172144"/>
          </a:solidFill>
          <a:ln/>
        </p:spPr>
      </p:sp>
      <p:sp>
        <p:nvSpPr>
          <p:cNvPr id="12" name="Text 10"/>
          <p:cNvSpPr/>
          <p:nvPr/>
        </p:nvSpPr>
        <p:spPr>
          <a:xfrm>
            <a:off x="7018496" y="3000379"/>
            <a:ext cx="3091352"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CURSIVE HANDWRITING</a:t>
            </a:r>
            <a:endParaRPr lang="en-US" sz="1200" dirty="0"/>
          </a:p>
        </p:txBody>
      </p:sp>
      <p:sp>
        <p:nvSpPr>
          <p:cNvPr id="13" name="Shape 11"/>
          <p:cNvSpPr/>
          <p:nvPr/>
        </p:nvSpPr>
        <p:spPr>
          <a:xfrm>
            <a:off x="10199211" y="3362329"/>
            <a:ext cx="3263106" cy="19050"/>
          </a:xfrm>
          <a:prstGeom prst="rect">
            <a:avLst/>
          </a:prstGeom>
          <a:solidFill>
            <a:srgbClr val="172144"/>
          </a:solidFill>
          <a:ln/>
        </p:spPr>
      </p:sp>
      <p:sp>
        <p:nvSpPr>
          <p:cNvPr id="14" name="Text 12"/>
          <p:cNvSpPr/>
          <p:nvPr/>
        </p:nvSpPr>
        <p:spPr>
          <a:xfrm>
            <a:off x="10389711" y="3000379"/>
            <a:ext cx="2979999"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MEDICAL VOCABULARY</a:t>
            </a:r>
            <a:endParaRPr lang="en-US" sz="1200" dirty="0"/>
          </a:p>
        </p:txBody>
      </p:sp>
      <p:sp>
        <p:nvSpPr>
          <p:cNvPr id="15" name="Shape 13"/>
          <p:cNvSpPr/>
          <p:nvPr/>
        </p:nvSpPr>
        <p:spPr>
          <a:xfrm>
            <a:off x="13462318" y="3362329"/>
            <a:ext cx="3873182" cy="19050"/>
          </a:xfrm>
          <a:prstGeom prst="rect">
            <a:avLst/>
          </a:prstGeom>
          <a:solidFill>
            <a:srgbClr val="172144"/>
          </a:solidFill>
          <a:ln/>
        </p:spPr>
      </p:sp>
      <p:sp>
        <p:nvSpPr>
          <p:cNvPr id="16" name="Text 14"/>
          <p:cNvSpPr/>
          <p:nvPr/>
        </p:nvSpPr>
        <p:spPr>
          <a:xfrm>
            <a:off x="13652818" y="3000379"/>
            <a:ext cx="3608378"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PHONE-PHOTO ROBUSTNESS</a:t>
            </a:r>
            <a:endParaRPr lang="en-US" sz="1200" dirty="0"/>
          </a:p>
        </p:txBody>
      </p:sp>
      <p:sp>
        <p:nvSpPr>
          <p:cNvPr id="17" name="Shape 15"/>
          <p:cNvSpPr/>
          <p:nvPr/>
        </p:nvSpPr>
        <p:spPr>
          <a:xfrm>
            <a:off x="952500" y="3986216"/>
            <a:ext cx="16383000" cy="9525"/>
          </a:xfrm>
          <a:prstGeom prst="rect">
            <a:avLst/>
          </a:prstGeom>
          <a:solidFill>
            <a:srgbClr val="E6E8F0"/>
          </a:solidFill>
          <a:ln/>
        </p:spPr>
      </p:sp>
      <p:sp>
        <p:nvSpPr>
          <p:cNvPr id="18" name="Text 16"/>
          <p:cNvSpPr/>
          <p:nvPr/>
        </p:nvSpPr>
        <p:spPr>
          <a:xfrm>
            <a:off x="1143000" y="3552829"/>
            <a:ext cx="5670761" cy="309563"/>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Tesseract (classical OCR)</a:t>
            </a:r>
            <a:endParaRPr lang="en-US" sz="1650" dirty="0"/>
          </a:p>
        </p:txBody>
      </p:sp>
      <p:sp>
        <p:nvSpPr>
          <p:cNvPr id="19" name="Text 17"/>
          <p:cNvSpPr/>
          <p:nvPr/>
        </p:nvSpPr>
        <p:spPr>
          <a:xfrm>
            <a:off x="7018496" y="3552829"/>
            <a:ext cx="3091352" cy="309563"/>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Fails — built for print</a:t>
            </a:r>
            <a:endParaRPr lang="en-US" sz="1650" dirty="0"/>
          </a:p>
        </p:txBody>
      </p:sp>
      <p:sp>
        <p:nvSpPr>
          <p:cNvPr id="20" name="Text 18"/>
          <p:cNvSpPr/>
          <p:nvPr/>
        </p:nvSpPr>
        <p:spPr>
          <a:xfrm>
            <a:off x="10389711" y="3552829"/>
            <a:ext cx="2979999" cy="309563"/>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No domain prior</a:t>
            </a:r>
            <a:endParaRPr lang="en-US" sz="1650" dirty="0"/>
          </a:p>
        </p:txBody>
      </p:sp>
      <p:sp>
        <p:nvSpPr>
          <p:cNvPr id="21" name="Text 19"/>
          <p:cNvSpPr/>
          <p:nvPr/>
        </p:nvSpPr>
        <p:spPr>
          <a:xfrm>
            <a:off x="13652818" y="3552829"/>
            <a:ext cx="3608378" cy="309563"/>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Brittle to noise</a:t>
            </a:r>
            <a:endParaRPr lang="en-US" sz="1650" dirty="0"/>
          </a:p>
        </p:txBody>
      </p:sp>
      <p:sp>
        <p:nvSpPr>
          <p:cNvPr id="22" name="Shape 20"/>
          <p:cNvSpPr/>
          <p:nvPr/>
        </p:nvSpPr>
        <p:spPr>
          <a:xfrm>
            <a:off x="952500" y="4595816"/>
            <a:ext cx="16383000" cy="9525"/>
          </a:xfrm>
          <a:prstGeom prst="rect">
            <a:avLst/>
          </a:prstGeom>
          <a:solidFill>
            <a:srgbClr val="E6E8F0"/>
          </a:solidFill>
          <a:ln/>
        </p:spPr>
      </p:sp>
      <p:sp>
        <p:nvSpPr>
          <p:cNvPr id="23" name="Text 21"/>
          <p:cNvSpPr/>
          <p:nvPr/>
        </p:nvSpPr>
        <p:spPr>
          <a:xfrm>
            <a:off x="1143000" y="4167191"/>
            <a:ext cx="5670761"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Generic deep OCR (PaddleOCR, EasyOCR)</a:t>
            </a:r>
            <a:endParaRPr lang="en-US" sz="1650" dirty="0"/>
          </a:p>
        </p:txBody>
      </p:sp>
      <p:sp>
        <p:nvSpPr>
          <p:cNvPr id="24" name="Text 22"/>
          <p:cNvSpPr/>
          <p:nvPr/>
        </p:nvSpPr>
        <p:spPr>
          <a:xfrm>
            <a:off x="7018496" y="4167191"/>
            <a:ext cx="3091352" cy="304800"/>
          </a:xfrm>
          <a:prstGeom prst="rect">
            <a:avLst/>
          </a:prstGeom>
          <a:noFill/>
          <a:ln/>
        </p:spPr>
        <p:txBody>
          <a:bodyPr wrap="square" lIns="25400" tIns="25400" rIns="25400" bIns="25400" rtlCol="0" anchor="t">
            <a:normAutofit/>
          </a:bodyPr>
          <a:lstStyle/>
          <a:p>
            <a:pPr marL="0" indent="0" algn="l">
              <a:buNone/>
            </a:pPr>
            <a:r>
              <a:rPr lang="en-US" sz="1650" dirty="0">
                <a:solidFill>
                  <a:srgbClr val="172144"/>
                </a:solidFill>
                <a:latin typeface="Calibri" pitchFamily="34" charset="0"/>
                <a:ea typeface="Calibri" pitchFamily="34" charset="-122"/>
                <a:cs typeface="Calibri" pitchFamily="34" charset="-120"/>
              </a:rPr>
              <a:t>Partial — print-biased</a:t>
            </a:r>
            <a:endParaRPr lang="en-US" sz="1650" dirty="0"/>
          </a:p>
        </p:txBody>
      </p:sp>
      <p:sp>
        <p:nvSpPr>
          <p:cNvPr id="25" name="Text 23"/>
          <p:cNvSpPr/>
          <p:nvPr/>
        </p:nvSpPr>
        <p:spPr>
          <a:xfrm>
            <a:off x="10389711" y="4167191"/>
            <a:ext cx="2979999" cy="304800"/>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No medical context</a:t>
            </a:r>
            <a:endParaRPr lang="en-US" sz="1650" dirty="0"/>
          </a:p>
        </p:txBody>
      </p:sp>
      <p:sp>
        <p:nvSpPr>
          <p:cNvPr id="26" name="Text 24"/>
          <p:cNvSpPr/>
          <p:nvPr/>
        </p:nvSpPr>
        <p:spPr>
          <a:xfrm>
            <a:off x="13652818" y="4167191"/>
            <a:ext cx="3608378" cy="304800"/>
          </a:xfrm>
          <a:prstGeom prst="rect">
            <a:avLst/>
          </a:prstGeom>
          <a:noFill/>
          <a:ln/>
        </p:spPr>
        <p:txBody>
          <a:bodyPr wrap="square" lIns="25400" tIns="25400" rIns="25400" bIns="25400" rtlCol="0" anchor="t">
            <a:normAutofit/>
          </a:bodyPr>
          <a:lstStyle/>
          <a:p>
            <a:pPr marL="0" indent="0" algn="l">
              <a:buNone/>
            </a:pPr>
            <a:r>
              <a:rPr lang="en-US" sz="1650" dirty="0">
                <a:solidFill>
                  <a:srgbClr val="172144"/>
                </a:solidFill>
                <a:latin typeface="Calibri" pitchFamily="34" charset="0"/>
                <a:ea typeface="Calibri" pitchFamily="34" charset="-122"/>
                <a:cs typeface="Calibri" pitchFamily="34" charset="-120"/>
              </a:rPr>
              <a:t>Moderate</a:t>
            </a:r>
            <a:endParaRPr lang="en-US" sz="1650" dirty="0"/>
          </a:p>
        </p:txBody>
      </p:sp>
      <p:sp>
        <p:nvSpPr>
          <p:cNvPr id="27" name="Shape 25"/>
          <p:cNvSpPr/>
          <p:nvPr/>
        </p:nvSpPr>
        <p:spPr>
          <a:xfrm>
            <a:off x="952500" y="5205416"/>
            <a:ext cx="16383000" cy="9525"/>
          </a:xfrm>
          <a:prstGeom prst="rect">
            <a:avLst/>
          </a:prstGeom>
          <a:solidFill>
            <a:srgbClr val="E6E8F0"/>
          </a:solidFill>
          <a:ln/>
        </p:spPr>
      </p:sp>
      <p:sp>
        <p:nvSpPr>
          <p:cNvPr id="28" name="Text 26"/>
          <p:cNvSpPr/>
          <p:nvPr/>
        </p:nvSpPr>
        <p:spPr>
          <a:xfrm>
            <a:off x="1143000" y="4776791"/>
            <a:ext cx="5670761"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TrOCR base-handwritten</a:t>
            </a:r>
            <a:endParaRPr lang="en-US" sz="1650" dirty="0"/>
          </a:p>
        </p:txBody>
      </p:sp>
      <p:sp>
        <p:nvSpPr>
          <p:cNvPr id="29" name="Text 27"/>
          <p:cNvSpPr/>
          <p:nvPr/>
        </p:nvSpPr>
        <p:spPr>
          <a:xfrm>
            <a:off x="7018496" y="4776791"/>
            <a:ext cx="3091352"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Pretrained on IAM</a:t>
            </a:r>
            <a:endParaRPr lang="en-US" sz="1650" dirty="0"/>
          </a:p>
        </p:txBody>
      </p:sp>
      <p:sp>
        <p:nvSpPr>
          <p:cNvPr id="30" name="Text 28"/>
          <p:cNvSpPr/>
          <p:nvPr/>
        </p:nvSpPr>
        <p:spPr>
          <a:xfrm>
            <a:off x="10389711" y="4776791"/>
            <a:ext cx="2979999" cy="304800"/>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Generic English LM</a:t>
            </a:r>
            <a:endParaRPr lang="en-US" sz="1650" dirty="0"/>
          </a:p>
        </p:txBody>
      </p:sp>
      <p:sp>
        <p:nvSpPr>
          <p:cNvPr id="31" name="Text 29"/>
          <p:cNvSpPr/>
          <p:nvPr/>
        </p:nvSpPr>
        <p:spPr>
          <a:xfrm>
            <a:off x="13652818" y="4776791"/>
            <a:ext cx="3608378" cy="304800"/>
          </a:xfrm>
          <a:prstGeom prst="rect">
            <a:avLst/>
          </a:prstGeom>
          <a:noFill/>
          <a:ln/>
        </p:spPr>
        <p:txBody>
          <a:bodyPr wrap="square" lIns="25400" tIns="25400" rIns="25400" bIns="25400" rtlCol="0" anchor="t">
            <a:normAutofit/>
          </a:bodyPr>
          <a:lstStyle/>
          <a:p>
            <a:pPr marL="0" indent="0" algn="l">
              <a:buNone/>
            </a:pPr>
            <a:r>
              <a:rPr lang="en-US" sz="1650" dirty="0">
                <a:solidFill>
                  <a:srgbClr val="172144"/>
                </a:solidFill>
                <a:latin typeface="Calibri" pitchFamily="34" charset="0"/>
                <a:ea typeface="Calibri" pitchFamily="34" charset="-122"/>
                <a:cs typeface="Calibri" pitchFamily="34" charset="-120"/>
              </a:rPr>
              <a:t>Moderate</a:t>
            </a:r>
            <a:endParaRPr lang="en-US" sz="1650" dirty="0"/>
          </a:p>
        </p:txBody>
      </p:sp>
      <p:sp>
        <p:nvSpPr>
          <p:cNvPr id="32" name="Shape 30"/>
          <p:cNvSpPr/>
          <p:nvPr/>
        </p:nvSpPr>
        <p:spPr>
          <a:xfrm>
            <a:off x="952500" y="5815016"/>
            <a:ext cx="16383000" cy="9525"/>
          </a:xfrm>
          <a:prstGeom prst="rect">
            <a:avLst/>
          </a:prstGeom>
          <a:solidFill>
            <a:srgbClr val="E6E8F0"/>
          </a:solidFill>
          <a:ln/>
        </p:spPr>
      </p:sp>
      <p:sp>
        <p:nvSpPr>
          <p:cNvPr id="33" name="Text 31"/>
          <p:cNvSpPr/>
          <p:nvPr/>
        </p:nvSpPr>
        <p:spPr>
          <a:xfrm>
            <a:off x="1143000" y="5386391"/>
            <a:ext cx="5670761"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Fine-tuned TrOCR (ours)</a:t>
            </a:r>
            <a:endParaRPr lang="en-US" sz="1650" dirty="0"/>
          </a:p>
        </p:txBody>
      </p:sp>
      <p:sp>
        <p:nvSpPr>
          <p:cNvPr id="34" name="Text 32"/>
          <p:cNvSpPr/>
          <p:nvPr/>
        </p:nvSpPr>
        <p:spPr>
          <a:xfrm>
            <a:off x="7018496" y="5386391"/>
            <a:ext cx="3091352"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 handwriting prior</a:t>
            </a:r>
            <a:endParaRPr lang="en-US" sz="1650" dirty="0"/>
          </a:p>
        </p:txBody>
      </p:sp>
      <p:sp>
        <p:nvSpPr>
          <p:cNvPr id="35" name="Text 33"/>
          <p:cNvSpPr/>
          <p:nvPr/>
        </p:nvSpPr>
        <p:spPr>
          <a:xfrm>
            <a:off x="10389711" y="5386391"/>
            <a:ext cx="2979999"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 prescription prior</a:t>
            </a:r>
            <a:endParaRPr lang="en-US" sz="1650" dirty="0"/>
          </a:p>
        </p:txBody>
      </p:sp>
      <p:sp>
        <p:nvSpPr>
          <p:cNvPr id="36" name="Text 34"/>
          <p:cNvSpPr/>
          <p:nvPr/>
        </p:nvSpPr>
        <p:spPr>
          <a:xfrm>
            <a:off x="13652818" y="5386391"/>
            <a:ext cx="3608378"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 augmented training</a:t>
            </a:r>
            <a:endParaRPr lang="en-US" sz="1650" dirty="0"/>
          </a:p>
        </p:txBody>
      </p:sp>
      <p:sp>
        <p:nvSpPr>
          <p:cNvPr id="37" name="Text 35"/>
          <p:cNvSpPr/>
          <p:nvPr/>
        </p:nvSpPr>
        <p:spPr>
          <a:xfrm>
            <a:off x="952500" y="6115054"/>
            <a:ext cx="14716125"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Fine-tuning a handwritten OCR backbone on prescription data closes the vocabulary gap while keeping the cursive prior.</a:t>
            </a:r>
            <a:endParaRPr lang="en-US" sz="1950" dirty="0"/>
          </a:p>
        </p:txBody>
      </p:sp>
      <p:sp>
        <p:nvSpPr>
          <p:cNvPr id="38" name="Text 36"/>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9" name="Text 37"/>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06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00">
        <p159:morph option="byObject"/>
      </p:transition>
    </mc:Choice>
    <mc:Fallback>
      <p:transition spd="slow" advTm="5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14827886" y="762000"/>
            <a:ext cx="2393315" cy="2324100"/>
          </a:xfrm>
          <a:prstGeom prst="rect">
            <a:avLst/>
          </a:prstGeom>
          <a:noFill/>
          <a:ln/>
        </p:spPr>
        <p:txBody>
          <a:bodyPr wrap="square" lIns="25400" tIns="25400" rIns="25400" bIns="25400" rtlCol="0" anchor="t">
            <a:normAutofit fontScale="85000" lnSpcReduction="10000"/>
          </a:bodyPr>
          <a:lstStyle/>
          <a:p>
            <a:pPr marL="0" indent="0" algn="l">
              <a:lnSpc>
                <a:spcPct val="100000"/>
              </a:lnSpc>
              <a:buNone/>
            </a:pPr>
            <a:r>
              <a:rPr lang="en-US" sz="18000" b="1" dirty="0">
                <a:solidFill>
                  <a:srgbClr val="777A86">
                    <a:alpha val="8000"/>
                  </a:srgbClr>
                </a:solidFill>
                <a:latin typeface="Century Gothic" pitchFamily="34" charset="0"/>
                <a:ea typeface="Century Gothic" pitchFamily="34" charset="-122"/>
                <a:cs typeface="Century Gothic" pitchFamily="34" charset="-120"/>
              </a:rPr>
              <a:t>02</a:t>
            </a:r>
            <a:endParaRPr lang="en-US" sz="18000" dirty="0">
              <a:solidFill>
                <a:srgbClr val="777A86">
                  <a:alpha val="8000"/>
                </a:srgbClr>
              </a:solidFill>
            </a:endParaRPr>
          </a:p>
        </p:txBody>
      </p:sp>
      <p:sp>
        <p:nvSpPr>
          <p:cNvPr id="8" name="Text 6"/>
          <p:cNvSpPr/>
          <p:nvPr/>
        </p:nvSpPr>
        <p:spPr>
          <a:xfrm>
            <a:off x="1143000" y="4082415"/>
            <a:ext cx="1648206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6070FF"/>
                </a:solidFill>
                <a:latin typeface="Century Gothic" pitchFamily="34" charset="0"/>
                <a:ea typeface="Century Gothic" pitchFamily="34" charset="-122"/>
                <a:cs typeface="Century Gothic" pitchFamily="34" charset="-120"/>
              </a:rPr>
              <a:t>ACT 2</a:t>
            </a:r>
            <a:endParaRPr lang="en-US" sz="1800" dirty="0"/>
          </a:p>
        </p:txBody>
      </p:sp>
      <p:sp>
        <p:nvSpPr>
          <p:cNvPr id="9" name="Text 7"/>
          <p:cNvSpPr/>
          <p:nvPr/>
        </p:nvSpPr>
        <p:spPr>
          <a:xfrm>
            <a:off x="1143000" y="4596765"/>
            <a:ext cx="13735050" cy="99822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454A5C"/>
                </a:solidFill>
                <a:latin typeface="Century Gothic" pitchFamily="34" charset="0"/>
                <a:ea typeface="Century Gothic" pitchFamily="34" charset="-122"/>
                <a:cs typeface="Century Gothic" pitchFamily="34" charset="-120"/>
              </a:rPr>
              <a:t>Solution</a:t>
            </a:r>
            <a:endParaRPr lang="en-US" sz="7200" dirty="0">
              <a:solidFill>
                <a:srgbClr val="454A5C"/>
              </a:solidFill>
            </a:endParaRPr>
          </a:p>
        </p:txBody>
      </p:sp>
      <p:sp>
        <p:nvSpPr>
          <p:cNvPr id="10" name="Text 8"/>
          <p:cNvSpPr/>
          <p:nvPr/>
        </p:nvSpPr>
        <p:spPr>
          <a:xfrm>
            <a:off x="1143000" y="5842635"/>
            <a:ext cx="12753975" cy="400050"/>
          </a:xfrm>
          <a:prstGeom prst="rect">
            <a:avLst/>
          </a:prstGeom>
          <a:noFill/>
          <a:ln/>
        </p:spPr>
        <p:txBody>
          <a:bodyPr wrap="square" lIns="25400" tIns="25400" rIns="25400" bIns="25400" rtlCol="0" anchor="t">
            <a:normAutofit/>
          </a:bodyPr>
          <a:lstStyle/>
          <a:p>
            <a:pPr marL="0" indent="0" algn="l">
              <a:buNone/>
            </a:pPr>
            <a:r>
              <a:rPr lang="en-US" sz="2250" dirty="0">
                <a:solidFill>
                  <a:srgbClr val="777A86"/>
                </a:solidFill>
                <a:latin typeface="Calibri" pitchFamily="34" charset="0"/>
                <a:ea typeface="Calibri" pitchFamily="34" charset="-122"/>
                <a:cs typeface="Calibri" pitchFamily="34" charset="-120"/>
              </a:rPr>
              <a:t>A fine-tuned TrOCR pipeline, end to end.</a:t>
            </a:r>
            <a:endParaRPr lang="en-US" sz="2250" dirty="0">
              <a:solidFill>
                <a:srgbClr val="777A86"/>
              </a:solidFill>
            </a:endParaRPr>
          </a:p>
        </p:txBody>
      </p:sp>
      <p:sp>
        <p:nvSpPr>
          <p:cNvPr id="11" name="Text 9"/>
          <p:cNvSpPr/>
          <p:nvPr/>
        </p:nvSpPr>
        <p:spPr>
          <a:xfrm>
            <a:off x="762000" y="8691563"/>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77A86"/>
                </a:solidFill>
                <a:latin typeface="Century Gothic" pitchFamily="34" charset="0"/>
                <a:ea typeface="Century Gothic" pitchFamily="34" charset="-122"/>
                <a:cs typeface="Century Gothic" pitchFamily="34" charset="-120"/>
              </a:rPr>
              <a:t>Medical Prescription OCR with TrOCR — ESI, Mai 2025</a:t>
            </a:r>
            <a:endParaRPr lang="en-US" sz="1350" dirty="0">
              <a:solidFill>
                <a:srgbClr val="777A86"/>
              </a:solidFill>
            </a:endParaRPr>
          </a:p>
        </p:txBody>
      </p:sp>
      <p:sp>
        <p:nvSpPr>
          <p:cNvPr id="12" name="Text 10"/>
          <p:cNvSpPr/>
          <p:nvPr/>
        </p:nvSpPr>
        <p:spPr>
          <a:xfrm>
            <a:off x="14787329" y="7658100"/>
            <a:ext cx="2738671" cy="2324100"/>
          </a:xfrm>
          <a:prstGeom prst="rect">
            <a:avLst/>
          </a:prstGeom>
          <a:noFill/>
          <a:ln/>
        </p:spPr>
        <p:txBody>
          <a:bodyPr wrap="square" lIns="25400" tIns="25400" rIns="25400" bIns="25400" rtlCol="0" anchor="t">
            <a:normAutofit fontScale="92500" lnSpcReduction="20000"/>
          </a:bodyPr>
          <a:lstStyle/>
          <a:p>
            <a:pPr marL="0" indent="0" algn="r">
              <a:buNone/>
            </a:pPr>
            <a:r>
              <a:rPr lang="en-US" sz="18000" b="1" kern="0" spc="27" dirty="0">
                <a:solidFill>
                  <a:srgbClr val="777A86"/>
                </a:solidFill>
                <a:latin typeface="Century Gothic" pitchFamily="34" charset="0"/>
                <a:ea typeface="Century Gothic" pitchFamily="34" charset="-122"/>
                <a:cs typeface="Century Gothic" pitchFamily="34" charset="-120"/>
              </a:rPr>
              <a:t>07 </a:t>
            </a:r>
            <a:r>
              <a:rPr lang="en-US" sz="1350" kern="0" spc="27" dirty="0">
                <a:solidFill>
                  <a:srgbClr val="777A86"/>
                </a:solidFill>
                <a:latin typeface="Century Gothic" pitchFamily="34" charset="0"/>
                <a:ea typeface="Century Gothic" pitchFamily="34" charset="-122"/>
                <a:cs typeface="Century Gothic" pitchFamily="34" charset="-120"/>
              </a:rPr>
              <a:t>/ 30</a:t>
            </a:r>
            <a:endParaRPr lang="en-US" sz="1350" dirty="0">
              <a:solidFill>
                <a:srgbClr val="777A86"/>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92">
        <p159:morph option="byObject"/>
      </p:transition>
    </mc:Choice>
    <mc:Fallback>
      <p:transition spd="slow" advTm="492">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6070FF"/>
                </a:solidFill>
                <a:latin typeface="Century Gothic" pitchFamily="34" charset="0"/>
                <a:ea typeface="Century Gothic" pitchFamily="34" charset="-122"/>
                <a:cs typeface="Century Gothic" pitchFamily="34" charset="-120"/>
              </a:rPr>
              <a:t>ACT 2 · ONE SLIDE</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Pipeline overview</a:t>
            </a:r>
            <a:endParaRPr lang="en-US" sz="3600" dirty="0"/>
          </a:p>
        </p:txBody>
      </p:sp>
      <p:sp>
        <p:nvSpPr>
          <p:cNvPr id="9" name="Shape 7"/>
          <p:cNvSpPr/>
          <p:nvPr/>
        </p:nvSpPr>
        <p:spPr>
          <a:xfrm>
            <a:off x="952500" y="3074670"/>
            <a:ext cx="2249488" cy="1600200"/>
          </a:xfrm>
          <a:prstGeom prst="roundRect">
            <a:avLst>
              <a:gd name="adj" fmla="val 8333"/>
            </a:avLst>
          </a:prstGeom>
          <a:solidFill>
            <a:srgbClr val="172144"/>
          </a:solidFill>
          <a:ln/>
        </p:spPr>
      </p:sp>
      <p:sp>
        <p:nvSpPr>
          <p:cNvPr id="10" name="Text 8"/>
          <p:cNvSpPr/>
          <p:nvPr/>
        </p:nvSpPr>
        <p:spPr>
          <a:xfrm>
            <a:off x="1727279" y="3616641"/>
            <a:ext cx="699929" cy="295275"/>
          </a:xfrm>
          <a:prstGeom prst="rect">
            <a:avLst/>
          </a:prstGeom>
          <a:noFill/>
          <a:ln/>
        </p:spPr>
        <p:txBody>
          <a:bodyPr wrap="square" lIns="0" tIns="0" rIns="0" bIns="0" rtlCol="0" anchor="t">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Image</a:t>
            </a:r>
            <a:endParaRPr lang="en-US" sz="1650" dirty="0"/>
          </a:p>
        </p:txBody>
      </p:sp>
      <p:sp>
        <p:nvSpPr>
          <p:cNvPr id="11" name="Text 9"/>
          <p:cNvSpPr/>
          <p:nvPr/>
        </p:nvSpPr>
        <p:spPr>
          <a:xfrm>
            <a:off x="1066800" y="3946207"/>
            <a:ext cx="2020888" cy="209550"/>
          </a:xfrm>
          <a:prstGeom prst="rect">
            <a:avLst/>
          </a:prstGeom>
          <a:noFill/>
          <a:ln/>
        </p:spPr>
        <p:txBody>
          <a:bodyPr wrap="square" lIns="25400" tIns="25400" rIns="25400" bIns="25400" rtlCol="0" anchor="t">
            <a:normAutofit lnSpcReduction="10000"/>
          </a:bodyPr>
          <a:lstStyle/>
          <a:p>
            <a:pPr marL="0" indent="0" algn="ctr">
              <a:buNone/>
            </a:pPr>
            <a:r>
              <a:rPr lang="en-US" sz="1050" dirty="0">
                <a:solidFill>
                  <a:srgbClr val="FFFFFF">
                    <a:alpha val="85000"/>
                  </a:srgbClr>
                </a:solidFill>
                <a:latin typeface="Century Gothic" pitchFamily="34" charset="0"/>
                <a:ea typeface="Century Gothic" pitchFamily="34" charset="-122"/>
                <a:cs typeface="Century Gothic" pitchFamily="34" charset="-120"/>
              </a:rPr>
              <a:t>JPG / PNG / PDF</a:t>
            </a:r>
            <a:endParaRPr lang="en-US" sz="1050" dirty="0"/>
          </a:p>
        </p:txBody>
      </p:sp>
      <p:sp>
        <p:nvSpPr>
          <p:cNvPr id="12" name="Text 10"/>
          <p:cNvSpPr/>
          <p:nvPr/>
        </p:nvSpPr>
        <p:spPr>
          <a:xfrm>
            <a:off x="3335338" y="366045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13" name="Shape 11"/>
          <p:cNvSpPr/>
          <p:nvPr/>
        </p:nvSpPr>
        <p:spPr>
          <a:xfrm>
            <a:off x="3779044" y="3074670"/>
            <a:ext cx="2249646" cy="1600200"/>
          </a:xfrm>
          <a:prstGeom prst="roundRect">
            <a:avLst>
              <a:gd name="adj" fmla="val 8333"/>
            </a:avLst>
          </a:prstGeom>
          <a:solidFill>
            <a:srgbClr val="3BC8F1"/>
          </a:solidFill>
          <a:ln/>
        </p:spPr>
      </p:sp>
      <p:sp>
        <p:nvSpPr>
          <p:cNvPr id="14" name="Text 12"/>
          <p:cNvSpPr/>
          <p:nvPr/>
        </p:nvSpPr>
        <p:spPr>
          <a:xfrm>
            <a:off x="4325383" y="3631882"/>
            <a:ext cx="1154588" cy="295275"/>
          </a:xfrm>
          <a:prstGeom prst="rect">
            <a:avLst/>
          </a:prstGeom>
          <a:noFill/>
          <a:ln/>
        </p:spPr>
        <p:txBody>
          <a:bodyPr wrap="square" lIns="0" tIns="0" rIns="0" bIns="0" rtlCol="0" anchor="t">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Preprocess</a:t>
            </a:r>
            <a:endParaRPr lang="en-US" sz="1650" dirty="0"/>
          </a:p>
        </p:txBody>
      </p:sp>
      <p:sp>
        <p:nvSpPr>
          <p:cNvPr id="15" name="Text 13"/>
          <p:cNvSpPr/>
          <p:nvPr/>
        </p:nvSpPr>
        <p:spPr>
          <a:xfrm>
            <a:off x="3893344" y="3946207"/>
            <a:ext cx="2021046" cy="209550"/>
          </a:xfrm>
          <a:prstGeom prst="rect">
            <a:avLst/>
          </a:prstGeom>
          <a:noFill/>
          <a:ln/>
        </p:spPr>
        <p:txBody>
          <a:bodyPr wrap="square" lIns="25400" tIns="25400" rIns="25400" bIns="25400" rtlCol="0" anchor="t">
            <a:normAutofit lnSpcReduction="10000"/>
          </a:bodyPr>
          <a:lstStyle/>
          <a:p>
            <a:pPr marL="0" indent="0" algn="ctr">
              <a:buNone/>
            </a:pPr>
            <a:r>
              <a:rPr lang="en-US" sz="1050" dirty="0">
                <a:solidFill>
                  <a:srgbClr val="FFFFFF">
                    <a:alpha val="85000"/>
                  </a:srgbClr>
                </a:solidFill>
                <a:latin typeface="Century Gothic" pitchFamily="34" charset="0"/>
                <a:ea typeface="Century Gothic" pitchFamily="34" charset="-122"/>
                <a:cs typeface="Century Gothic" pitchFamily="34" charset="-120"/>
              </a:rPr>
              <a:t>denoise · binarize · deskew</a:t>
            </a:r>
            <a:endParaRPr lang="en-US" sz="1050" dirty="0"/>
          </a:p>
        </p:txBody>
      </p:sp>
      <p:sp>
        <p:nvSpPr>
          <p:cNvPr id="16" name="Text 14"/>
          <p:cNvSpPr/>
          <p:nvPr/>
        </p:nvSpPr>
        <p:spPr>
          <a:xfrm>
            <a:off x="6162040" y="366045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17" name="Shape 15"/>
          <p:cNvSpPr/>
          <p:nvPr/>
        </p:nvSpPr>
        <p:spPr>
          <a:xfrm>
            <a:off x="6605746" y="3074670"/>
            <a:ext cx="2249646" cy="1600200"/>
          </a:xfrm>
          <a:prstGeom prst="roundRect">
            <a:avLst>
              <a:gd name="adj" fmla="val 8333"/>
            </a:avLst>
          </a:prstGeom>
          <a:solidFill>
            <a:srgbClr val="6070FF"/>
          </a:solidFill>
          <a:ln/>
        </p:spPr>
      </p:sp>
      <p:sp>
        <p:nvSpPr>
          <p:cNvPr id="18" name="Text 16"/>
          <p:cNvSpPr/>
          <p:nvPr/>
        </p:nvSpPr>
        <p:spPr>
          <a:xfrm>
            <a:off x="6768068" y="3601401"/>
            <a:ext cx="1925002" cy="295275"/>
          </a:xfrm>
          <a:prstGeom prst="rect">
            <a:avLst/>
          </a:prstGeom>
          <a:noFill/>
          <a:ln/>
        </p:spPr>
        <p:txBody>
          <a:bodyPr wrap="square" lIns="0" tIns="0" rIns="0" bIns="0" rtlCol="0" anchor="t">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Line segmentation</a:t>
            </a:r>
            <a:endParaRPr lang="en-US" sz="1650" dirty="0"/>
          </a:p>
        </p:txBody>
      </p:sp>
      <p:sp>
        <p:nvSpPr>
          <p:cNvPr id="19" name="Text 17"/>
          <p:cNvSpPr/>
          <p:nvPr/>
        </p:nvSpPr>
        <p:spPr>
          <a:xfrm>
            <a:off x="6720046" y="3946207"/>
            <a:ext cx="2021046" cy="209550"/>
          </a:xfrm>
          <a:prstGeom prst="rect">
            <a:avLst/>
          </a:prstGeom>
          <a:noFill/>
          <a:ln/>
        </p:spPr>
        <p:txBody>
          <a:bodyPr wrap="square" lIns="25400" tIns="25400" rIns="25400" bIns="25400" rtlCol="0" anchor="t">
            <a:normAutofit lnSpcReduction="10000"/>
          </a:bodyPr>
          <a:lstStyle/>
          <a:p>
            <a:pPr marL="0" indent="0" algn="ctr">
              <a:buNone/>
            </a:pPr>
            <a:r>
              <a:rPr lang="en-US" sz="1050" dirty="0">
                <a:solidFill>
                  <a:srgbClr val="FFFFFF">
                    <a:alpha val="85000"/>
                  </a:srgbClr>
                </a:solidFill>
                <a:latin typeface="Century Gothic" pitchFamily="34" charset="0"/>
                <a:ea typeface="Century Gothic" pitchFamily="34" charset="-122"/>
                <a:cs typeface="Century Gothic" pitchFamily="34" charset="-120"/>
              </a:rPr>
              <a:t>horiz. projection · contours</a:t>
            </a:r>
            <a:endParaRPr lang="en-US" sz="1050" dirty="0"/>
          </a:p>
        </p:txBody>
      </p:sp>
      <p:sp>
        <p:nvSpPr>
          <p:cNvPr id="20" name="Text 18"/>
          <p:cNvSpPr/>
          <p:nvPr/>
        </p:nvSpPr>
        <p:spPr>
          <a:xfrm>
            <a:off x="8988743" y="366045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1" name="Shape 19"/>
          <p:cNvSpPr/>
          <p:nvPr/>
        </p:nvSpPr>
        <p:spPr>
          <a:xfrm>
            <a:off x="9432449" y="3074670"/>
            <a:ext cx="2249646" cy="1600200"/>
          </a:xfrm>
          <a:prstGeom prst="roundRect">
            <a:avLst>
              <a:gd name="adj" fmla="val 8333"/>
            </a:avLst>
          </a:prstGeom>
          <a:solidFill>
            <a:srgbClr val="FA3585"/>
          </a:solidFill>
          <a:ln/>
        </p:spPr>
      </p:sp>
      <p:sp>
        <p:nvSpPr>
          <p:cNvPr id="22" name="Text 20"/>
          <p:cNvSpPr/>
          <p:nvPr/>
        </p:nvSpPr>
        <p:spPr>
          <a:xfrm>
            <a:off x="10205879" y="3616641"/>
            <a:ext cx="702785" cy="295275"/>
          </a:xfrm>
          <a:prstGeom prst="rect">
            <a:avLst/>
          </a:prstGeom>
          <a:noFill/>
          <a:ln/>
        </p:spPr>
        <p:txBody>
          <a:bodyPr wrap="square" lIns="0" tIns="0" rIns="0" bIns="0" rtlCol="0" anchor="t">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TrOCR</a:t>
            </a:r>
            <a:endParaRPr lang="en-US" sz="1650" dirty="0"/>
          </a:p>
        </p:txBody>
      </p:sp>
      <p:sp>
        <p:nvSpPr>
          <p:cNvPr id="23" name="Text 21"/>
          <p:cNvSpPr/>
          <p:nvPr/>
        </p:nvSpPr>
        <p:spPr>
          <a:xfrm>
            <a:off x="9546749" y="3946207"/>
            <a:ext cx="2021046" cy="209550"/>
          </a:xfrm>
          <a:prstGeom prst="rect">
            <a:avLst/>
          </a:prstGeom>
          <a:noFill/>
          <a:ln/>
        </p:spPr>
        <p:txBody>
          <a:bodyPr wrap="square" lIns="25400" tIns="25400" rIns="25400" bIns="25400" rtlCol="0" anchor="t">
            <a:normAutofit lnSpcReduction="10000"/>
          </a:bodyPr>
          <a:lstStyle/>
          <a:p>
            <a:pPr marL="0" indent="0" algn="ctr">
              <a:buNone/>
            </a:pPr>
            <a:r>
              <a:rPr lang="en-US" sz="1050" dirty="0">
                <a:solidFill>
                  <a:srgbClr val="FFFFFF">
                    <a:alpha val="85000"/>
                  </a:srgbClr>
                </a:solidFill>
                <a:latin typeface="Century Gothic" pitchFamily="34" charset="0"/>
                <a:ea typeface="Century Gothic" pitchFamily="34" charset="-122"/>
                <a:cs typeface="Century Gothic" pitchFamily="34" charset="-120"/>
              </a:rPr>
              <a:t>BEiT enc · RoBERTa dec</a:t>
            </a:r>
            <a:endParaRPr lang="en-US" sz="1050" dirty="0"/>
          </a:p>
        </p:txBody>
      </p:sp>
      <p:sp>
        <p:nvSpPr>
          <p:cNvPr id="24" name="Text 22"/>
          <p:cNvSpPr/>
          <p:nvPr/>
        </p:nvSpPr>
        <p:spPr>
          <a:xfrm>
            <a:off x="11815445" y="366045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5" name="Shape 23"/>
          <p:cNvSpPr/>
          <p:nvPr/>
        </p:nvSpPr>
        <p:spPr>
          <a:xfrm>
            <a:off x="12259152" y="3074670"/>
            <a:ext cx="2249646" cy="1600200"/>
          </a:xfrm>
          <a:prstGeom prst="roundRect">
            <a:avLst>
              <a:gd name="adj" fmla="val 8333"/>
            </a:avLst>
          </a:prstGeom>
          <a:solidFill>
            <a:srgbClr val="FF8E38"/>
          </a:solidFill>
          <a:ln/>
        </p:spPr>
      </p:sp>
      <p:sp>
        <p:nvSpPr>
          <p:cNvPr id="26" name="Text 24"/>
          <p:cNvSpPr/>
          <p:nvPr/>
        </p:nvSpPr>
        <p:spPr>
          <a:xfrm>
            <a:off x="12739370" y="3601401"/>
            <a:ext cx="1289209" cy="295275"/>
          </a:xfrm>
          <a:prstGeom prst="rect">
            <a:avLst/>
          </a:prstGeom>
          <a:noFill/>
          <a:ln/>
        </p:spPr>
        <p:txBody>
          <a:bodyPr wrap="square" lIns="0" tIns="0" rIns="0" bIns="0" rtlCol="0" anchor="t">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Post-process</a:t>
            </a:r>
            <a:endParaRPr lang="en-US" sz="1650" dirty="0"/>
          </a:p>
        </p:txBody>
      </p:sp>
      <p:sp>
        <p:nvSpPr>
          <p:cNvPr id="27" name="Text 25"/>
          <p:cNvSpPr/>
          <p:nvPr/>
        </p:nvSpPr>
        <p:spPr>
          <a:xfrm>
            <a:off x="12373452" y="3946207"/>
            <a:ext cx="2021046" cy="209550"/>
          </a:xfrm>
          <a:prstGeom prst="rect">
            <a:avLst/>
          </a:prstGeom>
          <a:noFill/>
          <a:ln/>
        </p:spPr>
        <p:txBody>
          <a:bodyPr wrap="square" lIns="25400" tIns="25400" rIns="25400" bIns="25400" rtlCol="0" anchor="t">
            <a:normAutofit lnSpcReduction="10000"/>
          </a:bodyPr>
          <a:lstStyle/>
          <a:p>
            <a:pPr marL="0" indent="0" algn="ctr">
              <a:buNone/>
            </a:pPr>
            <a:r>
              <a:rPr lang="en-US" sz="1050" dirty="0">
                <a:solidFill>
                  <a:srgbClr val="FFFFFF">
                    <a:alpha val="85000"/>
                  </a:srgbClr>
                </a:solidFill>
                <a:latin typeface="Century Gothic" pitchFamily="34" charset="0"/>
                <a:ea typeface="Century Gothic" pitchFamily="34" charset="-122"/>
                <a:cs typeface="Century Gothic" pitchFamily="34" charset="-120"/>
              </a:rPr>
              <a:t>regex · field parsing</a:t>
            </a:r>
            <a:endParaRPr lang="en-US" sz="1050" dirty="0"/>
          </a:p>
        </p:txBody>
      </p:sp>
      <p:sp>
        <p:nvSpPr>
          <p:cNvPr id="28" name="Text 26"/>
          <p:cNvSpPr/>
          <p:nvPr/>
        </p:nvSpPr>
        <p:spPr>
          <a:xfrm>
            <a:off x="14642148" y="366045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9" name="Shape 27"/>
          <p:cNvSpPr/>
          <p:nvPr/>
        </p:nvSpPr>
        <p:spPr>
          <a:xfrm>
            <a:off x="15085854" y="3074670"/>
            <a:ext cx="2249646" cy="1600200"/>
          </a:xfrm>
          <a:prstGeom prst="roundRect">
            <a:avLst>
              <a:gd name="adj" fmla="val 8333"/>
            </a:avLst>
          </a:prstGeom>
          <a:solidFill>
            <a:srgbClr val="172144"/>
          </a:solidFill>
          <a:ln/>
        </p:spPr>
      </p:sp>
      <p:sp>
        <p:nvSpPr>
          <p:cNvPr id="30" name="Text 28"/>
          <p:cNvSpPr/>
          <p:nvPr/>
        </p:nvSpPr>
        <p:spPr>
          <a:xfrm>
            <a:off x="15923617" y="3601401"/>
            <a:ext cx="574120" cy="295275"/>
          </a:xfrm>
          <a:prstGeom prst="rect">
            <a:avLst/>
          </a:prstGeom>
          <a:noFill/>
          <a:ln/>
        </p:spPr>
        <p:txBody>
          <a:bodyPr wrap="square" lIns="0" tIns="0" rIns="0" bIns="0" rtlCol="0" anchor="t">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JSON</a:t>
            </a:r>
            <a:endParaRPr lang="en-US" sz="1650" dirty="0"/>
          </a:p>
        </p:txBody>
      </p:sp>
      <p:sp>
        <p:nvSpPr>
          <p:cNvPr id="31" name="Text 29"/>
          <p:cNvSpPr/>
          <p:nvPr/>
        </p:nvSpPr>
        <p:spPr>
          <a:xfrm>
            <a:off x="15200154" y="3946207"/>
            <a:ext cx="2021046" cy="209550"/>
          </a:xfrm>
          <a:prstGeom prst="rect">
            <a:avLst/>
          </a:prstGeom>
          <a:noFill/>
          <a:ln/>
        </p:spPr>
        <p:txBody>
          <a:bodyPr wrap="square" lIns="25400" tIns="25400" rIns="25400" bIns="25400" rtlCol="0" anchor="t">
            <a:normAutofit lnSpcReduction="10000"/>
          </a:bodyPr>
          <a:lstStyle/>
          <a:p>
            <a:pPr marL="0" indent="0" algn="ctr">
              <a:buNone/>
            </a:pPr>
            <a:r>
              <a:rPr lang="en-US" sz="1050" dirty="0">
                <a:solidFill>
                  <a:srgbClr val="FFFFFF">
                    <a:alpha val="85000"/>
                  </a:srgbClr>
                </a:solidFill>
                <a:latin typeface="Century Gothic" pitchFamily="34" charset="0"/>
                <a:ea typeface="Century Gothic" pitchFamily="34" charset="-122"/>
                <a:cs typeface="Century Gothic" pitchFamily="34" charset="-120"/>
              </a:rPr>
              <a:t>structured fields</a:t>
            </a:r>
            <a:endParaRPr lang="en-US" sz="1050" dirty="0"/>
          </a:p>
        </p:txBody>
      </p:sp>
      <p:sp>
        <p:nvSpPr>
          <p:cNvPr id="32" name="Text 30"/>
          <p:cNvSpPr/>
          <p:nvPr/>
        </p:nvSpPr>
        <p:spPr>
          <a:xfrm>
            <a:off x="952500" y="6031231"/>
            <a:ext cx="5389372" cy="257175"/>
          </a:xfrm>
          <a:prstGeom prst="rect">
            <a:avLst/>
          </a:prstGeom>
          <a:noFill/>
          <a:ln/>
        </p:spPr>
        <p:txBody>
          <a:bodyPr wrap="square" lIns="25400" tIns="25400" rIns="25400" bIns="25400" rtlCol="0" anchor="t">
            <a:normAutofit/>
          </a:bodyPr>
          <a:lstStyle/>
          <a:p>
            <a:pPr marL="0" indent="0" algn="l">
              <a:buNone/>
            </a:pPr>
            <a:r>
              <a:rPr lang="en-US" sz="1350" b="1" kern="0" spc="243" dirty="0">
                <a:solidFill>
                  <a:srgbClr val="6070FF"/>
                </a:solidFill>
                <a:latin typeface="Century Gothic" pitchFamily="34" charset="0"/>
                <a:ea typeface="Century Gothic" pitchFamily="34" charset="-122"/>
                <a:cs typeface="Century Gothic" pitchFamily="34" charset="-120"/>
              </a:rPr>
              <a:t>MODEL</a:t>
            </a:r>
            <a:endParaRPr lang="en-US" sz="1350" dirty="0"/>
          </a:p>
        </p:txBody>
      </p:sp>
      <p:sp>
        <p:nvSpPr>
          <p:cNvPr id="33" name="Text 31"/>
          <p:cNvSpPr/>
          <p:nvPr/>
        </p:nvSpPr>
        <p:spPr>
          <a:xfrm>
            <a:off x="952500" y="6326506"/>
            <a:ext cx="5389372" cy="756285"/>
          </a:xfrm>
          <a:prstGeom prst="rect">
            <a:avLst/>
          </a:prstGeom>
          <a:noFill/>
          <a:ln/>
        </p:spPr>
        <p:txBody>
          <a:bodyPr wrap="square" lIns="25400" tIns="25400" rIns="25400" bIns="25400" rtlCol="0" anchor="t">
            <a:normAutofit lnSpcReduction="10000"/>
          </a:bodyPr>
          <a:lstStyle/>
          <a:p>
            <a:pPr marL="0" indent="0" algn="l">
              <a:lnSpc>
                <a:spcPct val="145000"/>
              </a:lnSpc>
              <a:buNone/>
            </a:pPr>
            <a:r>
              <a:rPr lang="en-US" sz="1950" b="1" dirty="0">
                <a:solidFill>
                  <a:srgbClr val="3A4368"/>
                </a:solidFill>
                <a:latin typeface="Calibri" pitchFamily="34" charset="0"/>
                <a:ea typeface="Calibri" pitchFamily="34" charset="-122"/>
                <a:cs typeface="Calibri" pitchFamily="34" charset="-120"/>
              </a:rPr>
              <a:t>microsoft/trocr-base-handwritten </a:t>
            </a:r>
            <a:r>
              <a:rPr lang="en-US" sz="1500" dirty="0">
                <a:solidFill>
                  <a:srgbClr val="7A8099"/>
                </a:solidFill>
                <a:latin typeface="Calibri" pitchFamily="34" charset="0"/>
                <a:ea typeface="Calibri" pitchFamily="34" charset="-122"/>
                <a:cs typeface="Calibri" pitchFamily="34" charset="-120"/>
              </a:rPr>
              <a:t>Fine-tuned on chinmays18 prescription dataset</a:t>
            </a:r>
            <a:endParaRPr lang="en-US" sz="1950" dirty="0"/>
          </a:p>
        </p:txBody>
      </p:sp>
      <p:sp>
        <p:nvSpPr>
          <p:cNvPr id="34" name="Text 32"/>
          <p:cNvSpPr/>
          <p:nvPr/>
        </p:nvSpPr>
        <p:spPr>
          <a:xfrm>
            <a:off x="6527800" y="6031231"/>
            <a:ext cx="5389372" cy="257175"/>
          </a:xfrm>
          <a:prstGeom prst="rect">
            <a:avLst/>
          </a:prstGeom>
          <a:noFill/>
          <a:ln/>
        </p:spPr>
        <p:txBody>
          <a:bodyPr wrap="square" lIns="25400" tIns="25400" rIns="25400" bIns="25400" rtlCol="0" anchor="t">
            <a:normAutofit/>
          </a:bodyPr>
          <a:lstStyle/>
          <a:p>
            <a:pPr marL="0" indent="0" algn="l">
              <a:buNone/>
            </a:pPr>
            <a:r>
              <a:rPr lang="en-US" sz="1350" b="1" kern="0" spc="243" dirty="0">
                <a:solidFill>
                  <a:srgbClr val="6070FF"/>
                </a:solidFill>
                <a:latin typeface="Century Gothic" pitchFamily="34" charset="0"/>
                <a:ea typeface="Century Gothic" pitchFamily="34" charset="-122"/>
                <a:cs typeface="Century Gothic" pitchFamily="34" charset="-120"/>
              </a:rPr>
              <a:t>BACKEND</a:t>
            </a:r>
            <a:endParaRPr lang="en-US" sz="1350" dirty="0"/>
          </a:p>
        </p:txBody>
      </p:sp>
      <p:sp>
        <p:nvSpPr>
          <p:cNvPr id="35" name="Text 33"/>
          <p:cNvSpPr/>
          <p:nvPr/>
        </p:nvSpPr>
        <p:spPr>
          <a:xfrm>
            <a:off x="6527800" y="6326506"/>
            <a:ext cx="5389372" cy="756285"/>
          </a:xfrm>
          <a:prstGeom prst="rect">
            <a:avLst/>
          </a:prstGeom>
          <a:noFill/>
          <a:ln/>
        </p:spPr>
        <p:txBody>
          <a:bodyPr wrap="square" lIns="25400" tIns="25400" rIns="25400" bIns="25400" rtlCol="0" anchor="t">
            <a:normAutofit lnSpcReduction="10000"/>
          </a:bodyPr>
          <a:lstStyle/>
          <a:p>
            <a:pPr marL="0" indent="0" algn="l">
              <a:lnSpc>
                <a:spcPct val="145000"/>
              </a:lnSpc>
              <a:buNone/>
            </a:pPr>
            <a:r>
              <a:rPr lang="en-US" sz="1950" b="1" dirty="0">
                <a:solidFill>
                  <a:srgbClr val="3A4368"/>
                </a:solidFill>
                <a:latin typeface="Calibri" pitchFamily="34" charset="0"/>
                <a:ea typeface="Calibri" pitchFamily="34" charset="-122"/>
                <a:cs typeface="Calibri" pitchFamily="34" charset="-120"/>
              </a:rPr>
              <a:t>FastAPI · Python 3.11 </a:t>
            </a:r>
            <a:r>
              <a:rPr lang="en-US" sz="1500" dirty="0">
                <a:solidFill>
                  <a:srgbClr val="7A8099"/>
                </a:solidFill>
                <a:latin typeface="Calibri" pitchFamily="34" charset="0"/>
                <a:ea typeface="Calibri" pitchFamily="34" charset="-122"/>
                <a:cs typeface="Calibri" pitchFamily="34" charset="-120"/>
              </a:rPr>
              <a:t>/health · /predict · loaded once at startup</a:t>
            </a:r>
            <a:endParaRPr lang="en-US" sz="1950" dirty="0"/>
          </a:p>
        </p:txBody>
      </p:sp>
      <p:sp>
        <p:nvSpPr>
          <p:cNvPr id="36" name="Text 34"/>
          <p:cNvSpPr/>
          <p:nvPr/>
        </p:nvSpPr>
        <p:spPr>
          <a:xfrm>
            <a:off x="12103100" y="6031231"/>
            <a:ext cx="5389372" cy="257175"/>
          </a:xfrm>
          <a:prstGeom prst="rect">
            <a:avLst/>
          </a:prstGeom>
          <a:noFill/>
          <a:ln/>
        </p:spPr>
        <p:txBody>
          <a:bodyPr wrap="square" lIns="25400" tIns="25400" rIns="25400" bIns="25400" rtlCol="0" anchor="t">
            <a:normAutofit/>
          </a:bodyPr>
          <a:lstStyle/>
          <a:p>
            <a:pPr marL="0" indent="0" algn="l">
              <a:buNone/>
            </a:pPr>
            <a:r>
              <a:rPr lang="en-US" sz="1350" b="1" kern="0" spc="243" dirty="0">
                <a:solidFill>
                  <a:srgbClr val="6070FF"/>
                </a:solidFill>
                <a:latin typeface="Century Gothic" pitchFamily="34" charset="0"/>
                <a:ea typeface="Century Gothic" pitchFamily="34" charset="-122"/>
                <a:cs typeface="Century Gothic" pitchFamily="34" charset="-120"/>
              </a:rPr>
              <a:t>FRONTEND</a:t>
            </a:r>
            <a:endParaRPr lang="en-US" sz="1350" dirty="0"/>
          </a:p>
        </p:txBody>
      </p:sp>
      <p:sp>
        <p:nvSpPr>
          <p:cNvPr id="37" name="Text 35"/>
          <p:cNvSpPr/>
          <p:nvPr/>
        </p:nvSpPr>
        <p:spPr>
          <a:xfrm>
            <a:off x="12103100" y="6326506"/>
            <a:ext cx="5389372" cy="756285"/>
          </a:xfrm>
          <a:prstGeom prst="rect">
            <a:avLst/>
          </a:prstGeom>
          <a:noFill/>
          <a:ln/>
        </p:spPr>
        <p:txBody>
          <a:bodyPr wrap="square" lIns="25400" tIns="25400" rIns="25400" bIns="25400" rtlCol="0" anchor="t">
            <a:normAutofit/>
          </a:bodyPr>
          <a:lstStyle/>
          <a:p>
            <a:pPr marL="0" indent="0" algn="l">
              <a:lnSpc>
                <a:spcPct val="145000"/>
              </a:lnSpc>
              <a:buNone/>
            </a:pPr>
            <a:r>
              <a:rPr lang="en-US" sz="1950" b="1" dirty="0">
                <a:solidFill>
                  <a:srgbClr val="3A4368"/>
                </a:solidFill>
                <a:latin typeface="Calibri" pitchFamily="34" charset="0"/>
                <a:ea typeface="Calibri" pitchFamily="34" charset="-122"/>
                <a:cs typeface="Calibri" pitchFamily="34" charset="-120"/>
              </a:rPr>
              <a:t>React + Vite SPA </a:t>
            </a:r>
            <a:r>
              <a:rPr lang="en-US" sz="1500" dirty="0">
                <a:solidFill>
                  <a:srgbClr val="7A8099"/>
                </a:solidFill>
                <a:latin typeface="Calibri" pitchFamily="34" charset="0"/>
                <a:ea typeface="Calibri" pitchFamily="34" charset="-122"/>
                <a:cs typeface="Calibri" pitchFamily="34" charset="-120"/>
              </a:rPr>
              <a:t>Drag-and-drop upload · JSON renderer</a:t>
            </a:r>
            <a:endParaRPr lang="en-US" sz="1950" dirty="0"/>
          </a:p>
        </p:txBody>
      </p:sp>
      <p:sp>
        <p:nvSpPr>
          <p:cNvPr id="38" name="Text 36"/>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9" name="Text 37"/>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08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917">
        <p159:morph option="byObject"/>
      </p:transition>
    </mc:Choice>
    <mc:Fallback>
      <p:transition spd="slow" advTm="917">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6070FF"/>
                </a:solidFill>
                <a:latin typeface="Century Gothic" pitchFamily="34" charset="0"/>
                <a:ea typeface="Century Gothic" pitchFamily="34" charset="-122"/>
                <a:cs typeface="Century Gothic" pitchFamily="34" charset="-120"/>
              </a:rPr>
              <a:t>ACT 2 · WHY TROCR</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Three reasons to choose TrOCR</a:t>
            </a:r>
            <a:endParaRPr lang="en-US" sz="3600" dirty="0"/>
          </a:p>
        </p:txBody>
      </p:sp>
      <p:sp>
        <p:nvSpPr>
          <p:cNvPr id="9" name="Shape 7"/>
          <p:cNvSpPr/>
          <p:nvPr/>
        </p:nvSpPr>
        <p:spPr>
          <a:xfrm>
            <a:off x="952500" y="3484245"/>
            <a:ext cx="5232400" cy="2400300"/>
          </a:xfrm>
          <a:prstGeom prst="roundRect">
            <a:avLst>
              <a:gd name="adj" fmla="val 6349"/>
            </a:avLst>
          </a:prstGeom>
          <a:solidFill>
            <a:srgbClr val="FFFFFF"/>
          </a:solidFill>
          <a:ln/>
        </p:spPr>
      </p:sp>
      <p:sp>
        <p:nvSpPr>
          <p:cNvPr id="10" name="Shape 8"/>
          <p:cNvSpPr/>
          <p:nvPr/>
        </p:nvSpPr>
        <p:spPr>
          <a:xfrm>
            <a:off x="952500" y="5875020"/>
            <a:ext cx="5232400" cy="9525"/>
          </a:xfrm>
          <a:prstGeom prst="rect">
            <a:avLst/>
          </a:prstGeom>
          <a:solidFill>
            <a:srgbClr val="E6E8F0"/>
          </a:solidFill>
          <a:ln/>
        </p:spPr>
      </p:sp>
      <p:sp>
        <p:nvSpPr>
          <p:cNvPr id="11" name="Shape 9"/>
          <p:cNvSpPr/>
          <p:nvPr/>
        </p:nvSpPr>
        <p:spPr>
          <a:xfrm>
            <a:off x="952500" y="3484245"/>
            <a:ext cx="5232400" cy="57150"/>
          </a:xfrm>
          <a:prstGeom prst="rect">
            <a:avLst/>
          </a:prstGeom>
          <a:solidFill>
            <a:srgbClr val="3BC8F1"/>
          </a:solidFill>
          <a:ln/>
        </p:spPr>
      </p:sp>
      <p:sp>
        <p:nvSpPr>
          <p:cNvPr id="12" name="Shape 10"/>
          <p:cNvSpPr/>
          <p:nvPr/>
        </p:nvSpPr>
        <p:spPr>
          <a:xfrm>
            <a:off x="952500" y="3484245"/>
            <a:ext cx="9525" cy="2400300"/>
          </a:xfrm>
          <a:prstGeom prst="rect">
            <a:avLst/>
          </a:prstGeom>
          <a:solidFill>
            <a:srgbClr val="E6E8F0"/>
          </a:solidFill>
          <a:ln/>
        </p:spPr>
      </p:sp>
      <p:sp>
        <p:nvSpPr>
          <p:cNvPr id="13" name="Shape 11"/>
          <p:cNvSpPr/>
          <p:nvPr/>
        </p:nvSpPr>
        <p:spPr>
          <a:xfrm>
            <a:off x="6175375" y="3484245"/>
            <a:ext cx="9525" cy="2400300"/>
          </a:xfrm>
          <a:prstGeom prst="rect">
            <a:avLst/>
          </a:prstGeom>
          <a:solidFill>
            <a:srgbClr val="E6E8F0"/>
          </a:solidFill>
          <a:ln/>
        </p:spPr>
      </p:sp>
      <p:sp>
        <p:nvSpPr>
          <p:cNvPr id="14" name="Text 12"/>
          <p:cNvSpPr/>
          <p:nvPr/>
        </p:nvSpPr>
        <p:spPr>
          <a:xfrm>
            <a:off x="1228725" y="380809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Real LM prior</a:t>
            </a:r>
            <a:endParaRPr lang="en-US" sz="1950" dirty="0"/>
          </a:p>
        </p:txBody>
      </p:sp>
      <p:sp>
        <p:nvSpPr>
          <p:cNvPr id="15" name="Text 13"/>
          <p:cNvSpPr/>
          <p:nvPr/>
        </p:nvSpPr>
        <p:spPr>
          <a:xfrm>
            <a:off x="1228725" y="4208145"/>
            <a:ext cx="4820348" cy="8382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Vision encoder–decoder: the decoder is a pretrained transformer LM that knows English statistics, so outputs read like real words.</a:t>
            </a:r>
            <a:endParaRPr lang="en-US" sz="1500" dirty="0"/>
          </a:p>
        </p:txBody>
      </p:sp>
      <p:sp>
        <p:nvSpPr>
          <p:cNvPr id="16" name="Shape 14"/>
          <p:cNvSpPr/>
          <p:nvPr/>
        </p:nvSpPr>
        <p:spPr>
          <a:xfrm>
            <a:off x="6527800" y="3484245"/>
            <a:ext cx="5232400" cy="2400300"/>
          </a:xfrm>
          <a:prstGeom prst="roundRect">
            <a:avLst>
              <a:gd name="adj" fmla="val 6349"/>
            </a:avLst>
          </a:prstGeom>
          <a:solidFill>
            <a:srgbClr val="FFFFFF"/>
          </a:solidFill>
          <a:ln/>
        </p:spPr>
      </p:sp>
      <p:sp>
        <p:nvSpPr>
          <p:cNvPr id="17" name="Shape 15"/>
          <p:cNvSpPr/>
          <p:nvPr/>
        </p:nvSpPr>
        <p:spPr>
          <a:xfrm>
            <a:off x="6527800" y="5875020"/>
            <a:ext cx="5232400" cy="9525"/>
          </a:xfrm>
          <a:prstGeom prst="rect">
            <a:avLst/>
          </a:prstGeom>
          <a:solidFill>
            <a:srgbClr val="E6E8F0"/>
          </a:solidFill>
          <a:ln/>
        </p:spPr>
      </p:sp>
      <p:sp>
        <p:nvSpPr>
          <p:cNvPr id="18" name="Shape 16"/>
          <p:cNvSpPr/>
          <p:nvPr/>
        </p:nvSpPr>
        <p:spPr>
          <a:xfrm>
            <a:off x="6527800" y="3484245"/>
            <a:ext cx="5232400" cy="57150"/>
          </a:xfrm>
          <a:prstGeom prst="rect">
            <a:avLst/>
          </a:prstGeom>
          <a:solidFill>
            <a:srgbClr val="6070FF"/>
          </a:solidFill>
          <a:ln/>
        </p:spPr>
      </p:sp>
      <p:sp>
        <p:nvSpPr>
          <p:cNvPr id="19" name="Shape 17"/>
          <p:cNvSpPr/>
          <p:nvPr/>
        </p:nvSpPr>
        <p:spPr>
          <a:xfrm>
            <a:off x="6527800" y="3484245"/>
            <a:ext cx="9525" cy="2400300"/>
          </a:xfrm>
          <a:prstGeom prst="rect">
            <a:avLst/>
          </a:prstGeom>
          <a:solidFill>
            <a:srgbClr val="E6E8F0"/>
          </a:solidFill>
          <a:ln/>
        </p:spPr>
      </p:sp>
      <p:sp>
        <p:nvSpPr>
          <p:cNvPr id="20" name="Shape 18"/>
          <p:cNvSpPr/>
          <p:nvPr/>
        </p:nvSpPr>
        <p:spPr>
          <a:xfrm>
            <a:off x="11750675" y="3484245"/>
            <a:ext cx="9525" cy="2400300"/>
          </a:xfrm>
          <a:prstGeom prst="rect">
            <a:avLst/>
          </a:prstGeom>
          <a:solidFill>
            <a:srgbClr val="E6E8F0"/>
          </a:solidFill>
          <a:ln/>
        </p:spPr>
      </p:sp>
      <p:sp>
        <p:nvSpPr>
          <p:cNvPr id="21" name="Text 19"/>
          <p:cNvSpPr/>
          <p:nvPr/>
        </p:nvSpPr>
        <p:spPr>
          <a:xfrm>
            <a:off x="6804025" y="3808095"/>
            <a:ext cx="4820349"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Handwriting pretraining</a:t>
            </a:r>
            <a:endParaRPr lang="en-US" sz="1950" dirty="0"/>
          </a:p>
        </p:txBody>
      </p:sp>
      <p:sp>
        <p:nvSpPr>
          <p:cNvPr id="22" name="Text 20"/>
          <p:cNvSpPr/>
          <p:nvPr/>
        </p:nvSpPr>
        <p:spPr>
          <a:xfrm>
            <a:off x="6804025" y="4208145"/>
            <a:ext cx="482034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The base-handwritten checkpoint was pretrained on IAM, so cursive strokes are already familiar to the encoder.</a:t>
            </a:r>
            <a:endParaRPr lang="en-US" sz="1500" dirty="0"/>
          </a:p>
        </p:txBody>
      </p:sp>
      <p:sp>
        <p:nvSpPr>
          <p:cNvPr id="23" name="Shape 21"/>
          <p:cNvSpPr/>
          <p:nvPr/>
        </p:nvSpPr>
        <p:spPr>
          <a:xfrm>
            <a:off x="12103100" y="3484245"/>
            <a:ext cx="5232400" cy="2400300"/>
          </a:xfrm>
          <a:prstGeom prst="roundRect">
            <a:avLst>
              <a:gd name="adj" fmla="val 6349"/>
            </a:avLst>
          </a:prstGeom>
          <a:solidFill>
            <a:srgbClr val="FFFFFF"/>
          </a:solidFill>
          <a:ln/>
        </p:spPr>
      </p:sp>
      <p:sp>
        <p:nvSpPr>
          <p:cNvPr id="24" name="Shape 22"/>
          <p:cNvSpPr/>
          <p:nvPr/>
        </p:nvSpPr>
        <p:spPr>
          <a:xfrm>
            <a:off x="12103100" y="5875020"/>
            <a:ext cx="5232400" cy="9525"/>
          </a:xfrm>
          <a:prstGeom prst="rect">
            <a:avLst/>
          </a:prstGeom>
          <a:solidFill>
            <a:srgbClr val="E6E8F0"/>
          </a:solidFill>
          <a:ln/>
        </p:spPr>
      </p:sp>
      <p:sp>
        <p:nvSpPr>
          <p:cNvPr id="25" name="Shape 23"/>
          <p:cNvSpPr/>
          <p:nvPr/>
        </p:nvSpPr>
        <p:spPr>
          <a:xfrm>
            <a:off x="12103100" y="3484245"/>
            <a:ext cx="5232400" cy="57150"/>
          </a:xfrm>
          <a:prstGeom prst="rect">
            <a:avLst/>
          </a:prstGeom>
          <a:solidFill>
            <a:srgbClr val="FA3585"/>
          </a:solidFill>
          <a:ln/>
        </p:spPr>
      </p:sp>
      <p:sp>
        <p:nvSpPr>
          <p:cNvPr id="26" name="Shape 24"/>
          <p:cNvSpPr/>
          <p:nvPr/>
        </p:nvSpPr>
        <p:spPr>
          <a:xfrm>
            <a:off x="12103100" y="3484245"/>
            <a:ext cx="9525" cy="2400300"/>
          </a:xfrm>
          <a:prstGeom prst="rect">
            <a:avLst/>
          </a:prstGeom>
          <a:solidFill>
            <a:srgbClr val="E6E8F0"/>
          </a:solidFill>
          <a:ln/>
        </p:spPr>
      </p:sp>
      <p:sp>
        <p:nvSpPr>
          <p:cNvPr id="27" name="Shape 25"/>
          <p:cNvSpPr/>
          <p:nvPr/>
        </p:nvSpPr>
        <p:spPr>
          <a:xfrm>
            <a:off x="17325974" y="3484245"/>
            <a:ext cx="9525" cy="2400300"/>
          </a:xfrm>
          <a:prstGeom prst="rect">
            <a:avLst/>
          </a:prstGeom>
          <a:solidFill>
            <a:srgbClr val="E6E8F0"/>
          </a:solidFill>
          <a:ln/>
        </p:spPr>
      </p:sp>
      <p:sp>
        <p:nvSpPr>
          <p:cNvPr id="28" name="Text 26"/>
          <p:cNvSpPr/>
          <p:nvPr/>
        </p:nvSpPr>
        <p:spPr>
          <a:xfrm>
            <a:off x="12379325" y="380809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Hugging Face tooling</a:t>
            </a:r>
            <a:endParaRPr lang="en-US" sz="1950" dirty="0"/>
          </a:p>
        </p:txBody>
      </p:sp>
      <p:sp>
        <p:nvSpPr>
          <p:cNvPr id="29" name="Text 27"/>
          <p:cNvSpPr/>
          <p:nvPr/>
        </p:nvSpPr>
        <p:spPr>
          <a:xfrm>
            <a:off x="12379325" y="4208145"/>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Trainer, Datasets, Tokenizers, Hub, Spaces — the full reproducible pipeline ships out of the box.</a:t>
            </a:r>
            <a:endParaRPr lang="en-US" sz="1500" dirty="0"/>
          </a:p>
        </p:txBody>
      </p:sp>
      <p:sp>
        <p:nvSpPr>
          <p:cNvPr id="30" name="Text 28"/>
          <p:cNvSpPr/>
          <p:nvPr/>
        </p:nvSpPr>
        <p:spPr>
          <a:xfrm>
            <a:off x="962025" y="6233636"/>
            <a:ext cx="14716125"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Together, these three properties let us spend our budget on data and fine-tuning, not architecture engineering.</a:t>
            </a:r>
            <a:endParaRPr lang="en-US" sz="1950" dirty="0"/>
          </a:p>
        </p:txBody>
      </p:sp>
      <p:sp>
        <p:nvSpPr>
          <p:cNvPr id="31" name="Text 29"/>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2" name="Text 30"/>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09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84">
        <p159:morph option="byObject"/>
      </p:transition>
    </mc:Choice>
    <mc:Fallback>
      <p:transition spd="slow" advTm="184">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6070FF"/>
                </a:solidFill>
                <a:latin typeface="Century Gothic" pitchFamily="34" charset="0"/>
                <a:ea typeface="Century Gothic" pitchFamily="34" charset="-122"/>
                <a:cs typeface="Century Gothic" pitchFamily="34" charset="-120"/>
              </a:rPr>
              <a:t>ACT 2 · ARCHITECTURE</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TrOCR at a glance</a:t>
            </a:r>
            <a:endParaRPr lang="en-US" sz="3600" dirty="0"/>
          </a:p>
        </p:txBody>
      </p:sp>
      <p:sp>
        <p:nvSpPr>
          <p:cNvPr id="9" name="Shape 7"/>
          <p:cNvSpPr/>
          <p:nvPr/>
        </p:nvSpPr>
        <p:spPr>
          <a:xfrm>
            <a:off x="952500" y="2188845"/>
            <a:ext cx="16383000" cy="6305550"/>
          </a:xfrm>
          <a:prstGeom prst="roundRect">
            <a:avLst>
              <a:gd name="adj" fmla="val 2115"/>
            </a:avLst>
          </a:prstGeom>
          <a:solidFill>
            <a:srgbClr val="F7F8FC"/>
          </a:solidFill>
          <a:ln w="9525">
            <a:solidFill>
              <a:srgbClr val="E6E8F0"/>
            </a:solidFill>
            <a:prstDash val="solid"/>
          </a:ln>
        </p:spPr>
      </p:sp>
      <p:pic>
        <p:nvPicPr>
          <p:cNvPr id="10" name="Image 0" descr="preencoded.png"/>
          <p:cNvPicPr>
            <a:picLocks noChangeAspect="1"/>
          </p:cNvPicPr>
          <p:nvPr/>
        </p:nvPicPr>
        <p:blipFill>
          <a:blip r:embed="rId3"/>
          <a:srcRect/>
          <a:stretch/>
        </p:blipFill>
        <p:spPr>
          <a:xfrm>
            <a:off x="3555365" y="2198370"/>
            <a:ext cx="11177270" cy="6286500"/>
          </a:xfrm>
          <a:prstGeom prst="rect">
            <a:avLst/>
          </a:prstGeom>
        </p:spPr>
      </p:pic>
      <p:sp>
        <p:nvSpPr>
          <p:cNvPr id="11" name="Text 8"/>
          <p:cNvSpPr/>
          <p:nvPr/>
        </p:nvSpPr>
        <p:spPr>
          <a:xfrm>
            <a:off x="706755" y="8589645"/>
            <a:ext cx="16874490" cy="257175"/>
          </a:xfrm>
          <a:prstGeom prst="rect">
            <a:avLst/>
          </a:prstGeom>
          <a:noFill/>
          <a:ln/>
        </p:spPr>
        <p:txBody>
          <a:bodyPr wrap="square" lIns="25400" tIns="25400" rIns="25400" bIns="25400" rtlCol="0" anchor="t">
            <a:normAutofit/>
          </a:bodyPr>
          <a:lstStyle/>
          <a:p>
            <a:pPr marL="0" indent="0" algn="ctr">
              <a:buNone/>
            </a:pPr>
            <a:r>
              <a:rPr lang="en-US" sz="1350" dirty="0">
                <a:solidFill>
                  <a:srgbClr val="7A8099"/>
                </a:solidFill>
                <a:latin typeface="Calibri" pitchFamily="34" charset="0"/>
                <a:ea typeface="Calibri" pitchFamily="34" charset="-122"/>
                <a:cs typeface="Calibri" pitchFamily="34" charset="-120"/>
              </a:rPr>
              <a:t>BEiT-style vision encoder · RoBERTa-style text decoder · cross-attention bridges patches to tokens.</a:t>
            </a:r>
            <a:endParaRPr lang="en-US" sz="1350" dirty="0"/>
          </a:p>
        </p:txBody>
      </p:sp>
      <p:sp>
        <p:nvSpPr>
          <p:cNvPr id="12" name="Text 9"/>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13" name="Text 10"/>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10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615">
        <p159:morph option="byObject"/>
      </p:transition>
    </mc:Choice>
    <mc:Fallback>
      <p:transition spd="slow" advTm="615">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14827886" y="762000"/>
            <a:ext cx="2393315" cy="2324100"/>
          </a:xfrm>
          <a:prstGeom prst="rect">
            <a:avLst/>
          </a:prstGeom>
          <a:noFill/>
          <a:ln/>
        </p:spPr>
        <p:txBody>
          <a:bodyPr wrap="square" lIns="25400" tIns="25400" rIns="25400" bIns="25400" rtlCol="0" anchor="t">
            <a:normAutofit fontScale="85000" lnSpcReduction="10000"/>
          </a:bodyPr>
          <a:lstStyle/>
          <a:p>
            <a:pPr marL="0" indent="0" algn="l">
              <a:lnSpc>
                <a:spcPct val="100000"/>
              </a:lnSpc>
              <a:buNone/>
            </a:pPr>
            <a:r>
              <a:rPr lang="en-US" sz="18000" b="1" dirty="0">
                <a:solidFill>
                  <a:srgbClr val="777A86">
                    <a:alpha val="8000"/>
                  </a:srgbClr>
                </a:solidFill>
                <a:latin typeface="Century Gothic" pitchFamily="34" charset="0"/>
                <a:ea typeface="Century Gothic" pitchFamily="34" charset="-122"/>
                <a:cs typeface="Century Gothic" pitchFamily="34" charset="-120"/>
              </a:rPr>
              <a:t>03</a:t>
            </a:r>
            <a:endParaRPr lang="en-US" sz="18000" dirty="0">
              <a:solidFill>
                <a:srgbClr val="777A86">
                  <a:alpha val="8000"/>
                </a:srgbClr>
              </a:solidFill>
            </a:endParaRPr>
          </a:p>
        </p:txBody>
      </p:sp>
      <p:sp>
        <p:nvSpPr>
          <p:cNvPr id="8" name="Text 6"/>
          <p:cNvSpPr/>
          <p:nvPr/>
        </p:nvSpPr>
        <p:spPr>
          <a:xfrm>
            <a:off x="1143000" y="4082415"/>
            <a:ext cx="1648206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FA3585"/>
                </a:solidFill>
                <a:latin typeface="Century Gothic" pitchFamily="34" charset="0"/>
                <a:ea typeface="Century Gothic" pitchFamily="34" charset="-122"/>
                <a:cs typeface="Century Gothic" pitchFamily="34" charset="-120"/>
              </a:rPr>
              <a:t>ACT 3</a:t>
            </a:r>
            <a:endParaRPr lang="en-US" sz="1800" dirty="0"/>
          </a:p>
        </p:txBody>
      </p:sp>
      <p:sp>
        <p:nvSpPr>
          <p:cNvPr id="9" name="Text 7"/>
          <p:cNvSpPr/>
          <p:nvPr/>
        </p:nvSpPr>
        <p:spPr>
          <a:xfrm>
            <a:off x="1143000" y="4596765"/>
            <a:ext cx="13735050" cy="99822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454A5C"/>
                </a:solidFill>
                <a:latin typeface="Century Gothic" pitchFamily="34" charset="0"/>
                <a:ea typeface="Century Gothic" pitchFamily="34" charset="-122"/>
                <a:cs typeface="Century Gothic" pitchFamily="34" charset="-120"/>
              </a:rPr>
              <a:t>Approach</a:t>
            </a:r>
            <a:endParaRPr lang="en-US" sz="7200" dirty="0">
              <a:solidFill>
                <a:srgbClr val="454A5C"/>
              </a:solidFill>
            </a:endParaRPr>
          </a:p>
        </p:txBody>
      </p:sp>
      <p:sp>
        <p:nvSpPr>
          <p:cNvPr id="10" name="Text 8"/>
          <p:cNvSpPr/>
          <p:nvPr/>
        </p:nvSpPr>
        <p:spPr>
          <a:xfrm>
            <a:off x="1143000" y="5842635"/>
            <a:ext cx="12753975" cy="400050"/>
          </a:xfrm>
          <a:prstGeom prst="rect">
            <a:avLst/>
          </a:prstGeom>
          <a:noFill/>
          <a:ln/>
        </p:spPr>
        <p:txBody>
          <a:bodyPr wrap="square" lIns="25400" tIns="25400" rIns="25400" bIns="25400" rtlCol="0" anchor="t">
            <a:normAutofit/>
          </a:bodyPr>
          <a:lstStyle/>
          <a:p>
            <a:pPr marL="0" indent="0" algn="l">
              <a:buNone/>
            </a:pPr>
            <a:r>
              <a:rPr lang="en-US" sz="2250" dirty="0">
                <a:solidFill>
                  <a:srgbClr val="777A86"/>
                </a:solidFill>
                <a:latin typeface="Calibri" pitchFamily="34" charset="0"/>
                <a:ea typeface="Calibri" pitchFamily="34" charset="-122"/>
                <a:cs typeface="Calibri" pitchFamily="34" charset="-120"/>
              </a:rPr>
              <a:t>Six concrete engineering steps from raw data to deployed model.</a:t>
            </a:r>
            <a:endParaRPr lang="en-US" sz="2250" dirty="0">
              <a:solidFill>
                <a:srgbClr val="777A86"/>
              </a:solidFill>
            </a:endParaRPr>
          </a:p>
        </p:txBody>
      </p:sp>
      <p:sp>
        <p:nvSpPr>
          <p:cNvPr id="11" name="Text 9"/>
          <p:cNvSpPr/>
          <p:nvPr/>
        </p:nvSpPr>
        <p:spPr>
          <a:xfrm>
            <a:off x="762000" y="8691563"/>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77A86"/>
                </a:solidFill>
                <a:latin typeface="Century Gothic" pitchFamily="34" charset="0"/>
                <a:ea typeface="Century Gothic" pitchFamily="34" charset="-122"/>
                <a:cs typeface="Century Gothic" pitchFamily="34" charset="-120"/>
              </a:rPr>
              <a:t>Medical Prescription OCR with TrOCR — ESI, Mai 2025</a:t>
            </a:r>
            <a:endParaRPr lang="en-US" sz="1350" dirty="0">
              <a:solidFill>
                <a:srgbClr val="777A86"/>
              </a:solidFill>
            </a:endParaRPr>
          </a:p>
        </p:txBody>
      </p:sp>
      <p:sp>
        <p:nvSpPr>
          <p:cNvPr id="12" name="Text 10"/>
          <p:cNvSpPr/>
          <p:nvPr/>
        </p:nvSpPr>
        <p:spPr>
          <a:xfrm>
            <a:off x="14787329" y="7658100"/>
            <a:ext cx="2738671" cy="2324100"/>
          </a:xfrm>
          <a:prstGeom prst="rect">
            <a:avLst/>
          </a:prstGeom>
          <a:noFill/>
          <a:ln/>
        </p:spPr>
        <p:txBody>
          <a:bodyPr wrap="square" lIns="25400" tIns="25400" rIns="25400" bIns="25400" rtlCol="0" anchor="t">
            <a:normAutofit fontScale="92500" lnSpcReduction="20000"/>
          </a:bodyPr>
          <a:lstStyle/>
          <a:p>
            <a:pPr marL="0" indent="0" algn="r">
              <a:buNone/>
            </a:pPr>
            <a:r>
              <a:rPr lang="en-US" sz="18000" b="1" kern="0" spc="27" dirty="0">
                <a:solidFill>
                  <a:srgbClr val="777A86"/>
                </a:solidFill>
                <a:latin typeface="Century Gothic" pitchFamily="34" charset="0"/>
                <a:ea typeface="Century Gothic" pitchFamily="34" charset="-122"/>
                <a:cs typeface="Century Gothic" pitchFamily="34" charset="-120"/>
              </a:rPr>
              <a:t>11</a:t>
            </a:r>
            <a:r>
              <a:rPr lang="en-US" sz="18000" b="1" kern="0" spc="27" dirty="0">
                <a:solidFill>
                  <a:srgbClr val="FFFFFF"/>
                </a:solidFill>
                <a:latin typeface="Century Gothic" pitchFamily="34" charset="0"/>
                <a:ea typeface="Century Gothic" pitchFamily="34" charset="-122"/>
                <a:cs typeface="Century Gothic" pitchFamily="34" charset="-120"/>
              </a:rPr>
              <a:t> </a:t>
            </a:r>
            <a:r>
              <a:rPr lang="en-US" sz="1350" kern="0" spc="27" dirty="0">
                <a:solidFill>
                  <a:srgbClr val="FFFFFF">
                    <a:alpha val="50000"/>
                  </a:srgbClr>
                </a:solidFill>
                <a:latin typeface="Century Gothic" pitchFamily="34" charset="0"/>
                <a:ea typeface="Century Gothic" pitchFamily="34" charset="-122"/>
                <a:cs typeface="Century Gothic" pitchFamily="34" charset="-120"/>
              </a:rPr>
              <a:t>/ 30</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808">
        <p159:morph option="byObject"/>
      </p:transition>
    </mc:Choice>
    <mc:Fallback>
      <p:transition spd="slow" advTm="808">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A3585"/>
                </a:solidFill>
                <a:latin typeface="Century Gothic" pitchFamily="34" charset="0"/>
                <a:ea typeface="Century Gothic" pitchFamily="34" charset="-122"/>
                <a:cs typeface="Century Gothic" pitchFamily="34" charset="-120"/>
              </a:rPr>
              <a:t>ACT 3 · ROADMAP</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Six steps</a:t>
            </a:r>
            <a:endParaRPr lang="en-US" sz="3600" dirty="0"/>
          </a:p>
        </p:txBody>
      </p:sp>
      <p:sp>
        <p:nvSpPr>
          <p:cNvPr id="9" name="Shape 7"/>
          <p:cNvSpPr/>
          <p:nvPr/>
        </p:nvSpPr>
        <p:spPr>
          <a:xfrm>
            <a:off x="952500" y="3598069"/>
            <a:ext cx="2587625" cy="971550"/>
          </a:xfrm>
          <a:prstGeom prst="roundRect">
            <a:avLst>
              <a:gd name="adj" fmla="val 13725"/>
            </a:avLst>
          </a:prstGeom>
          <a:solidFill>
            <a:srgbClr val="F3F5FB"/>
          </a:solidFill>
          <a:ln/>
        </p:spPr>
      </p:sp>
      <p:sp>
        <p:nvSpPr>
          <p:cNvPr id="10" name="Text 8"/>
          <p:cNvSpPr/>
          <p:nvPr/>
        </p:nvSpPr>
        <p:spPr>
          <a:xfrm>
            <a:off x="1085850" y="3807619"/>
            <a:ext cx="2320925" cy="257175"/>
          </a:xfrm>
          <a:prstGeom prst="rect">
            <a:avLst/>
          </a:prstGeom>
          <a:noFill/>
          <a:ln/>
        </p:spPr>
        <p:txBody>
          <a:bodyPr wrap="square" lIns="25400" tIns="25400" rIns="25400" bIns="25400" rtlCol="0" anchor="t">
            <a:normAutofit/>
          </a:bodyPr>
          <a:lstStyle/>
          <a:p>
            <a:pPr marL="0" indent="0" algn="ctr">
              <a:buNone/>
            </a:pPr>
            <a:r>
              <a:rPr lang="en-US" sz="1350" b="1" kern="0" spc="216" dirty="0">
                <a:solidFill>
                  <a:srgbClr val="6070FF"/>
                </a:solidFill>
                <a:latin typeface="Century Gothic" pitchFamily="34" charset="0"/>
                <a:ea typeface="Century Gothic" pitchFamily="34" charset="-122"/>
                <a:cs typeface="Century Gothic" pitchFamily="34" charset="-120"/>
              </a:rPr>
              <a:t>STEP 1</a:t>
            </a:r>
            <a:endParaRPr lang="en-US" sz="1350" dirty="0"/>
          </a:p>
        </p:txBody>
      </p:sp>
      <p:sp>
        <p:nvSpPr>
          <p:cNvPr id="11" name="Text 9"/>
          <p:cNvSpPr/>
          <p:nvPr/>
        </p:nvSpPr>
        <p:spPr>
          <a:xfrm>
            <a:off x="1085850" y="4102894"/>
            <a:ext cx="2320925" cy="295275"/>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Data collection</a:t>
            </a:r>
            <a:endParaRPr lang="en-US" sz="1650" dirty="0"/>
          </a:p>
        </p:txBody>
      </p:sp>
      <p:sp>
        <p:nvSpPr>
          <p:cNvPr id="12" name="Shape 10"/>
          <p:cNvSpPr/>
          <p:nvPr/>
        </p:nvSpPr>
        <p:spPr>
          <a:xfrm>
            <a:off x="3711575" y="3598069"/>
            <a:ext cx="2587625" cy="971550"/>
          </a:xfrm>
          <a:prstGeom prst="roundRect">
            <a:avLst>
              <a:gd name="adj" fmla="val 13725"/>
            </a:avLst>
          </a:prstGeom>
          <a:solidFill>
            <a:srgbClr val="F3F5FB"/>
          </a:solidFill>
          <a:ln/>
        </p:spPr>
      </p:sp>
      <p:sp>
        <p:nvSpPr>
          <p:cNvPr id="13" name="Text 11"/>
          <p:cNvSpPr/>
          <p:nvPr/>
        </p:nvSpPr>
        <p:spPr>
          <a:xfrm>
            <a:off x="3844925" y="3807619"/>
            <a:ext cx="2320925" cy="257175"/>
          </a:xfrm>
          <a:prstGeom prst="rect">
            <a:avLst/>
          </a:prstGeom>
          <a:noFill/>
          <a:ln/>
        </p:spPr>
        <p:txBody>
          <a:bodyPr wrap="square" lIns="25400" tIns="25400" rIns="25400" bIns="25400" rtlCol="0" anchor="t">
            <a:normAutofit/>
          </a:bodyPr>
          <a:lstStyle/>
          <a:p>
            <a:pPr marL="0" indent="0" algn="ctr">
              <a:buNone/>
            </a:pPr>
            <a:r>
              <a:rPr lang="en-US" sz="1350" b="1" kern="0" spc="216" dirty="0">
                <a:solidFill>
                  <a:srgbClr val="6070FF"/>
                </a:solidFill>
                <a:latin typeface="Century Gothic" pitchFamily="34" charset="0"/>
                <a:ea typeface="Century Gothic" pitchFamily="34" charset="-122"/>
                <a:cs typeface="Century Gothic" pitchFamily="34" charset="-120"/>
              </a:rPr>
              <a:t>STEP 2</a:t>
            </a:r>
            <a:endParaRPr lang="en-US" sz="1350" dirty="0"/>
          </a:p>
        </p:txBody>
      </p:sp>
      <p:sp>
        <p:nvSpPr>
          <p:cNvPr id="14" name="Text 12"/>
          <p:cNvSpPr/>
          <p:nvPr/>
        </p:nvSpPr>
        <p:spPr>
          <a:xfrm>
            <a:off x="3844925" y="4102894"/>
            <a:ext cx="2320925" cy="295275"/>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Data exploration</a:t>
            </a:r>
            <a:endParaRPr lang="en-US" sz="1650" dirty="0"/>
          </a:p>
        </p:txBody>
      </p:sp>
      <p:sp>
        <p:nvSpPr>
          <p:cNvPr id="15" name="Shape 13"/>
          <p:cNvSpPr/>
          <p:nvPr/>
        </p:nvSpPr>
        <p:spPr>
          <a:xfrm>
            <a:off x="6470650" y="3598069"/>
            <a:ext cx="2587625" cy="971550"/>
          </a:xfrm>
          <a:prstGeom prst="roundRect">
            <a:avLst>
              <a:gd name="adj" fmla="val 13725"/>
            </a:avLst>
          </a:prstGeom>
          <a:solidFill>
            <a:srgbClr val="F3F5FB"/>
          </a:solidFill>
          <a:ln/>
        </p:spPr>
      </p:sp>
      <p:sp>
        <p:nvSpPr>
          <p:cNvPr id="16" name="Text 14"/>
          <p:cNvSpPr/>
          <p:nvPr/>
        </p:nvSpPr>
        <p:spPr>
          <a:xfrm>
            <a:off x="6604000" y="3807619"/>
            <a:ext cx="2320925" cy="257175"/>
          </a:xfrm>
          <a:prstGeom prst="rect">
            <a:avLst/>
          </a:prstGeom>
          <a:noFill/>
          <a:ln/>
        </p:spPr>
        <p:txBody>
          <a:bodyPr wrap="square" lIns="25400" tIns="25400" rIns="25400" bIns="25400" rtlCol="0" anchor="t">
            <a:normAutofit/>
          </a:bodyPr>
          <a:lstStyle/>
          <a:p>
            <a:pPr marL="0" indent="0" algn="ctr">
              <a:buNone/>
            </a:pPr>
            <a:r>
              <a:rPr lang="en-US" sz="1350" b="1" kern="0" spc="216" dirty="0">
                <a:solidFill>
                  <a:srgbClr val="6070FF"/>
                </a:solidFill>
                <a:latin typeface="Century Gothic" pitchFamily="34" charset="0"/>
                <a:ea typeface="Century Gothic" pitchFamily="34" charset="-122"/>
                <a:cs typeface="Century Gothic" pitchFamily="34" charset="-120"/>
              </a:rPr>
              <a:t>STEP 3</a:t>
            </a:r>
            <a:endParaRPr lang="en-US" sz="1350" dirty="0"/>
          </a:p>
        </p:txBody>
      </p:sp>
      <p:sp>
        <p:nvSpPr>
          <p:cNvPr id="17" name="Text 15"/>
          <p:cNvSpPr/>
          <p:nvPr/>
        </p:nvSpPr>
        <p:spPr>
          <a:xfrm>
            <a:off x="6604000" y="4102894"/>
            <a:ext cx="2320925" cy="295275"/>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Augmentation</a:t>
            </a:r>
            <a:endParaRPr lang="en-US" sz="1650" dirty="0"/>
          </a:p>
        </p:txBody>
      </p:sp>
      <p:sp>
        <p:nvSpPr>
          <p:cNvPr id="18" name="Shape 16"/>
          <p:cNvSpPr/>
          <p:nvPr/>
        </p:nvSpPr>
        <p:spPr>
          <a:xfrm>
            <a:off x="9229725" y="3598069"/>
            <a:ext cx="2587625" cy="971550"/>
          </a:xfrm>
          <a:prstGeom prst="roundRect">
            <a:avLst>
              <a:gd name="adj" fmla="val 13725"/>
            </a:avLst>
          </a:prstGeom>
          <a:solidFill>
            <a:srgbClr val="F3F5FB"/>
          </a:solidFill>
          <a:ln/>
        </p:spPr>
      </p:sp>
      <p:sp>
        <p:nvSpPr>
          <p:cNvPr id="19" name="Text 17"/>
          <p:cNvSpPr/>
          <p:nvPr/>
        </p:nvSpPr>
        <p:spPr>
          <a:xfrm>
            <a:off x="9363075" y="3807619"/>
            <a:ext cx="2320925" cy="257175"/>
          </a:xfrm>
          <a:prstGeom prst="rect">
            <a:avLst/>
          </a:prstGeom>
          <a:noFill/>
          <a:ln/>
        </p:spPr>
        <p:txBody>
          <a:bodyPr wrap="square" lIns="25400" tIns="25400" rIns="25400" bIns="25400" rtlCol="0" anchor="t">
            <a:normAutofit/>
          </a:bodyPr>
          <a:lstStyle/>
          <a:p>
            <a:pPr marL="0" indent="0" algn="ctr">
              <a:buNone/>
            </a:pPr>
            <a:r>
              <a:rPr lang="en-US" sz="1350" b="1" kern="0" spc="216" dirty="0">
                <a:solidFill>
                  <a:srgbClr val="6070FF"/>
                </a:solidFill>
                <a:latin typeface="Century Gothic" pitchFamily="34" charset="0"/>
                <a:ea typeface="Century Gothic" pitchFamily="34" charset="-122"/>
                <a:cs typeface="Century Gothic" pitchFamily="34" charset="-120"/>
              </a:rPr>
              <a:t>STEP 4</a:t>
            </a:r>
            <a:endParaRPr lang="en-US" sz="1350" dirty="0"/>
          </a:p>
        </p:txBody>
      </p:sp>
      <p:sp>
        <p:nvSpPr>
          <p:cNvPr id="20" name="Text 18"/>
          <p:cNvSpPr/>
          <p:nvPr/>
        </p:nvSpPr>
        <p:spPr>
          <a:xfrm>
            <a:off x="9363075" y="4102894"/>
            <a:ext cx="2320925" cy="295275"/>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Preprocessing</a:t>
            </a:r>
            <a:endParaRPr lang="en-US" sz="1650" dirty="0"/>
          </a:p>
        </p:txBody>
      </p:sp>
      <p:sp>
        <p:nvSpPr>
          <p:cNvPr id="21" name="Shape 19"/>
          <p:cNvSpPr/>
          <p:nvPr/>
        </p:nvSpPr>
        <p:spPr>
          <a:xfrm>
            <a:off x="11988800" y="3598069"/>
            <a:ext cx="2587625" cy="971550"/>
          </a:xfrm>
          <a:prstGeom prst="roundRect">
            <a:avLst>
              <a:gd name="adj" fmla="val 13725"/>
            </a:avLst>
          </a:prstGeom>
          <a:solidFill>
            <a:srgbClr val="F3F5FB"/>
          </a:solidFill>
          <a:ln/>
        </p:spPr>
      </p:sp>
      <p:sp>
        <p:nvSpPr>
          <p:cNvPr id="22" name="Text 20"/>
          <p:cNvSpPr/>
          <p:nvPr/>
        </p:nvSpPr>
        <p:spPr>
          <a:xfrm>
            <a:off x="12122150" y="3807619"/>
            <a:ext cx="2320925" cy="257175"/>
          </a:xfrm>
          <a:prstGeom prst="rect">
            <a:avLst/>
          </a:prstGeom>
          <a:noFill/>
          <a:ln/>
        </p:spPr>
        <p:txBody>
          <a:bodyPr wrap="square" lIns="25400" tIns="25400" rIns="25400" bIns="25400" rtlCol="0" anchor="t">
            <a:normAutofit/>
          </a:bodyPr>
          <a:lstStyle/>
          <a:p>
            <a:pPr marL="0" indent="0" algn="ctr">
              <a:buNone/>
            </a:pPr>
            <a:r>
              <a:rPr lang="en-US" sz="1350" b="1" kern="0" spc="216" dirty="0">
                <a:solidFill>
                  <a:srgbClr val="6070FF"/>
                </a:solidFill>
                <a:latin typeface="Century Gothic" pitchFamily="34" charset="0"/>
                <a:ea typeface="Century Gothic" pitchFamily="34" charset="-122"/>
                <a:cs typeface="Century Gothic" pitchFamily="34" charset="-120"/>
              </a:rPr>
              <a:t>STEP 5</a:t>
            </a:r>
            <a:endParaRPr lang="en-US" sz="1350" dirty="0"/>
          </a:p>
        </p:txBody>
      </p:sp>
      <p:sp>
        <p:nvSpPr>
          <p:cNvPr id="23" name="Text 21"/>
          <p:cNvSpPr/>
          <p:nvPr/>
        </p:nvSpPr>
        <p:spPr>
          <a:xfrm>
            <a:off x="12122150" y="4102894"/>
            <a:ext cx="2320925" cy="295275"/>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Fine-tuning</a:t>
            </a:r>
            <a:endParaRPr lang="en-US" sz="1650" dirty="0"/>
          </a:p>
        </p:txBody>
      </p:sp>
      <p:sp>
        <p:nvSpPr>
          <p:cNvPr id="24" name="Shape 22"/>
          <p:cNvSpPr/>
          <p:nvPr/>
        </p:nvSpPr>
        <p:spPr>
          <a:xfrm>
            <a:off x="14747875" y="3598069"/>
            <a:ext cx="2587625" cy="971550"/>
          </a:xfrm>
          <a:prstGeom prst="roundRect">
            <a:avLst>
              <a:gd name="adj" fmla="val 13725"/>
            </a:avLst>
          </a:prstGeom>
          <a:solidFill>
            <a:srgbClr val="F3F5FB"/>
          </a:solidFill>
          <a:ln/>
        </p:spPr>
      </p:sp>
      <p:sp>
        <p:nvSpPr>
          <p:cNvPr id="25" name="Text 23"/>
          <p:cNvSpPr/>
          <p:nvPr/>
        </p:nvSpPr>
        <p:spPr>
          <a:xfrm>
            <a:off x="14881225" y="3807619"/>
            <a:ext cx="2320925" cy="257175"/>
          </a:xfrm>
          <a:prstGeom prst="rect">
            <a:avLst/>
          </a:prstGeom>
          <a:noFill/>
          <a:ln/>
        </p:spPr>
        <p:txBody>
          <a:bodyPr wrap="square" lIns="25400" tIns="25400" rIns="25400" bIns="25400" rtlCol="0" anchor="t">
            <a:normAutofit/>
          </a:bodyPr>
          <a:lstStyle/>
          <a:p>
            <a:pPr marL="0" indent="0" algn="ctr">
              <a:buNone/>
            </a:pPr>
            <a:r>
              <a:rPr lang="en-US" sz="1350" b="1" kern="0" spc="216" dirty="0">
                <a:solidFill>
                  <a:srgbClr val="6070FF"/>
                </a:solidFill>
                <a:latin typeface="Century Gothic" pitchFamily="34" charset="0"/>
                <a:ea typeface="Century Gothic" pitchFamily="34" charset="-122"/>
                <a:cs typeface="Century Gothic" pitchFamily="34" charset="-120"/>
              </a:rPr>
              <a:t>STEP 6</a:t>
            </a:r>
            <a:endParaRPr lang="en-US" sz="1350" dirty="0"/>
          </a:p>
        </p:txBody>
      </p:sp>
      <p:sp>
        <p:nvSpPr>
          <p:cNvPr id="26" name="Text 24"/>
          <p:cNvSpPr/>
          <p:nvPr/>
        </p:nvSpPr>
        <p:spPr>
          <a:xfrm>
            <a:off x="14881225" y="4102894"/>
            <a:ext cx="2320925" cy="295275"/>
          </a:xfrm>
          <a:prstGeom prst="rect">
            <a:avLst/>
          </a:prstGeom>
          <a:noFill/>
          <a:ln/>
        </p:spPr>
        <p:txBody>
          <a:bodyPr wrap="square" lIns="25400" tIns="25400" rIns="25400" bIns="25400" rtlCol="0" anchor="t">
            <a:normAutofit lnSpcReduction="10000"/>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Evaluation</a:t>
            </a:r>
            <a:endParaRPr lang="en-US" sz="1650" dirty="0"/>
          </a:p>
        </p:txBody>
      </p:sp>
      <p:sp>
        <p:nvSpPr>
          <p:cNvPr id="27" name="Text 25"/>
          <p:cNvSpPr/>
          <p:nvPr/>
        </p:nvSpPr>
        <p:spPr>
          <a:xfrm>
            <a:off x="952500" y="5331619"/>
            <a:ext cx="14716125"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Each step has a deliverable and a checkpoint. The stepper repeats above subsequent slides so you always know where we are.</a:t>
            </a:r>
            <a:endParaRPr lang="en-US" sz="1950" dirty="0"/>
          </a:p>
        </p:txBody>
      </p:sp>
      <p:sp>
        <p:nvSpPr>
          <p:cNvPr id="28" name="Text 26"/>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29" name="Text 27"/>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12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65">
        <p159:morph option="byObject"/>
      </p:transition>
    </mc:Choice>
    <mc:Fallback>
      <p:transition spd="slow" advTm="565">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172144"/>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Data collection</a:t>
            </a:r>
            <a:endParaRPr lang="en-US" sz="3600" dirty="0"/>
          </a:p>
        </p:txBody>
      </p:sp>
      <p:sp>
        <p:nvSpPr>
          <p:cNvPr id="20" name="Text 18"/>
          <p:cNvSpPr/>
          <p:nvPr/>
        </p:nvSpPr>
        <p:spPr>
          <a:xfrm>
            <a:off x="1295400" y="253174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Source: </a:t>
            </a:r>
            <a:r>
              <a:rPr lang="en-US" sz="1950" b="1" dirty="0">
                <a:solidFill>
                  <a:srgbClr val="3A4368"/>
                </a:solidFill>
                <a:latin typeface="Calibri" pitchFamily="34" charset="0"/>
                <a:ea typeface="Calibri" pitchFamily="34" charset="-122"/>
                <a:cs typeface="Calibri" pitchFamily="34" charset="-120"/>
              </a:rPr>
              <a:t>chinmays18 / medical-prescription-dataset</a:t>
            </a:r>
            <a:endParaRPr lang="en-US" sz="1950" dirty="0"/>
          </a:p>
        </p:txBody>
      </p:sp>
      <p:sp>
        <p:nvSpPr>
          <p:cNvPr id="21" name="Text 19"/>
          <p:cNvSpPr/>
          <p:nvPr/>
        </p:nvSpPr>
        <p:spPr>
          <a:xfrm>
            <a:off x="1295400" y="314515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Hosted on Hugging Face Hub, public</a:t>
            </a:r>
            <a:endParaRPr lang="en-US" sz="1950" dirty="0"/>
          </a:p>
        </p:txBody>
      </p:sp>
      <p:sp>
        <p:nvSpPr>
          <p:cNvPr id="22" name="Text 20"/>
          <p:cNvSpPr/>
          <p:nvPr/>
        </p:nvSpPr>
        <p:spPr>
          <a:xfrm>
            <a:off x="1295400" y="375856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Line-level crops + ground-truth transcriptions</a:t>
            </a:r>
            <a:endParaRPr lang="en-US" sz="1950" dirty="0"/>
          </a:p>
        </p:txBody>
      </p:sp>
      <p:sp>
        <p:nvSpPr>
          <p:cNvPr id="23" name="Text 21"/>
          <p:cNvSpPr/>
          <p:nvPr/>
        </p:nvSpPr>
        <p:spPr>
          <a:xfrm>
            <a:off x="1295400" y="437197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Fields: patient, age, medications, dose, frequency, dates, clinic</a:t>
            </a:r>
            <a:endParaRPr lang="en-US" sz="1950" dirty="0"/>
          </a:p>
        </p:txBody>
      </p:sp>
      <p:sp>
        <p:nvSpPr>
          <p:cNvPr id="24" name="Text 22"/>
          <p:cNvSpPr/>
          <p:nvPr/>
        </p:nvSpPr>
        <p:spPr>
          <a:xfrm>
            <a:off x="1295400" y="498538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~5,000-line samples across ~1,000 prescriptions</a:t>
            </a:r>
            <a:endParaRPr lang="en-US" sz="1950" dirty="0"/>
          </a:p>
        </p:txBody>
      </p:sp>
      <p:sp>
        <p:nvSpPr>
          <p:cNvPr id="25" name="Shape 23"/>
          <p:cNvSpPr/>
          <p:nvPr/>
        </p:nvSpPr>
        <p:spPr>
          <a:xfrm>
            <a:off x="9448800" y="2398395"/>
            <a:ext cx="2514600" cy="1600200"/>
          </a:xfrm>
          <a:prstGeom prst="roundRect">
            <a:avLst>
              <a:gd name="adj" fmla="val 8333"/>
            </a:avLst>
          </a:prstGeom>
          <a:solidFill>
            <a:srgbClr val="F7F8FC"/>
          </a:solidFill>
          <a:ln w="9525">
            <a:solidFill>
              <a:srgbClr val="E6E8F0"/>
            </a:solidFill>
            <a:prstDash val="solid"/>
          </a:ln>
        </p:spPr>
      </p:sp>
      <p:sp>
        <p:nvSpPr>
          <p:cNvPr id="26" name="Text 24"/>
          <p:cNvSpPr/>
          <p:nvPr/>
        </p:nvSpPr>
        <p:spPr>
          <a:xfrm>
            <a:off x="9949180" y="3050857"/>
            <a:ext cx="1590040"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800" dirty="0">
                <a:solidFill>
                  <a:srgbClr val="222222"/>
                </a:solidFill>
                <a:latin typeface="Caveat" pitchFamily="34" charset="0"/>
                <a:ea typeface="Caveat" pitchFamily="34" charset="-122"/>
                <a:cs typeface="Caveat" pitchFamily="34" charset="-120"/>
              </a:rPr>
              <a:t>Metformin 500 mg</a:t>
            </a:r>
            <a:endParaRPr lang="en-US" sz="1800" dirty="0"/>
          </a:p>
        </p:txBody>
      </p:sp>
      <p:sp>
        <p:nvSpPr>
          <p:cNvPr id="27" name="Shape 25"/>
          <p:cNvSpPr/>
          <p:nvPr/>
        </p:nvSpPr>
        <p:spPr>
          <a:xfrm>
            <a:off x="12134850" y="2398395"/>
            <a:ext cx="2514600" cy="1600200"/>
          </a:xfrm>
          <a:prstGeom prst="roundRect">
            <a:avLst>
              <a:gd name="adj" fmla="val 8333"/>
            </a:avLst>
          </a:prstGeom>
          <a:solidFill>
            <a:srgbClr val="F7F8FC"/>
          </a:solidFill>
          <a:ln w="9525">
            <a:solidFill>
              <a:srgbClr val="E6E8F0"/>
            </a:solidFill>
            <a:prstDash val="solid"/>
          </a:ln>
        </p:spPr>
      </p:sp>
      <p:sp>
        <p:nvSpPr>
          <p:cNvPr id="28" name="Text 26"/>
          <p:cNvSpPr/>
          <p:nvPr/>
        </p:nvSpPr>
        <p:spPr>
          <a:xfrm>
            <a:off x="12774771" y="3050857"/>
            <a:ext cx="1310957"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800" dirty="0">
                <a:solidFill>
                  <a:srgbClr val="222222"/>
                </a:solidFill>
                <a:latin typeface="Caveat" pitchFamily="34" charset="0"/>
                <a:ea typeface="Caveat" pitchFamily="34" charset="-122"/>
                <a:cs typeface="Caveat" pitchFamily="34" charset="-120"/>
              </a:rPr>
              <a:t>Patient: J. Doe</a:t>
            </a:r>
            <a:endParaRPr lang="en-US" sz="1800" dirty="0"/>
          </a:p>
        </p:txBody>
      </p:sp>
      <p:sp>
        <p:nvSpPr>
          <p:cNvPr id="29" name="Shape 27"/>
          <p:cNvSpPr/>
          <p:nvPr/>
        </p:nvSpPr>
        <p:spPr>
          <a:xfrm>
            <a:off x="14820900" y="2398395"/>
            <a:ext cx="2514600" cy="1600200"/>
          </a:xfrm>
          <a:prstGeom prst="roundRect">
            <a:avLst>
              <a:gd name="adj" fmla="val 8333"/>
            </a:avLst>
          </a:prstGeom>
          <a:solidFill>
            <a:srgbClr val="F7F8FC"/>
          </a:solidFill>
          <a:ln w="9525">
            <a:solidFill>
              <a:srgbClr val="E6E8F0"/>
            </a:solidFill>
            <a:prstDash val="solid"/>
          </a:ln>
        </p:spPr>
      </p:sp>
      <p:sp>
        <p:nvSpPr>
          <p:cNvPr id="30" name="Text 28"/>
          <p:cNvSpPr/>
          <p:nvPr/>
        </p:nvSpPr>
        <p:spPr>
          <a:xfrm>
            <a:off x="15581948" y="3050857"/>
            <a:ext cx="1068705" cy="333375"/>
          </a:xfrm>
          <a:prstGeom prst="rect">
            <a:avLst/>
          </a:prstGeom>
          <a:noFill/>
          <a:ln/>
        </p:spPr>
        <p:txBody>
          <a:bodyPr wrap="square" lIns="25400" tIns="25400" rIns="25400" bIns="25400" rtlCol="0" anchor="t">
            <a:normAutofit/>
          </a:bodyPr>
          <a:lstStyle/>
          <a:p>
            <a:pPr marL="0" indent="0" algn="l">
              <a:buNone/>
            </a:pPr>
            <a:r>
              <a:rPr lang="en-US" sz="1800" dirty="0">
                <a:solidFill>
                  <a:srgbClr val="222222"/>
                </a:solidFill>
                <a:latin typeface="Caveat" pitchFamily="34" charset="0"/>
                <a:ea typeface="Caveat" pitchFamily="34" charset="-122"/>
                <a:cs typeface="Caveat" pitchFamily="34" charset="-120"/>
              </a:rPr>
              <a:t>Dr. R. Patel</a:t>
            </a:r>
            <a:endParaRPr lang="en-US" sz="1800" dirty="0"/>
          </a:p>
        </p:txBody>
      </p:sp>
      <p:sp>
        <p:nvSpPr>
          <p:cNvPr id="31" name="Shape 29"/>
          <p:cNvSpPr/>
          <p:nvPr/>
        </p:nvSpPr>
        <p:spPr>
          <a:xfrm>
            <a:off x="9448800" y="4170045"/>
            <a:ext cx="2514600" cy="1600200"/>
          </a:xfrm>
          <a:prstGeom prst="roundRect">
            <a:avLst>
              <a:gd name="adj" fmla="val 8333"/>
            </a:avLst>
          </a:prstGeom>
          <a:solidFill>
            <a:srgbClr val="F7F8FC"/>
          </a:solidFill>
          <a:ln w="9525">
            <a:solidFill>
              <a:srgbClr val="E6E8F0"/>
            </a:solidFill>
            <a:prstDash val="solid"/>
          </a:ln>
        </p:spPr>
      </p:sp>
      <p:sp>
        <p:nvSpPr>
          <p:cNvPr id="32" name="Text 30"/>
          <p:cNvSpPr/>
          <p:nvPr/>
        </p:nvSpPr>
        <p:spPr>
          <a:xfrm>
            <a:off x="10074751" y="4822507"/>
            <a:ext cx="1338739" cy="333375"/>
          </a:xfrm>
          <a:prstGeom prst="rect">
            <a:avLst/>
          </a:prstGeom>
          <a:noFill/>
          <a:ln/>
        </p:spPr>
        <p:txBody>
          <a:bodyPr wrap="square" lIns="25400" tIns="25400" rIns="25400" bIns="25400" rtlCol="0" anchor="t">
            <a:normAutofit fontScale="85000" lnSpcReduction="20000"/>
          </a:bodyPr>
          <a:lstStyle/>
          <a:p>
            <a:pPr marL="0" indent="0" algn="l">
              <a:buNone/>
            </a:pPr>
            <a:r>
              <a:rPr lang="en-US" sz="1800" dirty="0">
                <a:solidFill>
                  <a:srgbClr val="222222"/>
                </a:solidFill>
                <a:latin typeface="Caveat" pitchFamily="34" charset="0"/>
                <a:ea typeface="Caveat" pitchFamily="34" charset="-122"/>
                <a:cs typeface="Caveat" pitchFamily="34" charset="-120"/>
              </a:rPr>
              <a:t>Riverside Clinic</a:t>
            </a:r>
            <a:endParaRPr lang="en-US" sz="1800" dirty="0"/>
          </a:p>
        </p:txBody>
      </p:sp>
      <p:sp>
        <p:nvSpPr>
          <p:cNvPr id="33" name="Shape 31"/>
          <p:cNvSpPr/>
          <p:nvPr/>
        </p:nvSpPr>
        <p:spPr>
          <a:xfrm>
            <a:off x="12134850" y="4170045"/>
            <a:ext cx="2514600" cy="1600200"/>
          </a:xfrm>
          <a:prstGeom prst="roundRect">
            <a:avLst>
              <a:gd name="adj" fmla="val 8333"/>
            </a:avLst>
          </a:prstGeom>
          <a:solidFill>
            <a:srgbClr val="F7F8FC"/>
          </a:solidFill>
          <a:ln w="9525">
            <a:solidFill>
              <a:srgbClr val="E6E8F0"/>
            </a:solidFill>
            <a:prstDash val="solid"/>
          </a:ln>
        </p:spPr>
      </p:sp>
      <p:sp>
        <p:nvSpPr>
          <p:cNvPr id="34" name="Text 32"/>
          <p:cNvSpPr/>
          <p:nvPr/>
        </p:nvSpPr>
        <p:spPr>
          <a:xfrm>
            <a:off x="12667138" y="4822507"/>
            <a:ext cx="1526064"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800" dirty="0">
                <a:solidFill>
                  <a:srgbClr val="222222"/>
                </a:solidFill>
                <a:latin typeface="Caveat" pitchFamily="34" charset="0"/>
                <a:ea typeface="Caveat" pitchFamily="34" charset="-122"/>
                <a:cs typeface="Caveat" pitchFamily="34" charset="-120"/>
              </a:rPr>
              <a:t>Date: 2024-12-16</a:t>
            </a:r>
            <a:endParaRPr lang="en-US" sz="1800" dirty="0"/>
          </a:p>
        </p:txBody>
      </p:sp>
      <p:sp>
        <p:nvSpPr>
          <p:cNvPr id="35" name="Shape 33"/>
          <p:cNvSpPr/>
          <p:nvPr/>
        </p:nvSpPr>
        <p:spPr>
          <a:xfrm>
            <a:off x="14820900" y="4170045"/>
            <a:ext cx="2514600" cy="1600200"/>
          </a:xfrm>
          <a:prstGeom prst="roundRect">
            <a:avLst>
              <a:gd name="adj" fmla="val 8333"/>
            </a:avLst>
          </a:prstGeom>
          <a:solidFill>
            <a:srgbClr val="F7F8FC"/>
          </a:solidFill>
          <a:ln w="9525">
            <a:solidFill>
              <a:srgbClr val="E6E8F0"/>
            </a:solidFill>
            <a:prstDash val="solid"/>
          </a:ln>
        </p:spPr>
      </p:sp>
      <p:sp>
        <p:nvSpPr>
          <p:cNvPr id="36" name="Text 34"/>
          <p:cNvSpPr/>
          <p:nvPr/>
        </p:nvSpPr>
        <p:spPr>
          <a:xfrm>
            <a:off x="15613856" y="4822507"/>
            <a:ext cx="1004729" cy="333375"/>
          </a:xfrm>
          <a:prstGeom prst="rect">
            <a:avLst/>
          </a:prstGeom>
          <a:noFill/>
          <a:ln/>
        </p:spPr>
        <p:txBody>
          <a:bodyPr wrap="square" lIns="25400" tIns="25400" rIns="25400" bIns="25400" rtlCol="0" anchor="t">
            <a:normAutofit fontScale="85000" lnSpcReduction="10000"/>
          </a:bodyPr>
          <a:lstStyle/>
          <a:p>
            <a:pPr marL="0" indent="0" algn="l">
              <a:buNone/>
            </a:pPr>
            <a:r>
              <a:rPr lang="en-US" sz="1800" dirty="0">
                <a:solidFill>
                  <a:srgbClr val="222222"/>
                </a:solidFill>
                <a:latin typeface="Caveat" pitchFamily="34" charset="0"/>
                <a:ea typeface="Caveat" pitchFamily="34" charset="-122"/>
                <a:cs typeface="Caveat" pitchFamily="34" charset="-120"/>
              </a:rPr>
              <a:t>Twice daily</a:t>
            </a:r>
            <a:endParaRPr lang="en-US" sz="1800" dirty="0"/>
          </a:p>
        </p:txBody>
      </p:sp>
      <p:sp>
        <p:nvSpPr>
          <p:cNvPr id="37" name="Text 35"/>
          <p:cNvSpPr/>
          <p:nvPr/>
        </p:nvSpPr>
        <p:spPr>
          <a:xfrm>
            <a:off x="9330500" y="5865495"/>
            <a:ext cx="8123301" cy="257175"/>
          </a:xfrm>
          <a:prstGeom prst="rect">
            <a:avLst/>
          </a:prstGeom>
          <a:noFill/>
          <a:ln/>
        </p:spPr>
        <p:txBody>
          <a:bodyPr wrap="square" lIns="25400" tIns="25400" rIns="25400" bIns="25400" rtlCol="0" anchor="t">
            <a:normAutofit/>
          </a:bodyPr>
          <a:lstStyle/>
          <a:p>
            <a:pPr marL="0" indent="0" algn="ctr">
              <a:buNone/>
            </a:pPr>
            <a:r>
              <a:rPr lang="en-US" sz="1350" dirty="0">
                <a:solidFill>
                  <a:srgbClr val="7A8099"/>
                </a:solidFill>
                <a:latin typeface="Calibri" pitchFamily="34" charset="0"/>
                <a:ea typeface="Calibri" pitchFamily="34" charset="-122"/>
                <a:cs typeface="Calibri" pitchFamily="34" charset="-120"/>
              </a:rPr>
              <a:t>Sample line crops with ground-truth transcriptions.</a:t>
            </a:r>
            <a:endParaRPr lang="en-US" sz="1350" dirty="0"/>
          </a:p>
        </p:txBody>
      </p:sp>
      <p:sp>
        <p:nvSpPr>
          <p:cNvPr id="38" name="Text 36"/>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9" name="Text 37"/>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13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59">
        <p159:morph option="byObject"/>
      </p:transition>
    </mc:Choice>
    <mc:Fallback>
      <p:transition spd="slow" advTm="459">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172144"/>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Data exploration</a:t>
            </a:r>
            <a:endParaRPr lang="en-US" sz="3600" dirty="0"/>
          </a:p>
        </p:txBody>
      </p:sp>
      <p:sp>
        <p:nvSpPr>
          <p:cNvPr id="20" name="Shape 18"/>
          <p:cNvSpPr/>
          <p:nvPr/>
        </p:nvSpPr>
        <p:spPr>
          <a:xfrm>
            <a:off x="952500" y="2398395"/>
            <a:ext cx="6833235" cy="3333750"/>
          </a:xfrm>
          <a:prstGeom prst="roundRect">
            <a:avLst>
              <a:gd name="adj" fmla="val 4571"/>
            </a:avLst>
          </a:prstGeom>
          <a:solidFill>
            <a:srgbClr val="FFFFFF"/>
          </a:solidFill>
          <a:ln w="9525">
            <a:solidFill>
              <a:srgbClr val="E6E8F0"/>
            </a:solidFill>
            <a:prstDash val="solid"/>
          </a:ln>
        </p:spPr>
      </p:sp>
      <p:sp>
        <p:nvSpPr>
          <p:cNvPr id="21" name="Text 19"/>
          <p:cNvSpPr/>
          <p:nvPr/>
        </p:nvSpPr>
        <p:spPr>
          <a:xfrm>
            <a:off x="1190625" y="2636520"/>
            <a:ext cx="6547695" cy="29527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72144"/>
                </a:solidFill>
                <a:latin typeface="Century Gothic" pitchFamily="34" charset="0"/>
                <a:ea typeface="Century Gothic" pitchFamily="34" charset="-122"/>
                <a:cs typeface="Century Gothic" pitchFamily="34" charset="-120"/>
              </a:rPr>
              <a:t>Split sizes (80 / 10 / 10)</a:t>
            </a:r>
            <a:endParaRPr lang="en-US" sz="1650" dirty="0"/>
          </a:p>
        </p:txBody>
      </p:sp>
      <p:pic>
        <p:nvPicPr>
          <p:cNvPr id="22" name="Image 0" descr="preencoded.png"/>
          <p:cNvPicPr>
            <a:picLocks noChangeAspect="1"/>
          </p:cNvPicPr>
          <p:nvPr/>
        </p:nvPicPr>
        <p:blipFill>
          <a:blip r:embed="rId3"/>
          <a:stretch>
            <a:fillRect/>
          </a:stretch>
        </p:blipFill>
        <p:spPr>
          <a:xfrm>
            <a:off x="1190625" y="2969895"/>
            <a:ext cx="6356985" cy="2476500"/>
          </a:xfrm>
          <a:prstGeom prst="rect">
            <a:avLst/>
          </a:prstGeom>
        </p:spPr>
      </p:pic>
      <p:sp>
        <p:nvSpPr>
          <p:cNvPr id="23" name="Shape 20"/>
          <p:cNvSpPr/>
          <p:nvPr/>
        </p:nvSpPr>
        <p:spPr>
          <a:xfrm>
            <a:off x="8090535" y="2398395"/>
            <a:ext cx="9244965" cy="3333750"/>
          </a:xfrm>
          <a:prstGeom prst="roundRect">
            <a:avLst>
              <a:gd name="adj" fmla="val 4571"/>
            </a:avLst>
          </a:prstGeom>
          <a:solidFill>
            <a:srgbClr val="FFFFFF"/>
          </a:solidFill>
          <a:ln w="9525">
            <a:solidFill>
              <a:srgbClr val="E6E8F0"/>
            </a:solidFill>
            <a:prstDash val="solid"/>
          </a:ln>
        </p:spPr>
      </p:sp>
      <p:sp>
        <p:nvSpPr>
          <p:cNvPr id="24" name="Text 21"/>
          <p:cNvSpPr/>
          <p:nvPr/>
        </p:nvSpPr>
        <p:spPr>
          <a:xfrm>
            <a:off x="8328660" y="2636520"/>
            <a:ext cx="9031776" cy="29527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72144"/>
                </a:solidFill>
                <a:latin typeface="Century Gothic" pitchFamily="34" charset="0"/>
                <a:ea typeface="Century Gothic" pitchFamily="34" charset="-122"/>
                <a:cs typeface="Century Gothic" pitchFamily="34" charset="-120"/>
              </a:rPr>
              <a:t>Character-length distribution (lines)</a:t>
            </a:r>
            <a:endParaRPr lang="en-US" sz="1650" dirty="0"/>
          </a:p>
        </p:txBody>
      </p:sp>
      <p:pic>
        <p:nvPicPr>
          <p:cNvPr id="25" name="Image 1" descr="preencoded.png"/>
          <p:cNvPicPr>
            <a:picLocks noChangeAspect="1"/>
          </p:cNvPicPr>
          <p:nvPr/>
        </p:nvPicPr>
        <p:blipFill>
          <a:blip r:embed="rId4"/>
          <a:stretch>
            <a:fillRect/>
          </a:stretch>
        </p:blipFill>
        <p:spPr>
          <a:xfrm>
            <a:off x="8328660" y="2969895"/>
            <a:ext cx="8768715" cy="2476500"/>
          </a:xfrm>
          <a:prstGeom prst="rect">
            <a:avLst/>
          </a:prstGeom>
        </p:spPr>
      </p:pic>
      <p:sp>
        <p:nvSpPr>
          <p:cNvPr id="26" name="Shape 22"/>
          <p:cNvSpPr/>
          <p:nvPr/>
        </p:nvSpPr>
        <p:spPr>
          <a:xfrm>
            <a:off x="952500" y="5960745"/>
            <a:ext cx="8039100" cy="3333750"/>
          </a:xfrm>
          <a:prstGeom prst="roundRect">
            <a:avLst>
              <a:gd name="adj" fmla="val 4571"/>
            </a:avLst>
          </a:prstGeom>
          <a:solidFill>
            <a:srgbClr val="FFFFFF"/>
          </a:solidFill>
          <a:ln w="9525">
            <a:solidFill>
              <a:srgbClr val="E6E8F0"/>
            </a:solidFill>
            <a:prstDash val="solid"/>
          </a:ln>
        </p:spPr>
      </p:sp>
      <p:sp>
        <p:nvSpPr>
          <p:cNvPr id="27" name="Text 23"/>
          <p:cNvSpPr/>
          <p:nvPr/>
        </p:nvSpPr>
        <p:spPr>
          <a:xfrm>
            <a:off x="1190625" y="6198870"/>
            <a:ext cx="7789736" cy="29527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72144"/>
                </a:solidFill>
                <a:latin typeface="Century Gothic" pitchFamily="34" charset="0"/>
                <a:ea typeface="Century Gothic" pitchFamily="34" charset="-122"/>
                <a:cs typeface="Century Gothic" pitchFamily="34" charset="-120"/>
              </a:rPr>
              <a:t>Top-15 drug names</a:t>
            </a:r>
            <a:endParaRPr lang="en-US" sz="1650" dirty="0"/>
          </a:p>
        </p:txBody>
      </p:sp>
      <p:pic>
        <p:nvPicPr>
          <p:cNvPr id="28" name="Image 2" descr="preencoded.png"/>
          <p:cNvPicPr>
            <a:picLocks noChangeAspect="1"/>
          </p:cNvPicPr>
          <p:nvPr/>
        </p:nvPicPr>
        <p:blipFill>
          <a:blip r:embed="rId5"/>
          <a:stretch>
            <a:fillRect/>
          </a:stretch>
        </p:blipFill>
        <p:spPr>
          <a:xfrm>
            <a:off x="1190625" y="6532245"/>
            <a:ext cx="7562850" cy="2476500"/>
          </a:xfrm>
          <a:prstGeom prst="rect">
            <a:avLst/>
          </a:prstGeom>
        </p:spPr>
      </p:pic>
      <p:sp>
        <p:nvSpPr>
          <p:cNvPr id="29" name="Shape 24"/>
          <p:cNvSpPr/>
          <p:nvPr/>
        </p:nvSpPr>
        <p:spPr>
          <a:xfrm>
            <a:off x="9296400" y="5960745"/>
            <a:ext cx="8039100" cy="3333750"/>
          </a:xfrm>
          <a:prstGeom prst="roundRect">
            <a:avLst>
              <a:gd name="adj" fmla="val 4571"/>
            </a:avLst>
          </a:prstGeom>
          <a:solidFill>
            <a:srgbClr val="FFFFFF"/>
          </a:solidFill>
          <a:ln w="9525">
            <a:solidFill>
              <a:srgbClr val="E6E8F0"/>
            </a:solidFill>
            <a:prstDash val="solid"/>
          </a:ln>
        </p:spPr>
      </p:sp>
      <p:sp>
        <p:nvSpPr>
          <p:cNvPr id="30" name="Text 25"/>
          <p:cNvSpPr/>
          <p:nvPr/>
        </p:nvSpPr>
        <p:spPr>
          <a:xfrm>
            <a:off x="9534525" y="6198870"/>
            <a:ext cx="7789736" cy="29527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72144"/>
                </a:solidFill>
                <a:latin typeface="Century Gothic" pitchFamily="34" charset="0"/>
                <a:ea typeface="Century Gothic" pitchFamily="34" charset="-122"/>
                <a:cs typeface="Century Gothic" pitchFamily="34" charset="-120"/>
              </a:rPr>
              <a:t>Patient-age distribution (n = 1,000)</a:t>
            </a:r>
            <a:endParaRPr lang="en-US" sz="1650" dirty="0"/>
          </a:p>
        </p:txBody>
      </p:sp>
      <p:pic>
        <p:nvPicPr>
          <p:cNvPr id="31" name="Image 3" descr="preencoded.png"/>
          <p:cNvPicPr>
            <a:picLocks noChangeAspect="1"/>
          </p:cNvPicPr>
          <p:nvPr/>
        </p:nvPicPr>
        <p:blipFill>
          <a:blip r:embed="rId6"/>
          <a:stretch>
            <a:fillRect/>
          </a:stretch>
        </p:blipFill>
        <p:spPr>
          <a:xfrm>
            <a:off x="9534525" y="6532245"/>
            <a:ext cx="7562850" cy="2476500"/>
          </a:xfrm>
          <a:prstGeom prst="rect">
            <a:avLst/>
          </a:prstGeom>
        </p:spPr>
      </p:pic>
      <p:sp>
        <p:nvSpPr>
          <p:cNvPr id="32" name="Text 26"/>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3" name="Text 27"/>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14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42">
        <p159:morph option="byObject"/>
      </p:transition>
    </mc:Choice>
    <mc:Fallback>
      <p:transition spd="slow" advTm="342">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172144"/>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Data augmentation</a:t>
            </a:r>
            <a:endParaRPr lang="en-US" sz="3600" dirty="0"/>
          </a:p>
        </p:txBody>
      </p:sp>
      <p:sp>
        <p:nvSpPr>
          <p:cNvPr id="20" name="Text 18"/>
          <p:cNvSpPr/>
          <p:nvPr/>
        </p:nvSpPr>
        <p:spPr>
          <a:xfrm>
            <a:off x="779145" y="2398395"/>
            <a:ext cx="8136255" cy="3105150"/>
          </a:xfrm>
          <a:prstGeom prst="rect">
            <a:avLst/>
          </a:prstGeom>
          <a:noFill/>
          <a:ln/>
        </p:spPr>
        <p:txBody>
          <a:bodyPr wrap="square" lIns="25400" tIns="25400" rIns="25400" bIns="25400" rtlCol="0" anchor="t">
            <a:normAutofit/>
          </a:bodyPr>
          <a:lstStyle/>
          <a:p>
            <a:pPr marL="0" indent="0" algn="l">
              <a:lnSpc>
                <a:spcPct val="140000"/>
              </a:lnSpc>
              <a:buNone/>
            </a:pPr>
            <a:r>
              <a:rPr lang="en-US" sz="2800" dirty="0">
                <a:solidFill>
                  <a:srgbClr val="3A4368"/>
                </a:solidFill>
                <a:latin typeface="+mj-lt"/>
                <a:ea typeface="Calibri" pitchFamily="34" charset="-122"/>
                <a:cs typeface="Calibri" pitchFamily="34" charset="-120"/>
              </a:rPr>
              <a:t>Rotation ± 5° to mimic phone-photo skew</a:t>
            </a:r>
            <a:endParaRPr lang="en-US" sz="2800" dirty="0">
              <a:latin typeface="+mj-lt"/>
            </a:endParaRPr>
          </a:p>
          <a:p>
            <a:pPr marL="0" indent="0" algn="l">
              <a:lnSpc>
                <a:spcPct val="140000"/>
              </a:lnSpc>
              <a:buNone/>
            </a:pPr>
            <a:r>
              <a:rPr lang="en-US" sz="2800" dirty="0">
                <a:solidFill>
                  <a:srgbClr val="3A4368"/>
                </a:solidFill>
                <a:latin typeface="+mj-lt"/>
                <a:ea typeface="Calibri" pitchFamily="34" charset="-122"/>
                <a:cs typeface="Calibri" pitchFamily="34" charset="-120"/>
              </a:rPr>
              <a:t>Gaussian blur and motion blur, light radius</a:t>
            </a:r>
            <a:endParaRPr lang="en-US" sz="2800" dirty="0">
              <a:latin typeface="+mj-lt"/>
            </a:endParaRPr>
          </a:p>
          <a:p>
            <a:pPr marL="0" indent="0" algn="l">
              <a:lnSpc>
                <a:spcPct val="140000"/>
              </a:lnSpc>
              <a:buNone/>
            </a:pPr>
            <a:r>
              <a:rPr lang="en-US" sz="2800" dirty="0">
                <a:solidFill>
                  <a:srgbClr val="3A4368"/>
                </a:solidFill>
                <a:latin typeface="+mj-lt"/>
                <a:ea typeface="Calibri" pitchFamily="34" charset="-122"/>
                <a:cs typeface="Calibri" pitchFamily="34" charset="-120"/>
              </a:rPr>
              <a:t>Brightness and contrast jitter</a:t>
            </a:r>
            <a:endParaRPr lang="en-US" sz="2800" dirty="0">
              <a:latin typeface="+mj-lt"/>
            </a:endParaRPr>
          </a:p>
          <a:p>
            <a:pPr marL="0" indent="0" algn="l">
              <a:lnSpc>
                <a:spcPct val="140000"/>
              </a:lnSpc>
              <a:buNone/>
            </a:pPr>
            <a:r>
              <a:rPr lang="en-US" sz="2800" dirty="0">
                <a:solidFill>
                  <a:srgbClr val="3A4368"/>
                </a:solidFill>
                <a:latin typeface="+mj-lt"/>
                <a:ea typeface="Calibri" pitchFamily="34" charset="-122"/>
                <a:cs typeface="Calibri" pitchFamily="34" charset="-120"/>
              </a:rPr>
              <a:t>Elastic distortion to vary stroke geometry</a:t>
            </a:r>
            <a:endParaRPr lang="en-US" sz="2800" dirty="0">
              <a:latin typeface="+mj-lt"/>
            </a:endParaRPr>
          </a:p>
          <a:p>
            <a:pPr marL="0" indent="0" algn="l">
              <a:lnSpc>
                <a:spcPct val="140000"/>
              </a:lnSpc>
              <a:buNone/>
            </a:pPr>
            <a:r>
              <a:rPr lang="en-US" sz="2800" dirty="0">
                <a:solidFill>
                  <a:srgbClr val="3A4368"/>
                </a:solidFill>
                <a:latin typeface="+mj-lt"/>
                <a:ea typeface="Calibri" pitchFamily="34" charset="-122"/>
                <a:cs typeface="Calibri" pitchFamily="34" charset="-120"/>
              </a:rPr>
              <a:t>Roughly triples effective training-set diversity</a:t>
            </a:r>
            <a:endParaRPr lang="en-US" sz="2800" dirty="0">
              <a:latin typeface="+mj-lt"/>
            </a:endParaRPr>
          </a:p>
        </p:txBody>
      </p:sp>
      <p:sp>
        <p:nvSpPr>
          <p:cNvPr id="21" name="Shape 19"/>
          <p:cNvSpPr/>
          <p:nvPr/>
        </p:nvSpPr>
        <p:spPr>
          <a:xfrm>
            <a:off x="9448800" y="2398395"/>
            <a:ext cx="7886700" cy="4972050"/>
          </a:xfrm>
          <a:prstGeom prst="roundRect">
            <a:avLst>
              <a:gd name="adj" fmla="val 2682"/>
            </a:avLst>
          </a:prstGeom>
          <a:solidFill>
            <a:srgbClr val="F7F8FC"/>
          </a:solidFill>
          <a:ln w="9525">
            <a:solidFill>
              <a:srgbClr val="E6E8F0"/>
            </a:solidFill>
            <a:prstDash val="solid"/>
          </a:ln>
        </p:spPr>
      </p:sp>
      <p:pic>
        <p:nvPicPr>
          <p:cNvPr id="22" name="Image 0" descr="preencoded.png"/>
          <p:cNvPicPr>
            <a:picLocks noChangeAspect="1"/>
          </p:cNvPicPr>
          <p:nvPr/>
        </p:nvPicPr>
        <p:blipFill>
          <a:blip r:embed="rId3"/>
          <a:srcRect/>
          <a:stretch/>
        </p:blipFill>
        <p:spPr>
          <a:xfrm>
            <a:off x="9458325" y="2407920"/>
            <a:ext cx="7867650" cy="4953000"/>
          </a:xfrm>
          <a:prstGeom prst="rect">
            <a:avLst/>
          </a:prstGeom>
        </p:spPr>
      </p:pic>
      <p:sp>
        <p:nvSpPr>
          <p:cNvPr id="23" name="Text 20"/>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24" name="Text 21"/>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15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05">
        <p159:morph option="byObject"/>
      </p:transition>
    </mc:Choice>
    <mc:Fallback>
      <p:transition spd="slow" advTm="505">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172144"/>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Preprocessing &amp; line segmentation</a:t>
            </a:r>
            <a:endParaRPr lang="en-US" sz="3600" dirty="0"/>
          </a:p>
        </p:txBody>
      </p:sp>
      <p:sp>
        <p:nvSpPr>
          <p:cNvPr id="20" name="Shape 18"/>
          <p:cNvSpPr/>
          <p:nvPr/>
        </p:nvSpPr>
        <p:spPr>
          <a:xfrm>
            <a:off x="883158" y="2741295"/>
            <a:ext cx="2814955" cy="1314450"/>
          </a:xfrm>
          <a:prstGeom prst="roundRect">
            <a:avLst>
              <a:gd name="adj" fmla="val 10145"/>
            </a:avLst>
          </a:prstGeom>
          <a:solidFill>
            <a:srgbClr val="3BC8F1"/>
          </a:solidFill>
          <a:ln/>
        </p:spPr>
      </p:sp>
      <p:sp>
        <p:nvSpPr>
          <p:cNvPr id="21" name="Text 19"/>
          <p:cNvSpPr/>
          <p:nvPr/>
        </p:nvSpPr>
        <p:spPr>
          <a:xfrm>
            <a:off x="993334" y="2969895"/>
            <a:ext cx="2594604" cy="89535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Grayscale</a:t>
            </a:r>
            <a:endParaRPr lang="en-US" sz="1650" dirty="0"/>
          </a:p>
        </p:txBody>
      </p:sp>
      <p:sp>
        <p:nvSpPr>
          <p:cNvPr id="22" name="Text 20"/>
          <p:cNvSpPr/>
          <p:nvPr/>
        </p:nvSpPr>
        <p:spPr>
          <a:xfrm>
            <a:off x="3831463" y="318420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3" name="Shape 21"/>
          <p:cNvSpPr/>
          <p:nvPr/>
        </p:nvSpPr>
        <p:spPr>
          <a:xfrm>
            <a:off x="4275169" y="2741295"/>
            <a:ext cx="2814955" cy="1314450"/>
          </a:xfrm>
          <a:prstGeom prst="roundRect">
            <a:avLst>
              <a:gd name="adj" fmla="val 10145"/>
            </a:avLst>
          </a:prstGeom>
          <a:solidFill>
            <a:srgbClr val="6070FF"/>
          </a:solidFill>
          <a:ln/>
        </p:spPr>
      </p:sp>
      <p:sp>
        <p:nvSpPr>
          <p:cNvPr id="24" name="Text 22"/>
          <p:cNvSpPr/>
          <p:nvPr/>
        </p:nvSpPr>
        <p:spPr>
          <a:xfrm>
            <a:off x="4385345" y="2969895"/>
            <a:ext cx="2594604" cy="89535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Denoise</a:t>
            </a:r>
            <a:endParaRPr lang="en-US" sz="1650" dirty="0"/>
          </a:p>
        </p:txBody>
      </p:sp>
      <p:sp>
        <p:nvSpPr>
          <p:cNvPr id="25" name="Text 23"/>
          <p:cNvSpPr/>
          <p:nvPr/>
        </p:nvSpPr>
        <p:spPr>
          <a:xfrm>
            <a:off x="7223474" y="318420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6" name="Shape 24"/>
          <p:cNvSpPr/>
          <p:nvPr/>
        </p:nvSpPr>
        <p:spPr>
          <a:xfrm>
            <a:off x="7667181" y="2741295"/>
            <a:ext cx="2814955" cy="1314450"/>
          </a:xfrm>
          <a:prstGeom prst="roundRect">
            <a:avLst>
              <a:gd name="adj" fmla="val 10145"/>
            </a:avLst>
          </a:prstGeom>
          <a:solidFill>
            <a:srgbClr val="FA3585"/>
          </a:solidFill>
          <a:ln/>
        </p:spPr>
      </p:sp>
      <p:sp>
        <p:nvSpPr>
          <p:cNvPr id="27" name="Text 25"/>
          <p:cNvSpPr/>
          <p:nvPr/>
        </p:nvSpPr>
        <p:spPr>
          <a:xfrm>
            <a:off x="7777356" y="2969895"/>
            <a:ext cx="2594604" cy="89535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Adaptive binarize</a:t>
            </a:r>
            <a:endParaRPr lang="en-US" sz="1650" dirty="0"/>
          </a:p>
        </p:txBody>
      </p:sp>
      <p:sp>
        <p:nvSpPr>
          <p:cNvPr id="28" name="Text 26"/>
          <p:cNvSpPr/>
          <p:nvPr/>
        </p:nvSpPr>
        <p:spPr>
          <a:xfrm>
            <a:off x="10615485" y="318420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9" name="Shape 27"/>
          <p:cNvSpPr/>
          <p:nvPr/>
        </p:nvSpPr>
        <p:spPr>
          <a:xfrm>
            <a:off x="11059192" y="2741295"/>
            <a:ext cx="2814955" cy="1314450"/>
          </a:xfrm>
          <a:prstGeom prst="roundRect">
            <a:avLst>
              <a:gd name="adj" fmla="val 10145"/>
            </a:avLst>
          </a:prstGeom>
          <a:solidFill>
            <a:srgbClr val="FF8E38"/>
          </a:solidFill>
          <a:ln/>
        </p:spPr>
      </p:sp>
      <p:sp>
        <p:nvSpPr>
          <p:cNvPr id="30" name="Text 28"/>
          <p:cNvSpPr/>
          <p:nvPr/>
        </p:nvSpPr>
        <p:spPr>
          <a:xfrm>
            <a:off x="11169367" y="2969895"/>
            <a:ext cx="2594604" cy="89535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Deskew (Hough)</a:t>
            </a:r>
            <a:endParaRPr lang="en-US" sz="1650" dirty="0"/>
          </a:p>
        </p:txBody>
      </p:sp>
      <p:sp>
        <p:nvSpPr>
          <p:cNvPr id="31" name="Text 29"/>
          <p:cNvSpPr/>
          <p:nvPr/>
        </p:nvSpPr>
        <p:spPr>
          <a:xfrm>
            <a:off x="14007496" y="3184207"/>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32" name="Shape 30"/>
          <p:cNvSpPr/>
          <p:nvPr/>
        </p:nvSpPr>
        <p:spPr>
          <a:xfrm>
            <a:off x="14451203" y="2741295"/>
            <a:ext cx="2814955" cy="1314450"/>
          </a:xfrm>
          <a:prstGeom prst="roundRect">
            <a:avLst>
              <a:gd name="adj" fmla="val 10145"/>
            </a:avLst>
          </a:prstGeom>
          <a:solidFill>
            <a:srgbClr val="172144"/>
          </a:solidFill>
          <a:ln/>
        </p:spPr>
      </p:sp>
      <p:sp>
        <p:nvSpPr>
          <p:cNvPr id="33" name="Text 31"/>
          <p:cNvSpPr/>
          <p:nvPr/>
        </p:nvSpPr>
        <p:spPr>
          <a:xfrm>
            <a:off x="14561379" y="2969895"/>
            <a:ext cx="2594604" cy="895350"/>
          </a:xfrm>
          <a:prstGeom prst="rect">
            <a:avLst/>
          </a:prstGeom>
          <a:noFill/>
          <a:ln/>
        </p:spPr>
        <p:txBody>
          <a:bodyPr wrap="square" lIns="25400" tIns="25400" rIns="25400" bIns="25400" rtlCol="0" anchor="ctr">
            <a:normAutofit/>
          </a:bodyPr>
          <a:lstStyle/>
          <a:p>
            <a:pPr marL="0" indent="0" algn="ctr">
              <a:buNone/>
            </a:pPr>
            <a:r>
              <a:rPr lang="en-US" sz="1650" b="1" dirty="0">
                <a:solidFill>
                  <a:srgbClr val="FFFFFF"/>
                </a:solidFill>
                <a:latin typeface="Century Gothic" pitchFamily="34" charset="0"/>
                <a:ea typeface="Century Gothic" pitchFamily="34" charset="-122"/>
                <a:cs typeface="Century Gothic" pitchFamily="34" charset="-120"/>
              </a:rPr>
              <a:t>Line segment</a:t>
            </a:r>
            <a:endParaRPr lang="en-US" sz="1650" dirty="0"/>
          </a:p>
        </p:txBody>
      </p:sp>
      <p:sp>
        <p:nvSpPr>
          <p:cNvPr id="34" name="Shape 32"/>
          <p:cNvSpPr/>
          <p:nvPr/>
        </p:nvSpPr>
        <p:spPr>
          <a:xfrm>
            <a:off x="883158" y="4398645"/>
            <a:ext cx="8077200" cy="3257550"/>
          </a:xfrm>
          <a:prstGeom prst="roundRect">
            <a:avLst>
              <a:gd name="adj" fmla="val 4094"/>
            </a:avLst>
          </a:prstGeom>
          <a:solidFill>
            <a:srgbClr val="F7F8FC"/>
          </a:solidFill>
          <a:ln w="9525">
            <a:solidFill>
              <a:srgbClr val="E6E8F0"/>
            </a:solidFill>
            <a:prstDash val="solid"/>
          </a:ln>
        </p:spPr>
      </p:sp>
      <p:pic>
        <p:nvPicPr>
          <p:cNvPr id="35" name="Image 0" descr="preencoded.png"/>
          <p:cNvPicPr>
            <a:picLocks noChangeAspect="1"/>
          </p:cNvPicPr>
          <p:nvPr/>
        </p:nvPicPr>
        <p:blipFill>
          <a:blip r:embed="rId3"/>
          <a:srcRect/>
          <a:stretch/>
        </p:blipFill>
        <p:spPr>
          <a:xfrm>
            <a:off x="892683" y="4614069"/>
            <a:ext cx="8058150" cy="2826702"/>
          </a:xfrm>
          <a:prstGeom prst="rect">
            <a:avLst/>
          </a:prstGeom>
        </p:spPr>
      </p:pic>
      <p:sp>
        <p:nvSpPr>
          <p:cNvPr id="36" name="Text 33"/>
          <p:cNvSpPr/>
          <p:nvPr/>
        </p:nvSpPr>
        <p:spPr>
          <a:xfrm>
            <a:off x="762000" y="7751445"/>
            <a:ext cx="8319516" cy="257175"/>
          </a:xfrm>
          <a:prstGeom prst="rect">
            <a:avLst/>
          </a:prstGeom>
          <a:noFill/>
          <a:ln/>
        </p:spPr>
        <p:txBody>
          <a:bodyPr wrap="square" lIns="25400" tIns="25400" rIns="25400" bIns="25400" rtlCol="0" anchor="t">
            <a:normAutofit/>
          </a:bodyPr>
          <a:lstStyle/>
          <a:p>
            <a:pPr marL="0" indent="0" algn="ctr">
              <a:buNone/>
            </a:pPr>
            <a:r>
              <a:rPr lang="en-US" sz="1350" dirty="0">
                <a:solidFill>
                  <a:srgbClr val="7A8099"/>
                </a:solidFill>
                <a:latin typeface="Calibri" pitchFamily="34" charset="0"/>
                <a:ea typeface="Calibri" pitchFamily="34" charset="-122"/>
                <a:cs typeface="Calibri" pitchFamily="34" charset="-120"/>
              </a:rPr>
              <a:t>Cleanup before → after across six prescriptions.</a:t>
            </a:r>
            <a:endParaRPr lang="en-US" sz="1350" dirty="0"/>
          </a:p>
        </p:txBody>
      </p:sp>
      <p:sp>
        <p:nvSpPr>
          <p:cNvPr id="37" name="Shape 34"/>
          <p:cNvSpPr/>
          <p:nvPr/>
        </p:nvSpPr>
        <p:spPr>
          <a:xfrm>
            <a:off x="9188958" y="4398645"/>
            <a:ext cx="8077200" cy="3257550"/>
          </a:xfrm>
          <a:prstGeom prst="roundRect">
            <a:avLst>
              <a:gd name="adj" fmla="val 4094"/>
            </a:avLst>
          </a:prstGeom>
          <a:solidFill>
            <a:srgbClr val="F7F8FC"/>
          </a:solidFill>
          <a:ln w="9525">
            <a:solidFill>
              <a:srgbClr val="E6E8F0"/>
            </a:solidFill>
            <a:prstDash val="solid"/>
          </a:ln>
        </p:spPr>
      </p:sp>
      <p:pic>
        <p:nvPicPr>
          <p:cNvPr id="38" name="Image 1" descr="preencoded.png"/>
          <p:cNvPicPr>
            <a:picLocks noChangeAspect="1"/>
          </p:cNvPicPr>
          <p:nvPr/>
        </p:nvPicPr>
        <p:blipFill>
          <a:blip r:embed="rId4"/>
          <a:srcRect/>
          <a:stretch/>
        </p:blipFill>
        <p:spPr>
          <a:xfrm>
            <a:off x="9198483" y="5602446"/>
            <a:ext cx="8058150" cy="849948"/>
          </a:xfrm>
          <a:prstGeom prst="rect">
            <a:avLst/>
          </a:prstGeom>
        </p:spPr>
      </p:pic>
      <p:sp>
        <p:nvSpPr>
          <p:cNvPr id="39" name="Text 35"/>
          <p:cNvSpPr/>
          <p:nvPr/>
        </p:nvSpPr>
        <p:spPr>
          <a:xfrm>
            <a:off x="9067800" y="7751445"/>
            <a:ext cx="8319516" cy="257175"/>
          </a:xfrm>
          <a:prstGeom prst="rect">
            <a:avLst/>
          </a:prstGeom>
          <a:noFill/>
          <a:ln/>
        </p:spPr>
        <p:txBody>
          <a:bodyPr wrap="square" lIns="25400" tIns="25400" rIns="25400" bIns="25400" rtlCol="0" anchor="t">
            <a:normAutofit/>
          </a:bodyPr>
          <a:lstStyle/>
          <a:p>
            <a:pPr marL="0" indent="0" algn="ctr">
              <a:buNone/>
            </a:pPr>
            <a:r>
              <a:rPr lang="en-US" sz="1350" dirty="0">
                <a:solidFill>
                  <a:srgbClr val="7A8099"/>
                </a:solidFill>
                <a:latin typeface="Calibri" pitchFamily="34" charset="0"/>
                <a:ea typeface="Calibri" pitchFamily="34" charset="-122"/>
                <a:cs typeface="Calibri" pitchFamily="34" charset="-120"/>
              </a:rPr>
              <a:t>Detected line boxes after horizontal-projection refinement.</a:t>
            </a:r>
            <a:endParaRPr lang="en-US" sz="1350" dirty="0"/>
          </a:p>
        </p:txBody>
      </p:sp>
      <p:sp>
        <p:nvSpPr>
          <p:cNvPr id="40" name="Text 36"/>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1" name="Text 37"/>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16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878">
        <p159:morph option="byObject"/>
      </p:transition>
    </mc:Choice>
    <mc:Fallback>
      <p:transition spd="slow" advTm="878">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172144"/>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Fine-tuning setup</a:t>
            </a:r>
            <a:endParaRPr lang="en-US" sz="3600" dirty="0"/>
          </a:p>
        </p:txBody>
      </p:sp>
      <p:sp>
        <p:nvSpPr>
          <p:cNvPr id="20" name="Text 18"/>
          <p:cNvSpPr/>
          <p:nvPr/>
        </p:nvSpPr>
        <p:spPr>
          <a:xfrm>
            <a:off x="952500" y="2398395"/>
            <a:ext cx="8123301" cy="257175"/>
          </a:xfrm>
          <a:prstGeom prst="rect">
            <a:avLst/>
          </a:prstGeom>
          <a:noFill/>
          <a:ln/>
        </p:spPr>
        <p:txBody>
          <a:bodyPr wrap="square" lIns="25400" tIns="25400" rIns="25400" bIns="25400" rtlCol="0" anchor="t">
            <a:normAutofit/>
          </a:bodyPr>
          <a:lstStyle/>
          <a:p>
            <a:pPr marL="0" indent="0" algn="l">
              <a:buNone/>
            </a:pPr>
            <a:r>
              <a:rPr lang="en-US" sz="1350" b="1" kern="0" spc="243" dirty="0">
                <a:solidFill>
                  <a:srgbClr val="3BC8F1"/>
                </a:solidFill>
                <a:latin typeface="Century Gothic" pitchFamily="34" charset="0"/>
                <a:ea typeface="Century Gothic" pitchFamily="34" charset="-122"/>
                <a:cs typeface="Century Gothic" pitchFamily="34" charset="-120"/>
              </a:rPr>
              <a:t>CONFIGS/CONFIG.YAML</a:t>
            </a:r>
            <a:endParaRPr lang="en-US" sz="1350" dirty="0"/>
          </a:p>
        </p:txBody>
      </p:sp>
      <p:sp>
        <p:nvSpPr>
          <p:cNvPr id="21" name="Shape 19"/>
          <p:cNvSpPr/>
          <p:nvPr/>
        </p:nvSpPr>
        <p:spPr>
          <a:xfrm>
            <a:off x="952500" y="2617470"/>
            <a:ext cx="7886700" cy="4305300"/>
          </a:xfrm>
          <a:prstGeom prst="roundRect">
            <a:avLst>
              <a:gd name="adj" fmla="val 3097"/>
            </a:avLst>
          </a:prstGeom>
          <a:solidFill>
            <a:srgbClr val="0F1730"/>
          </a:solidFill>
          <a:ln/>
        </p:spPr>
      </p:sp>
      <p:sp>
        <p:nvSpPr>
          <p:cNvPr id="22" name="Shape 20"/>
          <p:cNvSpPr/>
          <p:nvPr/>
        </p:nvSpPr>
        <p:spPr>
          <a:xfrm>
            <a:off x="952500" y="2617470"/>
            <a:ext cx="57150" cy="4305300"/>
          </a:xfrm>
          <a:prstGeom prst="rect">
            <a:avLst/>
          </a:prstGeom>
          <a:solidFill>
            <a:srgbClr val="3BC8F1"/>
          </a:solidFill>
          <a:ln/>
        </p:spPr>
      </p:sp>
      <p:sp>
        <p:nvSpPr>
          <p:cNvPr id="23" name="Text 21"/>
          <p:cNvSpPr/>
          <p:nvPr/>
        </p:nvSpPr>
        <p:spPr>
          <a:xfrm>
            <a:off x="1314450" y="2884170"/>
            <a:ext cx="7456551" cy="3810000"/>
          </a:xfrm>
          <a:prstGeom prst="rect">
            <a:avLst/>
          </a:prstGeom>
          <a:noFill/>
          <a:ln/>
        </p:spPr>
        <p:txBody>
          <a:bodyPr wrap="square" lIns="25400" tIns="25400" rIns="25400" bIns="25400" rtlCol="0" anchor="t">
            <a:normAutofit/>
          </a:bodyPr>
          <a:lstStyle/>
          <a:p>
            <a:pPr marL="0" indent="0" algn="l">
              <a:lnSpc>
                <a:spcPct val="150000"/>
              </a:lnSpc>
              <a:buNone/>
            </a:pPr>
            <a:r>
              <a:rPr lang="en-US" sz="1650" dirty="0">
                <a:solidFill>
                  <a:srgbClr val="7A8099"/>
                </a:solidFill>
                <a:latin typeface="Consolas" pitchFamily="34" charset="0"/>
                <a:ea typeface="Consolas" pitchFamily="34" charset="-122"/>
                <a:cs typeface="Consolas" pitchFamily="34" charset="-120"/>
              </a:rPr>
              <a:t># training </a:t>
            </a:r>
            <a:r>
              <a:rPr lang="en-US" sz="1650" dirty="0">
                <a:solidFill>
                  <a:srgbClr val="3BC8F1"/>
                </a:solidFill>
                <a:latin typeface="Consolas" pitchFamily="34" charset="0"/>
                <a:ea typeface="Consolas" pitchFamily="34" charset="-122"/>
                <a:cs typeface="Consolas" pitchFamily="34" charset="-120"/>
              </a:rPr>
              <a:t>epochs</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30 </a:t>
            </a:r>
            <a:r>
              <a:rPr lang="en-US" sz="1650" dirty="0">
                <a:solidFill>
                  <a:srgbClr val="3BC8F1"/>
                </a:solidFill>
                <a:latin typeface="Consolas" pitchFamily="34" charset="0"/>
                <a:ea typeface="Consolas" pitchFamily="34" charset="-122"/>
                <a:cs typeface="Consolas" pitchFamily="34" charset="-120"/>
              </a:rPr>
              <a:t>batch_size</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8 </a:t>
            </a:r>
            <a:r>
              <a:rPr lang="en-US" sz="1650" dirty="0">
                <a:solidFill>
                  <a:srgbClr val="3BC8F1"/>
                </a:solidFill>
                <a:latin typeface="Consolas" pitchFamily="34" charset="0"/>
                <a:ea typeface="Consolas" pitchFamily="34" charset="-122"/>
                <a:cs typeface="Consolas" pitchFamily="34" charset="-120"/>
              </a:rPr>
              <a:t>learning_rate</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5e-5 </a:t>
            </a:r>
            <a:r>
              <a:rPr lang="en-US" sz="1650" dirty="0">
                <a:solidFill>
                  <a:srgbClr val="3BC8F1"/>
                </a:solidFill>
                <a:latin typeface="Consolas" pitchFamily="34" charset="0"/>
                <a:ea typeface="Consolas" pitchFamily="34" charset="-122"/>
                <a:cs typeface="Consolas" pitchFamily="34" charset="-120"/>
              </a:rPr>
              <a:t>weight_decay</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0.01 </a:t>
            </a:r>
            <a:r>
              <a:rPr lang="en-US" sz="1650" dirty="0">
                <a:solidFill>
                  <a:srgbClr val="3BC8F1"/>
                </a:solidFill>
                <a:latin typeface="Consolas" pitchFamily="34" charset="0"/>
                <a:ea typeface="Consolas" pitchFamily="34" charset="-122"/>
                <a:cs typeface="Consolas" pitchFamily="34" charset="-120"/>
              </a:rPr>
              <a:t>warmup_steps</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500 </a:t>
            </a:r>
            <a:r>
              <a:rPr lang="en-US" sz="1650" dirty="0">
                <a:solidFill>
                  <a:srgbClr val="3BC8F1"/>
                </a:solidFill>
                <a:latin typeface="Consolas" pitchFamily="34" charset="0"/>
                <a:ea typeface="Consolas" pitchFamily="34" charset="-122"/>
                <a:cs typeface="Consolas" pitchFamily="34" charset="-120"/>
              </a:rPr>
              <a:t>grad_clip</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1.0 </a:t>
            </a:r>
            <a:r>
              <a:rPr lang="en-US" sz="1650" dirty="0">
                <a:solidFill>
                  <a:srgbClr val="7A8099"/>
                </a:solidFill>
                <a:latin typeface="Consolas" pitchFamily="34" charset="0"/>
                <a:ea typeface="Consolas" pitchFamily="34" charset="-122"/>
                <a:cs typeface="Consolas" pitchFamily="34" charset="-120"/>
              </a:rPr>
              <a:t># inference </a:t>
            </a:r>
            <a:r>
              <a:rPr lang="en-US" sz="1650" dirty="0">
                <a:solidFill>
                  <a:srgbClr val="3BC8F1"/>
                </a:solidFill>
                <a:latin typeface="Consolas" pitchFamily="34" charset="0"/>
                <a:ea typeface="Consolas" pitchFamily="34" charset="-122"/>
                <a:cs typeface="Consolas" pitchFamily="34" charset="-120"/>
              </a:rPr>
              <a:t>beam_size</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2 </a:t>
            </a:r>
            <a:r>
              <a:rPr lang="en-US" sz="1650" dirty="0">
                <a:solidFill>
                  <a:srgbClr val="3BC8F1"/>
                </a:solidFill>
                <a:latin typeface="Consolas" pitchFamily="34" charset="0"/>
                <a:ea typeface="Consolas" pitchFamily="34" charset="-122"/>
                <a:cs typeface="Consolas" pitchFamily="34" charset="-120"/>
              </a:rPr>
              <a:t>max_length</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128 </a:t>
            </a:r>
            <a:r>
              <a:rPr lang="en-US" sz="1650" dirty="0">
                <a:solidFill>
                  <a:srgbClr val="3BC8F1"/>
                </a:solidFill>
                <a:latin typeface="Consolas" pitchFamily="34" charset="0"/>
                <a:ea typeface="Consolas" pitchFamily="34" charset="-122"/>
                <a:cs typeface="Consolas" pitchFamily="34" charset="-120"/>
              </a:rPr>
              <a:t>model</a:t>
            </a:r>
            <a:r>
              <a:rPr lang="en-US" sz="1650" dirty="0">
                <a:solidFill>
                  <a:srgbClr val="CFE2FF"/>
                </a:solidFill>
                <a:highlight>
                  <a:srgbClr val="0F1730"/>
                </a:highlight>
                <a:latin typeface="Consolas" pitchFamily="34" charset="0"/>
                <a:ea typeface="Consolas" pitchFamily="34" charset="-122"/>
                <a:cs typeface="Consolas" pitchFamily="34" charset="-120"/>
              </a:rPr>
              <a:t>:            </a:t>
            </a:r>
            <a:r>
              <a:rPr lang="en-US" sz="1650" dirty="0">
                <a:solidFill>
                  <a:srgbClr val="D4F579"/>
                </a:solidFill>
                <a:latin typeface="Consolas" pitchFamily="34" charset="0"/>
                <a:ea typeface="Consolas" pitchFamily="34" charset="-122"/>
                <a:cs typeface="Consolas" pitchFamily="34" charset="-120"/>
              </a:rPr>
              <a:t>microsoft/trocr-base-handwritten</a:t>
            </a:r>
            <a:endParaRPr lang="en-US" sz="1650" dirty="0"/>
          </a:p>
        </p:txBody>
      </p:sp>
      <p:sp>
        <p:nvSpPr>
          <p:cNvPr id="24" name="Text 22"/>
          <p:cNvSpPr/>
          <p:nvPr/>
        </p:nvSpPr>
        <p:spPr>
          <a:xfrm>
            <a:off x="9275445" y="2398395"/>
            <a:ext cx="8136255" cy="371856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30 epochs, batch 8, lr 5e-5</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AdamW + linear warmup-then-decay</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Gradient clipping at norm 1.0</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Beam search, beam = 2 at inference</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Max sequence length 128 tokens</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All hyperparameters in version control</a:t>
            </a:r>
            <a:endParaRPr lang="en-US" sz="1950" dirty="0"/>
          </a:p>
        </p:txBody>
      </p:sp>
      <p:sp>
        <p:nvSpPr>
          <p:cNvPr id="25" name="Text 23"/>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26" name="Text 24"/>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17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46">
        <p159:morph option="byObject"/>
      </p:transition>
    </mc:Choice>
    <mc:Fallback>
      <p:transition spd="slow" advTm="446">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172144"/>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Training environment &amp; loss curve</a:t>
            </a:r>
            <a:endParaRPr lang="en-US" sz="3600" dirty="0"/>
          </a:p>
        </p:txBody>
      </p:sp>
      <p:sp>
        <p:nvSpPr>
          <p:cNvPr id="20" name="Text 18"/>
          <p:cNvSpPr/>
          <p:nvPr/>
        </p:nvSpPr>
        <p:spPr>
          <a:xfrm>
            <a:off x="779145" y="2455545"/>
            <a:ext cx="8136255" cy="310515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Kaggle notebook · 2× NVIDIA T4 GPUs</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End-to-end automated: download → train → eval → push</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Logging via Weights &amp; Biases</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Final checkpoint pushed to Hugging Face Hub</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Training loss: 0.041 → 0.006 across 5 epochs shown</a:t>
            </a:r>
            <a:endParaRPr lang="en-US" sz="1950" dirty="0"/>
          </a:p>
        </p:txBody>
      </p:sp>
      <p:sp>
        <p:nvSpPr>
          <p:cNvPr id="21" name="Shape 19"/>
          <p:cNvSpPr/>
          <p:nvPr/>
        </p:nvSpPr>
        <p:spPr>
          <a:xfrm>
            <a:off x="9448800" y="2398395"/>
            <a:ext cx="7886700" cy="5429250"/>
          </a:xfrm>
          <a:prstGeom prst="roundRect">
            <a:avLst>
              <a:gd name="adj" fmla="val 2807"/>
            </a:avLst>
          </a:prstGeom>
          <a:solidFill>
            <a:srgbClr val="FFFFFF"/>
          </a:solidFill>
          <a:ln w="9525">
            <a:solidFill>
              <a:srgbClr val="E6E8F0"/>
            </a:solidFill>
            <a:prstDash val="solid"/>
          </a:ln>
        </p:spPr>
      </p:sp>
      <p:sp>
        <p:nvSpPr>
          <p:cNvPr id="22" name="Text 20"/>
          <p:cNvSpPr/>
          <p:nvPr/>
        </p:nvSpPr>
        <p:spPr>
          <a:xfrm>
            <a:off x="9686925" y="2636520"/>
            <a:ext cx="7632763" cy="29527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72144"/>
                </a:solidFill>
                <a:latin typeface="Century Gothic" pitchFamily="34" charset="0"/>
                <a:ea typeface="Century Gothic" pitchFamily="34" charset="-122"/>
                <a:cs typeface="Century Gothic" pitchFamily="34" charset="-120"/>
              </a:rPr>
              <a:t>Training loss (per epoch)</a:t>
            </a:r>
            <a:endParaRPr lang="en-US" sz="1650" dirty="0"/>
          </a:p>
        </p:txBody>
      </p:sp>
      <p:pic>
        <p:nvPicPr>
          <p:cNvPr id="23" name="Image 0" descr="preencoded.png"/>
          <p:cNvPicPr>
            <a:picLocks noChangeAspect="1"/>
          </p:cNvPicPr>
          <p:nvPr/>
        </p:nvPicPr>
        <p:blipFill>
          <a:blip r:embed="rId3"/>
          <a:stretch>
            <a:fillRect/>
          </a:stretch>
        </p:blipFill>
        <p:spPr>
          <a:xfrm>
            <a:off x="9686925" y="2969895"/>
            <a:ext cx="7410450" cy="4000500"/>
          </a:xfrm>
          <a:prstGeom prst="rect">
            <a:avLst/>
          </a:prstGeom>
        </p:spPr>
      </p:pic>
      <p:sp>
        <p:nvSpPr>
          <p:cNvPr id="24" name="Text 21"/>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25" name="Text 22"/>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18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51">
        <p159:morph option="byObject"/>
      </p:transition>
    </mc:Choice>
    <mc:Fallback>
      <p:transition spd="slow" advTm="451">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172144"/>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F3F5FB"/>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Loss · optimizer · generation</a:t>
            </a:r>
            <a:endParaRPr lang="en-US" sz="3600" dirty="0"/>
          </a:p>
        </p:txBody>
      </p:sp>
      <p:sp>
        <p:nvSpPr>
          <p:cNvPr id="20" name="Shape 18"/>
          <p:cNvSpPr/>
          <p:nvPr/>
        </p:nvSpPr>
        <p:spPr>
          <a:xfrm>
            <a:off x="952500" y="3065145"/>
            <a:ext cx="5232400" cy="2400300"/>
          </a:xfrm>
          <a:prstGeom prst="roundRect">
            <a:avLst>
              <a:gd name="adj" fmla="val 6349"/>
            </a:avLst>
          </a:prstGeom>
          <a:solidFill>
            <a:srgbClr val="FFFFFF"/>
          </a:solidFill>
          <a:ln/>
        </p:spPr>
      </p:sp>
      <p:sp>
        <p:nvSpPr>
          <p:cNvPr id="21" name="Shape 19"/>
          <p:cNvSpPr/>
          <p:nvPr/>
        </p:nvSpPr>
        <p:spPr>
          <a:xfrm>
            <a:off x="952500" y="5455920"/>
            <a:ext cx="5232400" cy="9525"/>
          </a:xfrm>
          <a:prstGeom prst="rect">
            <a:avLst/>
          </a:prstGeom>
          <a:solidFill>
            <a:srgbClr val="E6E8F0"/>
          </a:solidFill>
          <a:ln/>
        </p:spPr>
      </p:sp>
      <p:sp>
        <p:nvSpPr>
          <p:cNvPr id="22" name="Shape 20"/>
          <p:cNvSpPr/>
          <p:nvPr/>
        </p:nvSpPr>
        <p:spPr>
          <a:xfrm>
            <a:off x="952500" y="3065145"/>
            <a:ext cx="5232400" cy="57150"/>
          </a:xfrm>
          <a:prstGeom prst="rect">
            <a:avLst/>
          </a:prstGeom>
          <a:solidFill>
            <a:srgbClr val="3BC8F1"/>
          </a:solidFill>
          <a:ln/>
        </p:spPr>
      </p:sp>
      <p:sp>
        <p:nvSpPr>
          <p:cNvPr id="23" name="Shape 21"/>
          <p:cNvSpPr/>
          <p:nvPr/>
        </p:nvSpPr>
        <p:spPr>
          <a:xfrm>
            <a:off x="952500" y="3065145"/>
            <a:ext cx="9525" cy="2400300"/>
          </a:xfrm>
          <a:prstGeom prst="rect">
            <a:avLst/>
          </a:prstGeom>
          <a:solidFill>
            <a:srgbClr val="E6E8F0"/>
          </a:solidFill>
          <a:ln/>
        </p:spPr>
      </p:sp>
      <p:sp>
        <p:nvSpPr>
          <p:cNvPr id="24" name="Shape 22"/>
          <p:cNvSpPr/>
          <p:nvPr/>
        </p:nvSpPr>
        <p:spPr>
          <a:xfrm>
            <a:off x="6175375" y="3065145"/>
            <a:ext cx="9525" cy="2400300"/>
          </a:xfrm>
          <a:prstGeom prst="rect">
            <a:avLst/>
          </a:prstGeom>
          <a:solidFill>
            <a:srgbClr val="E6E8F0"/>
          </a:solidFill>
          <a:ln/>
        </p:spPr>
      </p:sp>
      <p:sp>
        <p:nvSpPr>
          <p:cNvPr id="25" name="Text 23"/>
          <p:cNvSpPr/>
          <p:nvPr/>
        </p:nvSpPr>
        <p:spPr>
          <a:xfrm>
            <a:off x="1228725" y="338899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Loss &amp; teacher forcing</a:t>
            </a:r>
            <a:endParaRPr lang="en-US" sz="1950" dirty="0"/>
          </a:p>
        </p:txBody>
      </p:sp>
      <p:sp>
        <p:nvSpPr>
          <p:cNvPr id="26" name="Text 24"/>
          <p:cNvSpPr/>
          <p:nvPr/>
        </p:nvSpPr>
        <p:spPr>
          <a:xfrm>
            <a:off x="1228725" y="3789045"/>
            <a:ext cx="4820348" cy="8382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Token-level cross-entropy on the decoder. Ground-truth tokens are fed at each step rather than the model's own predictions.</a:t>
            </a:r>
            <a:endParaRPr lang="en-US" sz="1500" dirty="0"/>
          </a:p>
        </p:txBody>
      </p:sp>
      <p:sp>
        <p:nvSpPr>
          <p:cNvPr id="27" name="Shape 25"/>
          <p:cNvSpPr/>
          <p:nvPr/>
        </p:nvSpPr>
        <p:spPr>
          <a:xfrm>
            <a:off x="6527800" y="3065145"/>
            <a:ext cx="5232400" cy="2400300"/>
          </a:xfrm>
          <a:prstGeom prst="roundRect">
            <a:avLst>
              <a:gd name="adj" fmla="val 6349"/>
            </a:avLst>
          </a:prstGeom>
          <a:solidFill>
            <a:srgbClr val="FFFFFF"/>
          </a:solidFill>
          <a:ln/>
        </p:spPr>
      </p:sp>
      <p:sp>
        <p:nvSpPr>
          <p:cNvPr id="28" name="Shape 26"/>
          <p:cNvSpPr/>
          <p:nvPr/>
        </p:nvSpPr>
        <p:spPr>
          <a:xfrm>
            <a:off x="6527800" y="5455920"/>
            <a:ext cx="5232400" cy="9525"/>
          </a:xfrm>
          <a:prstGeom prst="rect">
            <a:avLst/>
          </a:prstGeom>
          <a:solidFill>
            <a:srgbClr val="E6E8F0"/>
          </a:solidFill>
          <a:ln/>
        </p:spPr>
      </p:sp>
      <p:sp>
        <p:nvSpPr>
          <p:cNvPr id="29" name="Shape 27"/>
          <p:cNvSpPr/>
          <p:nvPr/>
        </p:nvSpPr>
        <p:spPr>
          <a:xfrm>
            <a:off x="6527800" y="3065145"/>
            <a:ext cx="5232400" cy="57150"/>
          </a:xfrm>
          <a:prstGeom prst="rect">
            <a:avLst/>
          </a:prstGeom>
          <a:solidFill>
            <a:srgbClr val="6070FF"/>
          </a:solidFill>
          <a:ln/>
        </p:spPr>
      </p:sp>
      <p:sp>
        <p:nvSpPr>
          <p:cNvPr id="30" name="Shape 28"/>
          <p:cNvSpPr/>
          <p:nvPr/>
        </p:nvSpPr>
        <p:spPr>
          <a:xfrm>
            <a:off x="6527800" y="3065145"/>
            <a:ext cx="9525" cy="2400300"/>
          </a:xfrm>
          <a:prstGeom prst="rect">
            <a:avLst/>
          </a:prstGeom>
          <a:solidFill>
            <a:srgbClr val="E6E8F0"/>
          </a:solidFill>
          <a:ln/>
        </p:spPr>
      </p:sp>
      <p:sp>
        <p:nvSpPr>
          <p:cNvPr id="31" name="Shape 29"/>
          <p:cNvSpPr/>
          <p:nvPr/>
        </p:nvSpPr>
        <p:spPr>
          <a:xfrm>
            <a:off x="11750675" y="3065145"/>
            <a:ext cx="9525" cy="2400300"/>
          </a:xfrm>
          <a:prstGeom prst="rect">
            <a:avLst/>
          </a:prstGeom>
          <a:solidFill>
            <a:srgbClr val="E6E8F0"/>
          </a:solidFill>
          <a:ln/>
        </p:spPr>
      </p:sp>
      <p:sp>
        <p:nvSpPr>
          <p:cNvPr id="32" name="Text 30"/>
          <p:cNvSpPr/>
          <p:nvPr/>
        </p:nvSpPr>
        <p:spPr>
          <a:xfrm>
            <a:off x="6804025" y="3388995"/>
            <a:ext cx="4820349"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AdamW + warmup</a:t>
            </a:r>
            <a:endParaRPr lang="en-US" sz="1950" dirty="0"/>
          </a:p>
        </p:txBody>
      </p:sp>
      <p:sp>
        <p:nvSpPr>
          <p:cNvPr id="33" name="Text 31"/>
          <p:cNvSpPr/>
          <p:nvPr/>
        </p:nvSpPr>
        <p:spPr>
          <a:xfrm>
            <a:off x="6804025" y="3789045"/>
            <a:ext cx="482034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Linear warmup of 500 steps, then linear decay to zero. Gradient clipping at norm 1.0 keeps training stable.</a:t>
            </a:r>
            <a:endParaRPr lang="en-US" sz="1500" dirty="0"/>
          </a:p>
        </p:txBody>
      </p:sp>
      <p:sp>
        <p:nvSpPr>
          <p:cNvPr id="34" name="Shape 32"/>
          <p:cNvSpPr/>
          <p:nvPr/>
        </p:nvSpPr>
        <p:spPr>
          <a:xfrm>
            <a:off x="12103100" y="3065145"/>
            <a:ext cx="5232400" cy="2400300"/>
          </a:xfrm>
          <a:prstGeom prst="roundRect">
            <a:avLst>
              <a:gd name="adj" fmla="val 6349"/>
            </a:avLst>
          </a:prstGeom>
          <a:solidFill>
            <a:srgbClr val="FFFFFF"/>
          </a:solidFill>
          <a:ln/>
        </p:spPr>
      </p:sp>
      <p:sp>
        <p:nvSpPr>
          <p:cNvPr id="35" name="Shape 33"/>
          <p:cNvSpPr/>
          <p:nvPr/>
        </p:nvSpPr>
        <p:spPr>
          <a:xfrm>
            <a:off x="12103100" y="5455920"/>
            <a:ext cx="5232400" cy="9525"/>
          </a:xfrm>
          <a:prstGeom prst="rect">
            <a:avLst/>
          </a:prstGeom>
          <a:solidFill>
            <a:srgbClr val="E6E8F0"/>
          </a:solidFill>
          <a:ln/>
        </p:spPr>
      </p:sp>
      <p:sp>
        <p:nvSpPr>
          <p:cNvPr id="36" name="Shape 34"/>
          <p:cNvSpPr/>
          <p:nvPr/>
        </p:nvSpPr>
        <p:spPr>
          <a:xfrm>
            <a:off x="12103100" y="3065145"/>
            <a:ext cx="5232400" cy="57150"/>
          </a:xfrm>
          <a:prstGeom prst="rect">
            <a:avLst/>
          </a:prstGeom>
          <a:solidFill>
            <a:srgbClr val="FA3585"/>
          </a:solidFill>
          <a:ln/>
        </p:spPr>
      </p:sp>
      <p:sp>
        <p:nvSpPr>
          <p:cNvPr id="37" name="Shape 35"/>
          <p:cNvSpPr/>
          <p:nvPr/>
        </p:nvSpPr>
        <p:spPr>
          <a:xfrm>
            <a:off x="12103100" y="3065145"/>
            <a:ext cx="9525" cy="2400300"/>
          </a:xfrm>
          <a:prstGeom prst="rect">
            <a:avLst/>
          </a:prstGeom>
          <a:solidFill>
            <a:srgbClr val="E6E8F0"/>
          </a:solidFill>
          <a:ln/>
        </p:spPr>
      </p:sp>
      <p:sp>
        <p:nvSpPr>
          <p:cNvPr id="38" name="Shape 36"/>
          <p:cNvSpPr/>
          <p:nvPr/>
        </p:nvSpPr>
        <p:spPr>
          <a:xfrm>
            <a:off x="17325974" y="3065145"/>
            <a:ext cx="9525" cy="2400300"/>
          </a:xfrm>
          <a:prstGeom prst="rect">
            <a:avLst/>
          </a:prstGeom>
          <a:solidFill>
            <a:srgbClr val="E6E8F0"/>
          </a:solidFill>
          <a:ln/>
        </p:spPr>
      </p:sp>
      <p:sp>
        <p:nvSpPr>
          <p:cNvPr id="39" name="Text 37"/>
          <p:cNvSpPr/>
          <p:nvPr/>
        </p:nvSpPr>
        <p:spPr>
          <a:xfrm>
            <a:off x="12379325" y="338899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Beam search at inference</a:t>
            </a:r>
            <a:endParaRPr lang="en-US" sz="1950" dirty="0"/>
          </a:p>
        </p:txBody>
      </p:sp>
      <p:sp>
        <p:nvSpPr>
          <p:cNvPr id="40" name="Text 38"/>
          <p:cNvSpPr/>
          <p:nvPr/>
        </p:nvSpPr>
        <p:spPr>
          <a:xfrm>
            <a:off x="12379325" y="3789045"/>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Beam size 2, max length 128 tokens. Trades small extra latency for noticeably better decoding on cursive lines.</a:t>
            </a:r>
            <a:endParaRPr lang="en-US" sz="1500" dirty="0"/>
          </a:p>
        </p:txBody>
      </p:sp>
      <p:sp>
        <p:nvSpPr>
          <p:cNvPr id="41" name="Text 39"/>
          <p:cNvSpPr/>
          <p:nvPr/>
        </p:nvSpPr>
        <p:spPr>
          <a:xfrm>
            <a:off x="952500" y="5835492"/>
            <a:ext cx="14716125"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Standard, well-understood choices — no exotic optimizer or schedule was needed for stable convergence.</a:t>
            </a:r>
            <a:endParaRPr lang="en-US" sz="1950" dirty="0"/>
          </a:p>
        </p:txBody>
      </p:sp>
      <p:sp>
        <p:nvSpPr>
          <p:cNvPr id="42" name="Text 40"/>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3" name="Text 41"/>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19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37">
        <p159:morph option="byObject"/>
      </p:transition>
    </mc:Choice>
    <mc:Fallback>
      <p:transition spd="slow" advTm="337">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172144"/>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Evaluation metrics</a:t>
            </a:r>
            <a:endParaRPr lang="en-US" sz="3600" dirty="0"/>
          </a:p>
        </p:txBody>
      </p:sp>
      <p:sp>
        <p:nvSpPr>
          <p:cNvPr id="20" name="Shape 18"/>
          <p:cNvSpPr/>
          <p:nvPr/>
        </p:nvSpPr>
        <p:spPr>
          <a:xfrm>
            <a:off x="942974" y="3122295"/>
            <a:ext cx="5232400" cy="2133600"/>
          </a:xfrm>
          <a:prstGeom prst="roundRect">
            <a:avLst>
              <a:gd name="adj" fmla="val 7143"/>
            </a:avLst>
          </a:prstGeom>
          <a:solidFill>
            <a:srgbClr val="FFFFFF"/>
          </a:solidFill>
          <a:ln/>
        </p:spPr>
      </p:sp>
      <p:sp>
        <p:nvSpPr>
          <p:cNvPr id="21" name="Shape 19"/>
          <p:cNvSpPr/>
          <p:nvPr/>
        </p:nvSpPr>
        <p:spPr>
          <a:xfrm>
            <a:off x="942974" y="5246370"/>
            <a:ext cx="5232400" cy="9525"/>
          </a:xfrm>
          <a:prstGeom prst="rect">
            <a:avLst/>
          </a:prstGeom>
          <a:solidFill>
            <a:srgbClr val="E6E8F0"/>
          </a:solidFill>
          <a:ln/>
        </p:spPr>
      </p:sp>
      <p:sp>
        <p:nvSpPr>
          <p:cNvPr id="22" name="Shape 20"/>
          <p:cNvSpPr/>
          <p:nvPr/>
        </p:nvSpPr>
        <p:spPr>
          <a:xfrm>
            <a:off x="942974" y="3122295"/>
            <a:ext cx="5232400" cy="57150"/>
          </a:xfrm>
          <a:prstGeom prst="rect">
            <a:avLst/>
          </a:prstGeom>
          <a:solidFill>
            <a:srgbClr val="3BC8F1"/>
          </a:solidFill>
          <a:ln/>
        </p:spPr>
      </p:sp>
      <p:sp>
        <p:nvSpPr>
          <p:cNvPr id="23" name="Shape 21"/>
          <p:cNvSpPr/>
          <p:nvPr/>
        </p:nvSpPr>
        <p:spPr>
          <a:xfrm>
            <a:off x="942974" y="3122295"/>
            <a:ext cx="9525" cy="2133600"/>
          </a:xfrm>
          <a:prstGeom prst="rect">
            <a:avLst/>
          </a:prstGeom>
          <a:solidFill>
            <a:srgbClr val="E6E8F0"/>
          </a:solidFill>
          <a:ln/>
        </p:spPr>
      </p:sp>
      <p:sp>
        <p:nvSpPr>
          <p:cNvPr id="24" name="Shape 22"/>
          <p:cNvSpPr/>
          <p:nvPr/>
        </p:nvSpPr>
        <p:spPr>
          <a:xfrm>
            <a:off x="6165849" y="3122295"/>
            <a:ext cx="9525" cy="2133600"/>
          </a:xfrm>
          <a:prstGeom prst="rect">
            <a:avLst/>
          </a:prstGeom>
          <a:solidFill>
            <a:srgbClr val="E6E8F0"/>
          </a:solidFill>
          <a:ln/>
        </p:spPr>
      </p:sp>
      <p:sp>
        <p:nvSpPr>
          <p:cNvPr id="25" name="Text 23"/>
          <p:cNvSpPr/>
          <p:nvPr/>
        </p:nvSpPr>
        <p:spPr>
          <a:xfrm>
            <a:off x="1219199" y="344614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CER · Character Error Rate</a:t>
            </a:r>
            <a:endParaRPr lang="en-US" sz="1950" dirty="0"/>
          </a:p>
        </p:txBody>
      </p:sp>
      <p:sp>
        <p:nvSpPr>
          <p:cNvPr id="26" name="Text 24"/>
          <p:cNvSpPr/>
          <p:nvPr/>
        </p:nvSpPr>
        <p:spPr>
          <a:xfrm>
            <a:off x="1219199" y="3846195"/>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Edit distance at the character level, normalized by reference length. Headline metric for handwriting OCR.</a:t>
            </a:r>
            <a:endParaRPr lang="en-US" sz="1500" dirty="0"/>
          </a:p>
        </p:txBody>
      </p:sp>
      <p:sp>
        <p:nvSpPr>
          <p:cNvPr id="27" name="Shape 25"/>
          <p:cNvSpPr/>
          <p:nvPr/>
        </p:nvSpPr>
        <p:spPr>
          <a:xfrm>
            <a:off x="6518274" y="3122295"/>
            <a:ext cx="5232400" cy="2133600"/>
          </a:xfrm>
          <a:prstGeom prst="roundRect">
            <a:avLst>
              <a:gd name="adj" fmla="val 7143"/>
            </a:avLst>
          </a:prstGeom>
          <a:solidFill>
            <a:srgbClr val="FFFFFF"/>
          </a:solidFill>
          <a:ln/>
        </p:spPr>
      </p:sp>
      <p:sp>
        <p:nvSpPr>
          <p:cNvPr id="28" name="Shape 26"/>
          <p:cNvSpPr/>
          <p:nvPr/>
        </p:nvSpPr>
        <p:spPr>
          <a:xfrm>
            <a:off x="6518274" y="5246370"/>
            <a:ext cx="5232400" cy="9525"/>
          </a:xfrm>
          <a:prstGeom prst="rect">
            <a:avLst/>
          </a:prstGeom>
          <a:solidFill>
            <a:srgbClr val="E6E8F0"/>
          </a:solidFill>
          <a:ln/>
        </p:spPr>
      </p:sp>
      <p:sp>
        <p:nvSpPr>
          <p:cNvPr id="29" name="Shape 27"/>
          <p:cNvSpPr/>
          <p:nvPr/>
        </p:nvSpPr>
        <p:spPr>
          <a:xfrm>
            <a:off x="6518274" y="3122295"/>
            <a:ext cx="5232400" cy="57150"/>
          </a:xfrm>
          <a:prstGeom prst="rect">
            <a:avLst/>
          </a:prstGeom>
          <a:solidFill>
            <a:srgbClr val="6070FF"/>
          </a:solidFill>
          <a:ln/>
        </p:spPr>
      </p:sp>
      <p:sp>
        <p:nvSpPr>
          <p:cNvPr id="30" name="Shape 28"/>
          <p:cNvSpPr/>
          <p:nvPr/>
        </p:nvSpPr>
        <p:spPr>
          <a:xfrm>
            <a:off x="6518274" y="3122295"/>
            <a:ext cx="9525" cy="2133600"/>
          </a:xfrm>
          <a:prstGeom prst="rect">
            <a:avLst/>
          </a:prstGeom>
          <a:solidFill>
            <a:srgbClr val="E6E8F0"/>
          </a:solidFill>
          <a:ln/>
        </p:spPr>
      </p:sp>
      <p:sp>
        <p:nvSpPr>
          <p:cNvPr id="31" name="Shape 29"/>
          <p:cNvSpPr/>
          <p:nvPr/>
        </p:nvSpPr>
        <p:spPr>
          <a:xfrm>
            <a:off x="11741149" y="3122295"/>
            <a:ext cx="9525" cy="2133600"/>
          </a:xfrm>
          <a:prstGeom prst="rect">
            <a:avLst/>
          </a:prstGeom>
          <a:solidFill>
            <a:srgbClr val="E6E8F0"/>
          </a:solidFill>
          <a:ln/>
        </p:spPr>
      </p:sp>
      <p:sp>
        <p:nvSpPr>
          <p:cNvPr id="32" name="Text 30"/>
          <p:cNvSpPr/>
          <p:nvPr/>
        </p:nvSpPr>
        <p:spPr>
          <a:xfrm>
            <a:off x="6794499" y="3446145"/>
            <a:ext cx="4820349"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WER · Word Error Rate</a:t>
            </a:r>
            <a:endParaRPr lang="en-US" sz="1950" dirty="0"/>
          </a:p>
        </p:txBody>
      </p:sp>
      <p:sp>
        <p:nvSpPr>
          <p:cNvPr id="33" name="Text 31"/>
          <p:cNvSpPr/>
          <p:nvPr/>
        </p:nvSpPr>
        <p:spPr>
          <a:xfrm>
            <a:off x="6794499" y="3846195"/>
            <a:ext cx="482034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Edit distance at the word level. Penalizes any wrong token, even for a single-character misspelling.</a:t>
            </a:r>
            <a:endParaRPr lang="en-US" sz="1500" dirty="0"/>
          </a:p>
        </p:txBody>
      </p:sp>
      <p:sp>
        <p:nvSpPr>
          <p:cNvPr id="34" name="Shape 32"/>
          <p:cNvSpPr/>
          <p:nvPr/>
        </p:nvSpPr>
        <p:spPr>
          <a:xfrm>
            <a:off x="12093574" y="3122295"/>
            <a:ext cx="5232400" cy="2133600"/>
          </a:xfrm>
          <a:prstGeom prst="roundRect">
            <a:avLst>
              <a:gd name="adj" fmla="val 7143"/>
            </a:avLst>
          </a:prstGeom>
          <a:solidFill>
            <a:srgbClr val="FFFFFF"/>
          </a:solidFill>
          <a:ln/>
        </p:spPr>
      </p:sp>
      <p:sp>
        <p:nvSpPr>
          <p:cNvPr id="35" name="Shape 33"/>
          <p:cNvSpPr/>
          <p:nvPr/>
        </p:nvSpPr>
        <p:spPr>
          <a:xfrm>
            <a:off x="12093574" y="5246370"/>
            <a:ext cx="5232400" cy="9525"/>
          </a:xfrm>
          <a:prstGeom prst="rect">
            <a:avLst/>
          </a:prstGeom>
          <a:solidFill>
            <a:srgbClr val="E6E8F0"/>
          </a:solidFill>
          <a:ln/>
        </p:spPr>
      </p:sp>
      <p:sp>
        <p:nvSpPr>
          <p:cNvPr id="36" name="Shape 34"/>
          <p:cNvSpPr/>
          <p:nvPr/>
        </p:nvSpPr>
        <p:spPr>
          <a:xfrm>
            <a:off x="12093574" y="3122295"/>
            <a:ext cx="5232400" cy="57150"/>
          </a:xfrm>
          <a:prstGeom prst="rect">
            <a:avLst/>
          </a:prstGeom>
          <a:solidFill>
            <a:srgbClr val="FA3585"/>
          </a:solidFill>
          <a:ln/>
        </p:spPr>
      </p:sp>
      <p:sp>
        <p:nvSpPr>
          <p:cNvPr id="37" name="Shape 35"/>
          <p:cNvSpPr/>
          <p:nvPr/>
        </p:nvSpPr>
        <p:spPr>
          <a:xfrm>
            <a:off x="12093574" y="3122295"/>
            <a:ext cx="9525" cy="2133600"/>
          </a:xfrm>
          <a:prstGeom prst="rect">
            <a:avLst/>
          </a:prstGeom>
          <a:solidFill>
            <a:srgbClr val="E6E8F0"/>
          </a:solidFill>
          <a:ln/>
        </p:spPr>
      </p:sp>
      <p:sp>
        <p:nvSpPr>
          <p:cNvPr id="38" name="Shape 36"/>
          <p:cNvSpPr/>
          <p:nvPr/>
        </p:nvSpPr>
        <p:spPr>
          <a:xfrm>
            <a:off x="17316448" y="3122295"/>
            <a:ext cx="9525" cy="2133600"/>
          </a:xfrm>
          <a:prstGeom prst="rect">
            <a:avLst/>
          </a:prstGeom>
          <a:solidFill>
            <a:srgbClr val="E6E8F0"/>
          </a:solidFill>
          <a:ln/>
        </p:spPr>
      </p:sp>
      <p:sp>
        <p:nvSpPr>
          <p:cNvPr id="39" name="Text 37"/>
          <p:cNvSpPr/>
          <p:nvPr/>
        </p:nvSpPr>
        <p:spPr>
          <a:xfrm>
            <a:off x="12369799" y="344614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Exact match</a:t>
            </a:r>
            <a:endParaRPr lang="en-US" sz="1950" dirty="0"/>
          </a:p>
        </p:txBody>
      </p:sp>
      <p:sp>
        <p:nvSpPr>
          <p:cNvPr id="40" name="Text 38"/>
          <p:cNvSpPr/>
          <p:nvPr/>
        </p:nvSpPr>
        <p:spPr>
          <a:xfrm>
            <a:off x="12369799" y="3846195"/>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Strictest measure: fraction of lines where prediction equals ground truth verbatim. Production-relevant.</a:t>
            </a:r>
            <a:endParaRPr lang="en-US" sz="1500" dirty="0"/>
          </a:p>
        </p:txBody>
      </p:sp>
      <p:sp>
        <p:nvSpPr>
          <p:cNvPr id="41" name="Text 39"/>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2" name="Text 40"/>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20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493">
        <p159:morph option="byObject"/>
      </p:transition>
    </mc:Choice>
    <mc:Fallback>
      <p:transition spd="slow" advTm="493">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172144"/>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Quantitative results</a:t>
            </a:r>
            <a:endParaRPr lang="en-US" sz="3600" dirty="0"/>
          </a:p>
        </p:txBody>
      </p:sp>
      <p:sp>
        <p:nvSpPr>
          <p:cNvPr id="20" name="Shape 18"/>
          <p:cNvSpPr/>
          <p:nvPr/>
        </p:nvSpPr>
        <p:spPr>
          <a:xfrm>
            <a:off x="952500" y="2398395"/>
            <a:ext cx="9378950" cy="4505325"/>
          </a:xfrm>
          <a:prstGeom prst="roundRect">
            <a:avLst>
              <a:gd name="adj" fmla="val 3383"/>
            </a:avLst>
          </a:prstGeom>
          <a:solidFill>
            <a:srgbClr val="FFFFFF"/>
          </a:solidFill>
          <a:ln w="9525">
            <a:solidFill>
              <a:srgbClr val="E6E8F0"/>
            </a:solidFill>
            <a:prstDash val="solid"/>
          </a:ln>
        </p:spPr>
      </p:sp>
      <p:sp>
        <p:nvSpPr>
          <p:cNvPr id="21" name="Text 19"/>
          <p:cNvSpPr/>
          <p:nvPr/>
        </p:nvSpPr>
        <p:spPr>
          <a:xfrm>
            <a:off x="1190625" y="2636520"/>
            <a:ext cx="9169781" cy="295275"/>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172144"/>
                </a:solidFill>
                <a:latin typeface="Century Gothic" pitchFamily="34" charset="0"/>
                <a:ea typeface="Century Gothic" pitchFamily="34" charset="-122"/>
                <a:cs typeface="Century Gothic" pitchFamily="34" charset="-120"/>
              </a:rPr>
              <a:t>Zero-shot vs fine-tuned (lower CER/WER is better)</a:t>
            </a:r>
            <a:endParaRPr lang="en-US" sz="1650" dirty="0"/>
          </a:p>
        </p:txBody>
      </p:sp>
      <p:sp>
        <p:nvSpPr>
          <p:cNvPr id="22" name="Text 20"/>
          <p:cNvSpPr/>
          <p:nvPr/>
        </p:nvSpPr>
        <p:spPr>
          <a:xfrm>
            <a:off x="1190625" y="2969895"/>
            <a:ext cx="1423035"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4368"/>
                </a:solidFill>
                <a:latin typeface="Calibri" pitchFamily="34" charset="0"/>
                <a:ea typeface="Calibri" pitchFamily="34" charset="-122"/>
                <a:cs typeface="Calibri" pitchFamily="34" charset="-120"/>
              </a:rPr>
              <a:t>Zero-shot TrOCR</a:t>
            </a:r>
            <a:endParaRPr lang="en-US" sz="1350" dirty="0"/>
          </a:p>
        </p:txBody>
      </p:sp>
      <p:sp>
        <p:nvSpPr>
          <p:cNvPr id="23" name="Text 21"/>
          <p:cNvSpPr/>
          <p:nvPr/>
        </p:nvSpPr>
        <p:spPr>
          <a:xfrm>
            <a:off x="2766060" y="2969895"/>
            <a:ext cx="1491297" cy="257175"/>
          </a:xfrm>
          <a:prstGeom prst="rect">
            <a:avLst/>
          </a:prstGeom>
          <a:noFill/>
          <a:ln/>
        </p:spPr>
        <p:txBody>
          <a:bodyPr wrap="square" lIns="25400" tIns="25400" rIns="25400" bIns="25400" rtlCol="0" anchor="t">
            <a:normAutofit/>
          </a:bodyPr>
          <a:lstStyle/>
          <a:p>
            <a:pPr marL="0" indent="0" algn="l">
              <a:buNone/>
            </a:pPr>
            <a:r>
              <a:rPr lang="en-US" sz="1350" dirty="0">
                <a:solidFill>
                  <a:srgbClr val="3A4368"/>
                </a:solidFill>
                <a:latin typeface="Calibri" pitchFamily="34" charset="0"/>
                <a:ea typeface="Calibri" pitchFamily="34" charset="-122"/>
                <a:cs typeface="Calibri" pitchFamily="34" charset="-120"/>
              </a:rPr>
              <a:t>Fine-tuned (ours)</a:t>
            </a:r>
            <a:endParaRPr lang="en-US" sz="1350" dirty="0"/>
          </a:p>
        </p:txBody>
      </p:sp>
      <p:pic>
        <p:nvPicPr>
          <p:cNvPr id="24" name="Image 0" descr="preencoded.png"/>
          <p:cNvPicPr>
            <a:picLocks noChangeAspect="1"/>
          </p:cNvPicPr>
          <p:nvPr/>
        </p:nvPicPr>
        <p:blipFill>
          <a:blip r:embed="rId3"/>
          <a:stretch>
            <a:fillRect/>
          </a:stretch>
        </p:blipFill>
        <p:spPr>
          <a:xfrm>
            <a:off x="1190625" y="3188970"/>
            <a:ext cx="8902700" cy="3429000"/>
          </a:xfrm>
          <a:prstGeom prst="rect">
            <a:avLst/>
          </a:prstGeom>
        </p:spPr>
      </p:pic>
      <p:sp>
        <p:nvSpPr>
          <p:cNvPr id="25" name="Shape 22"/>
          <p:cNvSpPr/>
          <p:nvPr/>
        </p:nvSpPr>
        <p:spPr>
          <a:xfrm>
            <a:off x="10636250" y="2931795"/>
            <a:ext cx="1963737" cy="19050"/>
          </a:xfrm>
          <a:prstGeom prst="rect">
            <a:avLst/>
          </a:prstGeom>
          <a:solidFill>
            <a:srgbClr val="172144"/>
          </a:solidFill>
          <a:ln/>
        </p:spPr>
      </p:sp>
      <p:sp>
        <p:nvSpPr>
          <p:cNvPr id="26" name="Text 23"/>
          <p:cNvSpPr/>
          <p:nvPr/>
        </p:nvSpPr>
        <p:spPr>
          <a:xfrm>
            <a:off x="10826750" y="2569845"/>
            <a:ext cx="1658937"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METRIC</a:t>
            </a:r>
            <a:endParaRPr lang="en-US" sz="1200" dirty="0"/>
          </a:p>
        </p:txBody>
      </p:sp>
      <p:sp>
        <p:nvSpPr>
          <p:cNvPr id="27" name="Shape 24"/>
          <p:cNvSpPr/>
          <p:nvPr/>
        </p:nvSpPr>
        <p:spPr>
          <a:xfrm>
            <a:off x="12599988" y="2931795"/>
            <a:ext cx="2315210" cy="19050"/>
          </a:xfrm>
          <a:prstGeom prst="rect">
            <a:avLst/>
          </a:prstGeom>
          <a:solidFill>
            <a:srgbClr val="172144"/>
          </a:solidFill>
          <a:ln/>
        </p:spPr>
      </p:sp>
      <p:sp>
        <p:nvSpPr>
          <p:cNvPr id="28" name="Text 25"/>
          <p:cNvSpPr/>
          <p:nvPr/>
        </p:nvSpPr>
        <p:spPr>
          <a:xfrm>
            <a:off x="12790488" y="2569845"/>
            <a:ext cx="2010410"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ZERO-SHOT</a:t>
            </a:r>
            <a:endParaRPr lang="en-US" sz="1200" dirty="0"/>
          </a:p>
        </p:txBody>
      </p:sp>
      <p:sp>
        <p:nvSpPr>
          <p:cNvPr id="29" name="Shape 26"/>
          <p:cNvSpPr/>
          <p:nvPr/>
        </p:nvSpPr>
        <p:spPr>
          <a:xfrm>
            <a:off x="14915198" y="2931795"/>
            <a:ext cx="2420303" cy="19050"/>
          </a:xfrm>
          <a:prstGeom prst="rect">
            <a:avLst/>
          </a:prstGeom>
          <a:solidFill>
            <a:srgbClr val="172144"/>
          </a:solidFill>
          <a:ln/>
        </p:spPr>
      </p:sp>
      <p:sp>
        <p:nvSpPr>
          <p:cNvPr id="30" name="Text 27"/>
          <p:cNvSpPr/>
          <p:nvPr/>
        </p:nvSpPr>
        <p:spPr>
          <a:xfrm>
            <a:off x="15105698" y="2569845"/>
            <a:ext cx="2115503" cy="228600"/>
          </a:xfrm>
          <a:prstGeom prst="rect">
            <a:avLst/>
          </a:prstGeom>
          <a:noFill/>
          <a:ln/>
        </p:spPr>
        <p:txBody>
          <a:bodyPr wrap="square" lIns="25400" tIns="25400" rIns="25400" bIns="25400" rtlCol="0" anchor="t">
            <a:normAutofit lnSpcReduction="10000"/>
          </a:bodyPr>
          <a:lstStyle/>
          <a:p>
            <a:pPr marL="0" indent="0" algn="l">
              <a:buNone/>
            </a:pPr>
            <a:r>
              <a:rPr lang="en-US" sz="1200" b="1" kern="0" spc="144" dirty="0">
                <a:solidFill>
                  <a:srgbClr val="7A8099"/>
                </a:solidFill>
                <a:latin typeface="Century Gothic" pitchFamily="34" charset="0"/>
                <a:ea typeface="Century Gothic" pitchFamily="34" charset="-122"/>
                <a:cs typeface="Century Gothic" pitchFamily="34" charset="-120"/>
              </a:rPr>
              <a:t>FINE-TUNED</a:t>
            </a:r>
            <a:endParaRPr lang="en-US" sz="1200" dirty="0"/>
          </a:p>
        </p:txBody>
      </p:sp>
      <p:sp>
        <p:nvSpPr>
          <p:cNvPr id="31" name="Shape 28"/>
          <p:cNvSpPr/>
          <p:nvPr/>
        </p:nvSpPr>
        <p:spPr>
          <a:xfrm>
            <a:off x="10636250" y="3555682"/>
            <a:ext cx="6699250" cy="9525"/>
          </a:xfrm>
          <a:prstGeom prst="rect">
            <a:avLst/>
          </a:prstGeom>
          <a:solidFill>
            <a:srgbClr val="E6E8F0"/>
          </a:solidFill>
          <a:ln/>
        </p:spPr>
      </p:sp>
      <p:sp>
        <p:nvSpPr>
          <p:cNvPr id="32" name="Text 29"/>
          <p:cNvSpPr/>
          <p:nvPr/>
        </p:nvSpPr>
        <p:spPr>
          <a:xfrm>
            <a:off x="10826750" y="3122295"/>
            <a:ext cx="1658937" cy="309563"/>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CER ↓</a:t>
            </a:r>
            <a:endParaRPr lang="en-US" sz="1650" dirty="0"/>
          </a:p>
        </p:txBody>
      </p:sp>
      <p:sp>
        <p:nvSpPr>
          <p:cNvPr id="33" name="Text 30"/>
          <p:cNvSpPr/>
          <p:nvPr/>
        </p:nvSpPr>
        <p:spPr>
          <a:xfrm>
            <a:off x="12790488" y="3122295"/>
            <a:ext cx="2010410" cy="309563"/>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78%</a:t>
            </a:r>
            <a:endParaRPr lang="en-US" sz="1650" dirty="0"/>
          </a:p>
        </p:txBody>
      </p:sp>
      <p:sp>
        <p:nvSpPr>
          <p:cNvPr id="34" name="Text 31"/>
          <p:cNvSpPr/>
          <p:nvPr/>
        </p:nvSpPr>
        <p:spPr>
          <a:xfrm>
            <a:off x="15105698" y="3122295"/>
            <a:ext cx="2115503" cy="309563"/>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4%</a:t>
            </a:r>
            <a:endParaRPr lang="en-US" sz="1650" dirty="0"/>
          </a:p>
        </p:txBody>
      </p:sp>
      <p:sp>
        <p:nvSpPr>
          <p:cNvPr id="35" name="Shape 32"/>
          <p:cNvSpPr/>
          <p:nvPr/>
        </p:nvSpPr>
        <p:spPr>
          <a:xfrm>
            <a:off x="10636250" y="4165282"/>
            <a:ext cx="6699250" cy="9525"/>
          </a:xfrm>
          <a:prstGeom prst="rect">
            <a:avLst/>
          </a:prstGeom>
          <a:solidFill>
            <a:srgbClr val="E6E8F0"/>
          </a:solidFill>
          <a:ln/>
        </p:spPr>
      </p:sp>
      <p:sp>
        <p:nvSpPr>
          <p:cNvPr id="36" name="Text 33"/>
          <p:cNvSpPr/>
          <p:nvPr/>
        </p:nvSpPr>
        <p:spPr>
          <a:xfrm>
            <a:off x="10826750" y="3736657"/>
            <a:ext cx="1658937"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WER ↓</a:t>
            </a:r>
            <a:endParaRPr lang="en-US" sz="1650" dirty="0"/>
          </a:p>
        </p:txBody>
      </p:sp>
      <p:sp>
        <p:nvSpPr>
          <p:cNvPr id="37" name="Text 34"/>
          <p:cNvSpPr/>
          <p:nvPr/>
        </p:nvSpPr>
        <p:spPr>
          <a:xfrm>
            <a:off x="12790488" y="3736657"/>
            <a:ext cx="2010410" cy="304800"/>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92%</a:t>
            </a:r>
            <a:endParaRPr lang="en-US" sz="1650" dirty="0"/>
          </a:p>
        </p:txBody>
      </p:sp>
      <p:sp>
        <p:nvSpPr>
          <p:cNvPr id="38" name="Text 35"/>
          <p:cNvSpPr/>
          <p:nvPr/>
        </p:nvSpPr>
        <p:spPr>
          <a:xfrm>
            <a:off x="15105698" y="3736657"/>
            <a:ext cx="2115503"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11%</a:t>
            </a:r>
            <a:endParaRPr lang="en-US" sz="1650" dirty="0"/>
          </a:p>
        </p:txBody>
      </p:sp>
      <p:sp>
        <p:nvSpPr>
          <p:cNvPr id="39" name="Shape 36"/>
          <p:cNvSpPr/>
          <p:nvPr/>
        </p:nvSpPr>
        <p:spPr>
          <a:xfrm>
            <a:off x="10636250" y="4774882"/>
            <a:ext cx="6699250" cy="9525"/>
          </a:xfrm>
          <a:prstGeom prst="rect">
            <a:avLst/>
          </a:prstGeom>
          <a:solidFill>
            <a:srgbClr val="E6E8F0"/>
          </a:solidFill>
          <a:ln/>
        </p:spPr>
      </p:sp>
      <p:sp>
        <p:nvSpPr>
          <p:cNvPr id="40" name="Text 37"/>
          <p:cNvSpPr/>
          <p:nvPr/>
        </p:nvSpPr>
        <p:spPr>
          <a:xfrm>
            <a:off x="10826750" y="4346257"/>
            <a:ext cx="1658937"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Exact ↑</a:t>
            </a:r>
            <a:endParaRPr lang="en-US" sz="1650" dirty="0"/>
          </a:p>
        </p:txBody>
      </p:sp>
      <p:sp>
        <p:nvSpPr>
          <p:cNvPr id="41" name="Text 38"/>
          <p:cNvSpPr/>
          <p:nvPr/>
        </p:nvSpPr>
        <p:spPr>
          <a:xfrm>
            <a:off x="12790488" y="4346257"/>
            <a:ext cx="2010410" cy="304800"/>
          </a:xfrm>
          <a:prstGeom prst="rect">
            <a:avLst/>
          </a:prstGeom>
          <a:noFill/>
          <a:ln/>
        </p:spPr>
        <p:txBody>
          <a:bodyPr wrap="square" lIns="25400" tIns="25400" rIns="25400" bIns="25400" rtlCol="0" anchor="t">
            <a:normAutofit/>
          </a:bodyPr>
          <a:lstStyle/>
          <a:p>
            <a:pPr marL="0" indent="0" algn="l">
              <a:buNone/>
            </a:pPr>
            <a:r>
              <a:rPr lang="en-US" sz="1650" dirty="0">
                <a:solidFill>
                  <a:srgbClr val="E9474E"/>
                </a:solidFill>
                <a:latin typeface="Calibri" pitchFamily="34" charset="0"/>
                <a:ea typeface="Calibri" pitchFamily="34" charset="-122"/>
                <a:cs typeface="Calibri" pitchFamily="34" charset="-120"/>
              </a:rPr>
              <a:t>3%</a:t>
            </a:r>
            <a:endParaRPr lang="en-US" sz="1650" dirty="0"/>
          </a:p>
        </p:txBody>
      </p:sp>
      <p:sp>
        <p:nvSpPr>
          <p:cNvPr id="42" name="Text 39"/>
          <p:cNvSpPr/>
          <p:nvPr/>
        </p:nvSpPr>
        <p:spPr>
          <a:xfrm>
            <a:off x="15105698" y="4346257"/>
            <a:ext cx="2115503"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40D492"/>
                </a:solidFill>
                <a:latin typeface="Calibri" pitchFamily="34" charset="0"/>
                <a:ea typeface="Calibri" pitchFamily="34" charset="-122"/>
                <a:cs typeface="Calibri" pitchFamily="34" charset="-120"/>
              </a:rPr>
              <a:t>87%</a:t>
            </a:r>
            <a:endParaRPr lang="en-US" sz="1650" dirty="0"/>
          </a:p>
        </p:txBody>
      </p:sp>
      <p:sp>
        <p:nvSpPr>
          <p:cNvPr id="43" name="Shape 40"/>
          <p:cNvSpPr/>
          <p:nvPr/>
        </p:nvSpPr>
        <p:spPr>
          <a:xfrm>
            <a:off x="10636250" y="5384482"/>
            <a:ext cx="6699250" cy="9525"/>
          </a:xfrm>
          <a:prstGeom prst="rect">
            <a:avLst/>
          </a:prstGeom>
          <a:solidFill>
            <a:srgbClr val="E6E8F0"/>
          </a:solidFill>
          <a:ln/>
        </p:spPr>
      </p:sp>
      <p:sp>
        <p:nvSpPr>
          <p:cNvPr id="44" name="Text 41"/>
          <p:cNvSpPr/>
          <p:nvPr/>
        </p:nvSpPr>
        <p:spPr>
          <a:xfrm>
            <a:off x="10826750" y="4955857"/>
            <a:ext cx="1658937"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172144"/>
                </a:solidFill>
                <a:latin typeface="Calibri" pitchFamily="34" charset="0"/>
                <a:ea typeface="Calibri" pitchFamily="34" charset="-122"/>
                <a:cs typeface="Calibri" pitchFamily="34" charset="-120"/>
              </a:rPr>
              <a:t>Latency</a:t>
            </a:r>
            <a:endParaRPr lang="en-US" sz="1650" dirty="0"/>
          </a:p>
        </p:txBody>
      </p:sp>
      <p:sp>
        <p:nvSpPr>
          <p:cNvPr id="45" name="Text 42"/>
          <p:cNvSpPr/>
          <p:nvPr/>
        </p:nvSpPr>
        <p:spPr>
          <a:xfrm>
            <a:off x="12790488" y="4955857"/>
            <a:ext cx="2010410" cy="304800"/>
          </a:xfrm>
          <a:prstGeom prst="rect">
            <a:avLst/>
          </a:prstGeom>
          <a:noFill/>
          <a:ln/>
        </p:spPr>
        <p:txBody>
          <a:bodyPr wrap="square" lIns="25400" tIns="25400" rIns="25400" bIns="25400" rtlCol="0" anchor="t">
            <a:normAutofit/>
          </a:bodyPr>
          <a:lstStyle/>
          <a:p>
            <a:pPr marL="0" indent="0" algn="l">
              <a:buNone/>
            </a:pPr>
            <a:r>
              <a:rPr lang="en-US" sz="1650" dirty="0">
                <a:solidFill>
                  <a:srgbClr val="172144"/>
                </a:solidFill>
                <a:latin typeface="Calibri" pitchFamily="34" charset="0"/>
                <a:ea typeface="Calibri" pitchFamily="34" charset="-122"/>
                <a:cs typeface="Calibri" pitchFamily="34" charset="-120"/>
              </a:rPr>
              <a:t>~1.4s</a:t>
            </a:r>
            <a:endParaRPr lang="en-US" sz="1650" dirty="0"/>
          </a:p>
        </p:txBody>
      </p:sp>
      <p:sp>
        <p:nvSpPr>
          <p:cNvPr id="46" name="Text 43"/>
          <p:cNvSpPr/>
          <p:nvPr/>
        </p:nvSpPr>
        <p:spPr>
          <a:xfrm>
            <a:off x="15105698" y="4955857"/>
            <a:ext cx="2115503" cy="304800"/>
          </a:xfrm>
          <a:prstGeom prst="rect">
            <a:avLst/>
          </a:prstGeom>
          <a:noFill/>
          <a:ln/>
        </p:spPr>
        <p:txBody>
          <a:bodyPr wrap="square" lIns="25400" tIns="25400" rIns="25400" bIns="25400" rtlCol="0" anchor="t">
            <a:normAutofit/>
          </a:bodyPr>
          <a:lstStyle/>
          <a:p>
            <a:pPr marL="0" indent="0" algn="l">
              <a:buNone/>
            </a:pPr>
            <a:r>
              <a:rPr lang="en-US" sz="1650" dirty="0">
                <a:solidFill>
                  <a:srgbClr val="172144"/>
                </a:solidFill>
                <a:latin typeface="Calibri" pitchFamily="34" charset="0"/>
                <a:ea typeface="Calibri" pitchFamily="34" charset="-122"/>
                <a:cs typeface="Calibri" pitchFamily="34" charset="-120"/>
              </a:rPr>
              <a:t>~1.6s</a:t>
            </a:r>
            <a:endParaRPr lang="en-US" sz="1650" dirty="0"/>
          </a:p>
        </p:txBody>
      </p:sp>
      <p:sp>
        <p:nvSpPr>
          <p:cNvPr id="47" name="Text 44"/>
          <p:cNvSpPr/>
          <p:nvPr/>
        </p:nvSpPr>
        <p:spPr>
          <a:xfrm>
            <a:off x="10636250" y="5570220"/>
            <a:ext cx="6900227" cy="53340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Numbers are placeholders pending the final test-set run; trend is robust across intermediate checkpoints.</a:t>
            </a:r>
            <a:endParaRPr lang="en-US" sz="1500" dirty="0"/>
          </a:p>
        </p:txBody>
      </p:sp>
      <p:sp>
        <p:nvSpPr>
          <p:cNvPr id="48" name="Text 45"/>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9" name="Text 46"/>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21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55">
        <p159:morph option="byObject"/>
      </p:transition>
    </mc:Choice>
    <mc:Fallback>
      <p:transition spd="slow" advTm="355">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172144"/>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Qualitative examples</a:t>
            </a:r>
            <a:endParaRPr lang="en-US" sz="3600" dirty="0"/>
          </a:p>
        </p:txBody>
      </p:sp>
      <p:sp>
        <p:nvSpPr>
          <p:cNvPr id="20" name="Text 18"/>
          <p:cNvSpPr/>
          <p:nvPr/>
        </p:nvSpPr>
        <p:spPr>
          <a:xfrm>
            <a:off x="1028700" y="2398395"/>
            <a:ext cx="5101590" cy="28575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7A8099"/>
                </a:solidFill>
                <a:latin typeface="Century Gothic" pitchFamily="34" charset="0"/>
                <a:ea typeface="Century Gothic" pitchFamily="34" charset="-122"/>
                <a:cs typeface="Century Gothic" pitchFamily="34" charset="-120"/>
              </a:rPr>
              <a:t>INPUT CROP</a:t>
            </a:r>
            <a:endParaRPr lang="en-US" sz="1350" dirty="0"/>
          </a:p>
        </p:txBody>
      </p:sp>
      <p:sp>
        <p:nvSpPr>
          <p:cNvPr id="21" name="Text 19"/>
          <p:cNvSpPr/>
          <p:nvPr/>
        </p:nvSpPr>
        <p:spPr>
          <a:xfrm>
            <a:off x="6153150" y="2398395"/>
            <a:ext cx="5101590" cy="28575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7A8099"/>
                </a:solidFill>
                <a:latin typeface="Century Gothic" pitchFamily="34" charset="0"/>
                <a:ea typeface="Century Gothic" pitchFamily="34" charset="-122"/>
                <a:cs typeface="Century Gothic" pitchFamily="34" charset="-120"/>
              </a:rPr>
              <a:t>GROUND TRUTH</a:t>
            </a:r>
            <a:endParaRPr lang="en-US" sz="1350" dirty="0"/>
          </a:p>
        </p:txBody>
      </p:sp>
      <p:sp>
        <p:nvSpPr>
          <p:cNvPr id="22" name="Text 20"/>
          <p:cNvSpPr/>
          <p:nvPr/>
        </p:nvSpPr>
        <p:spPr>
          <a:xfrm>
            <a:off x="11277600" y="2398395"/>
            <a:ext cx="5101590" cy="285750"/>
          </a:xfrm>
          <a:prstGeom prst="rect">
            <a:avLst/>
          </a:prstGeom>
          <a:noFill/>
          <a:ln/>
        </p:spPr>
        <p:txBody>
          <a:bodyPr wrap="square" lIns="25400" tIns="25400" rIns="25400" bIns="25400" rtlCol="0" anchor="t">
            <a:normAutofit/>
          </a:bodyPr>
          <a:lstStyle/>
          <a:p>
            <a:pPr marL="0" indent="0" algn="l">
              <a:buNone/>
            </a:pPr>
            <a:r>
              <a:rPr lang="en-US" sz="1350" kern="0" spc="135" dirty="0">
                <a:solidFill>
                  <a:srgbClr val="7A8099"/>
                </a:solidFill>
                <a:latin typeface="Century Gothic" pitchFamily="34" charset="0"/>
                <a:ea typeface="Century Gothic" pitchFamily="34" charset="-122"/>
                <a:cs typeface="Century Gothic" pitchFamily="34" charset="-120"/>
              </a:rPr>
              <a:t>PREDICTION</a:t>
            </a:r>
            <a:endParaRPr lang="en-US" sz="1350" dirty="0"/>
          </a:p>
        </p:txBody>
      </p:sp>
      <p:sp>
        <p:nvSpPr>
          <p:cNvPr id="23" name="Shape 21"/>
          <p:cNvSpPr/>
          <p:nvPr/>
        </p:nvSpPr>
        <p:spPr>
          <a:xfrm>
            <a:off x="952500" y="2703195"/>
            <a:ext cx="16383000" cy="1047750"/>
          </a:xfrm>
          <a:prstGeom prst="roundRect">
            <a:avLst>
              <a:gd name="adj" fmla="val 12727"/>
            </a:avLst>
          </a:prstGeom>
          <a:solidFill>
            <a:srgbClr val="FFFFFF"/>
          </a:solidFill>
          <a:ln w="9525">
            <a:solidFill>
              <a:srgbClr val="E6E8F0"/>
            </a:solidFill>
            <a:prstDash val="solid"/>
          </a:ln>
        </p:spPr>
      </p:sp>
      <p:sp>
        <p:nvSpPr>
          <p:cNvPr id="24" name="Shape 22"/>
          <p:cNvSpPr/>
          <p:nvPr/>
        </p:nvSpPr>
        <p:spPr>
          <a:xfrm>
            <a:off x="1133475" y="2846070"/>
            <a:ext cx="6510814" cy="762000"/>
          </a:xfrm>
          <a:prstGeom prst="roundRect">
            <a:avLst>
              <a:gd name="adj" fmla="val 12500"/>
            </a:avLst>
          </a:prstGeom>
          <a:solidFill>
            <a:srgbClr val="F7F8FC"/>
          </a:solidFill>
          <a:ln/>
        </p:spPr>
      </p:sp>
      <p:sp>
        <p:nvSpPr>
          <p:cNvPr id="25" name="Text 23"/>
          <p:cNvSpPr/>
          <p:nvPr/>
        </p:nvSpPr>
        <p:spPr>
          <a:xfrm>
            <a:off x="1285875" y="2941320"/>
            <a:ext cx="6401338" cy="609600"/>
          </a:xfrm>
          <a:prstGeom prst="rect">
            <a:avLst/>
          </a:prstGeom>
          <a:noFill/>
          <a:ln/>
        </p:spPr>
        <p:txBody>
          <a:bodyPr wrap="square" lIns="25400" tIns="25400" rIns="25400" bIns="25400" rtlCol="0" anchor="ctr">
            <a:normAutofit/>
          </a:bodyPr>
          <a:lstStyle/>
          <a:p>
            <a:pPr marL="0" indent="0" algn="l">
              <a:buNone/>
            </a:pPr>
            <a:r>
              <a:rPr lang="en-US" sz="2250" dirty="0">
                <a:solidFill>
                  <a:srgbClr val="222222"/>
                </a:solidFill>
                <a:latin typeface="Caveat" pitchFamily="34" charset="0"/>
                <a:ea typeface="Caveat" pitchFamily="34" charset="-122"/>
                <a:cs typeface="Caveat" pitchFamily="34" charset="-120"/>
              </a:rPr>
              <a:t>Simvastatin 500 mg — As needed for pain</a:t>
            </a:r>
            <a:endParaRPr lang="en-US" sz="2250" dirty="0"/>
          </a:p>
        </p:txBody>
      </p:sp>
      <p:sp>
        <p:nvSpPr>
          <p:cNvPr id="26" name="Text 24"/>
          <p:cNvSpPr/>
          <p:nvPr/>
        </p:nvSpPr>
        <p:spPr>
          <a:xfrm>
            <a:off x="7815739" y="2998470"/>
            <a:ext cx="4191316" cy="495300"/>
          </a:xfrm>
          <a:prstGeom prst="rect">
            <a:avLst/>
          </a:prstGeom>
          <a:noFill/>
          <a:ln/>
        </p:spPr>
        <p:txBody>
          <a:bodyPr wrap="square" lIns="25400" tIns="25400" rIns="25400" bIns="25400" rtlCol="0" anchor="t">
            <a:normAutofit/>
          </a:bodyPr>
          <a:lstStyle/>
          <a:p>
            <a:pPr marL="0" indent="0" algn="l">
              <a:buNone/>
            </a:pPr>
            <a:r>
              <a:rPr lang="en-US" sz="1500" dirty="0">
                <a:solidFill>
                  <a:srgbClr val="3A4368"/>
                </a:solidFill>
                <a:latin typeface="Consolas" pitchFamily="34" charset="0"/>
                <a:ea typeface="Consolas" pitchFamily="34" charset="-122"/>
                <a:cs typeface="Consolas" pitchFamily="34" charset="-120"/>
              </a:rPr>
              <a:t>Simvastatin 500 mg - As needed for pain</a:t>
            </a:r>
            <a:endParaRPr lang="en-US" sz="1500" dirty="0"/>
          </a:p>
        </p:txBody>
      </p:sp>
      <p:sp>
        <p:nvSpPr>
          <p:cNvPr id="27" name="Text 25"/>
          <p:cNvSpPr/>
          <p:nvPr/>
        </p:nvSpPr>
        <p:spPr>
          <a:xfrm>
            <a:off x="12056427" y="2998470"/>
            <a:ext cx="4191316" cy="495300"/>
          </a:xfrm>
          <a:prstGeom prst="rect">
            <a:avLst/>
          </a:prstGeom>
          <a:noFill/>
          <a:ln/>
        </p:spPr>
        <p:txBody>
          <a:bodyPr wrap="square" lIns="25400" tIns="25400" rIns="25400" bIns="25400" rtlCol="0" anchor="t">
            <a:normAutofit/>
          </a:bodyPr>
          <a:lstStyle/>
          <a:p>
            <a:pPr marL="0" indent="0" algn="l">
              <a:buNone/>
            </a:pPr>
            <a:r>
              <a:rPr lang="en-US" sz="1500" dirty="0">
                <a:solidFill>
                  <a:srgbClr val="0A7045"/>
                </a:solidFill>
                <a:latin typeface="Consolas" pitchFamily="34" charset="0"/>
                <a:ea typeface="Consolas" pitchFamily="34" charset="-122"/>
                <a:cs typeface="Consolas" pitchFamily="34" charset="-120"/>
              </a:rPr>
              <a:t>Simvastatin 500 mg - As needed for pain</a:t>
            </a:r>
            <a:endParaRPr lang="en-US" sz="1500" dirty="0"/>
          </a:p>
        </p:txBody>
      </p:sp>
      <p:sp>
        <p:nvSpPr>
          <p:cNvPr id="28" name="Shape 26"/>
          <p:cNvSpPr/>
          <p:nvPr/>
        </p:nvSpPr>
        <p:spPr>
          <a:xfrm>
            <a:off x="16297117" y="3041332"/>
            <a:ext cx="857250" cy="371475"/>
          </a:xfrm>
          <a:prstGeom prst="roundRect">
            <a:avLst>
              <a:gd name="adj" fmla="val 50000"/>
            </a:avLst>
          </a:prstGeom>
          <a:solidFill>
            <a:srgbClr val="40D492"/>
          </a:solidFill>
          <a:ln/>
        </p:spPr>
      </p:sp>
      <p:sp>
        <p:nvSpPr>
          <p:cNvPr id="29" name="Text 27"/>
          <p:cNvSpPr/>
          <p:nvPr/>
        </p:nvSpPr>
        <p:spPr>
          <a:xfrm>
            <a:off x="16373317" y="3117532"/>
            <a:ext cx="704850" cy="257175"/>
          </a:xfrm>
          <a:prstGeom prst="rect">
            <a:avLst/>
          </a:prstGeom>
          <a:noFill/>
          <a:ln/>
        </p:spPr>
        <p:txBody>
          <a:bodyPr wrap="square" lIns="25400" tIns="25400" rIns="25400" bIns="25400" rtlCol="0" anchor="t">
            <a:normAutofit/>
          </a:bodyP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WIN</a:t>
            </a:r>
            <a:endParaRPr lang="en-US" sz="1200" dirty="0"/>
          </a:p>
        </p:txBody>
      </p:sp>
      <p:sp>
        <p:nvSpPr>
          <p:cNvPr id="30" name="Shape 28"/>
          <p:cNvSpPr/>
          <p:nvPr/>
        </p:nvSpPr>
        <p:spPr>
          <a:xfrm>
            <a:off x="952500" y="3884295"/>
            <a:ext cx="16383000" cy="1047750"/>
          </a:xfrm>
          <a:prstGeom prst="roundRect">
            <a:avLst>
              <a:gd name="adj" fmla="val 12727"/>
            </a:avLst>
          </a:prstGeom>
          <a:solidFill>
            <a:srgbClr val="FFFFFF"/>
          </a:solidFill>
          <a:ln w="9525">
            <a:solidFill>
              <a:srgbClr val="E6E8F0"/>
            </a:solidFill>
            <a:prstDash val="solid"/>
          </a:ln>
        </p:spPr>
      </p:sp>
      <p:sp>
        <p:nvSpPr>
          <p:cNvPr id="31" name="Shape 29"/>
          <p:cNvSpPr/>
          <p:nvPr/>
        </p:nvSpPr>
        <p:spPr>
          <a:xfrm>
            <a:off x="1133475" y="4027170"/>
            <a:ext cx="6510814" cy="762000"/>
          </a:xfrm>
          <a:prstGeom prst="roundRect">
            <a:avLst>
              <a:gd name="adj" fmla="val 12500"/>
            </a:avLst>
          </a:prstGeom>
          <a:solidFill>
            <a:srgbClr val="F7F8FC"/>
          </a:solidFill>
          <a:ln/>
        </p:spPr>
      </p:sp>
      <p:sp>
        <p:nvSpPr>
          <p:cNvPr id="32" name="Text 30"/>
          <p:cNvSpPr/>
          <p:nvPr/>
        </p:nvSpPr>
        <p:spPr>
          <a:xfrm>
            <a:off x="1285875" y="4122420"/>
            <a:ext cx="6401338" cy="609600"/>
          </a:xfrm>
          <a:prstGeom prst="rect">
            <a:avLst/>
          </a:prstGeom>
          <a:noFill/>
          <a:ln/>
        </p:spPr>
        <p:txBody>
          <a:bodyPr wrap="square" lIns="25400" tIns="25400" rIns="25400" bIns="25400" rtlCol="0" anchor="ctr">
            <a:normAutofit/>
          </a:bodyPr>
          <a:lstStyle/>
          <a:p>
            <a:pPr marL="0" indent="0" algn="l">
              <a:buNone/>
            </a:pPr>
            <a:r>
              <a:rPr lang="en-US" sz="2250" dirty="0">
                <a:solidFill>
                  <a:srgbClr val="222222"/>
                </a:solidFill>
                <a:latin typeface="Caveat" pitchFamily="34" charset="0"/>
                <a:ea typeface="Caveat" pitchFamily="34" charset="-122"/>
                <a:cs typeface="Caveat" pitchFamily="34" charset="-120"/>
              </a:rPr>
              <a:t>Patient: Wei Li, Age: 38</a:t>
            </a:r>
            <a:endParaRPr lang="en-US" sz="2250" dirty="0"/>
          </a:p>
        </p:txBody>
      </p:sp>
      <p:sp>
        <p:nvSpPr>
          <p:cNvPr id="33" name="Text 31"/>
          <p:cNvSpPr/>
          <p:nvPr/>
        </p:nvSpPr>
        <p:spPr>
          <a:xfrm>
            <a:off x="7815739" y="4293870"/>
            <a:ext cx="419131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3A4368"/>
                </a:solidFill>
                <a:latin typeface="Consolas" pitchFamily="34" charset="0"/>
                <a:ea typeface="Consolas" pitchFamily="34" charset="-122"/>
                <a:cs typeface="Consolas" pitchFamily="34" charset="-120"/>
              </a:rPr>
              <a:t>Patient: Wei Li Age: 38</a:t>
            </a:r>
            <a:endParaRPr lang="en-US" sz="1500" dirty="0"/>
          </a:p>
        </p:txBody>
      </p:sp>
      <p:sp>
        <p:nvSpPr>
          <p:cNvPr id="34" name="Text 32"/>
          <p:cNvSpPr/>
          <p:nvPr/>
        </p:nvSpPr>
        <p:spPr>
          <a:xfrm>
            <a:off x="12056427" y="4293870"/>
            <a:ext cx="419131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B25C00"/>
                </a:solidFill>
                <a:latin typeface="Consolas" pitchFamily="34" charset="0"/>
                <a:ea typeface="Consolas" pitchFamily="34" charset="-122"/>
                <a:cs typeface="Consolas" pitchFamily="34" charset="-120"/>
              </a:rPr>
              <a:t>Patient: Wei Li Age: 36</a:t>
            </a:r>
            <a:endParaRPr lang="en-US" sz="1500" dirty="0"/>
          </a:p>
        </p:txBody>
      </p:sp>
      <p:sp>
        <p:nvSpPr>
          <p:cNvPr id="35" name="Shape 33"/>
          <p:cNvSpPr/>
          <p:nvPr/>
        </p:nvSpPr>
        <p:spPr>
          <a:xfrm>
            <a:off x="16297117" y="4222432"/>
            <a:ext cx="857250" cy="371475"/>
          </a:xfrm>
          <a:prstGeom prst="roundRect">
            <a:avLst>
              <a:gd name="adj" fmla="val 50000"/>
            </a:avLst>
          </a:prstGeom>
          <a:solidFill>
            <a:srgbClr val="FF8E38"/>
          </a:solidFill>
          <a:ln/>
        </p:spPr>
      </p:sp>
      <p:sp>
        <p:nvSpPr>
          <p:cNvPr id="36" name="Text 34"/>
          <p:cNvSpPr/>
          <p:nvPr/>
        </p:nvSpPr>
        <p:spPr>
          <a:xfrm>
            <a:off x="16373317" y="4298632"/>
            <a:ext cx="704850" cy="257175"/>
          </a:xfrm>
          <a:prstGeom prst="rect">
            <a:avLst/>
          </a:prstGeom>
          <a:noFill/>
          <a:ln/>
        </p:spPr>
        <p:txBody>
          <a:bodyPr wrap="square" lIns="25400" tIns="25400" rIns="25400" bIns="25400" rtlCol="0" anchor="t">
            <a:normAutofit/>
          </a:bodyP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PARTIAL</a:t>
            </a:r>
            <a:endParaRPr lang="en-US" sz="1200" dirty="0"/>
          </a:p>
        </p:txBody>
      </p:sp>
      <p:sp>
        <p:nvSpPr>
          <p:cNvPr id="37" name="Shape 35"/>
          <p:cNvSpPr/>
          <p:nvPr/>
        </p:nvSpPr>
        <p:spPr>
          <a:xfrm>
            <a:off x="952500" y="5065395"/>
            <a:ext cx="16383000" cy="1047750"/>
          </a:xfrm>
          <a:prstGeom prst="roundRect">
            <a:avLst>
              <a:gd name="adj" fmla="val 12727"/>
            </a:avLst>
          </a:prstGeom>
          <a:solidFill>
            <a:srgbClr val="FFFFFF"/>
          </a:solidFill>
          <a:ln w="9525">
            <a:solidFill>
              <a:srgbClr val="E6E8F0"/>
            </a:solidFill>
            <a:prstDash val="solid"/>
          </a:ln>
        </p:spPr>
      </p:sp>
      <p:sp>
        <p:nvSpPr>
          <p:cNvPr id="38" name="Shape 36"/>
          <p:cNvSpPr/>
          <p:nvPr/>
        </p:nvSpPr>
        <p:spPr>
          <a:xfrm>
            <a:off x="1133475" y="5208270"/>
            <a:ext cx="6510814" cy="762000"/>
          </a:xfrm>
          <a:prstGeom prst="roundRect">
            <a:avLst>
              <a:gd name="adj" fmla="val 12500"/>
            </a:avLst>
          </a:prstGeom>
          <a:solidFill>
            <a:srgbClr val="F7F8FC"/>
          </a:solidFill>
          <a:ln/>
        </p:spPr>
      </p:sp>
      <p:sp>
        <p:nvSpPr>
          <p:cNvPr id="39" name="Text 37"/>
          <p:cNvSpPr/>
          <p:nvPr/>
        </p:nvSpPr>
        <p:spPr>
          <a:xfrm>
            <a:off x="1285875" y="5303520"/>
            <a:ext cx="6401338" cy="609600"/>
          </a:xfrm>
          <a:prstGeom prst="rect">
            <a:avLst/>
          </a:prstGeom>
          <a:noFill/>
          <a:ln/>
        </p:spPr>
        <p:txBody>
          <a:bodyPr wrap="square" lIns="25400" tIns="25400" rIns="25400" bIns="25400" rtlCol="0" anchor="ctr">
            <a:normAutofit/>
          </a:bodyPr>
          <a:lstStyle/>
          <a:p>
            <a:pPr marL="0" indent="0" algn="l">
              <a:buNone/>
            </a:pPr>
            <a:r>
              <a:rPr lang="en-US" sz="2250" dirty="0">
                <a:solidFill>
                  <a:srgbClr val="222222"/>
                </a:solidFill>
                <a:latin typeface="Caveat" pitchFamily="34" charset="0"/>
                <a:ea typeface="Caveat" pitchFamily="34" charset="-122"/>
                <a:cs typeface="Caveat" pitchFamily="34" charset="-120"/>
              </a:rPr>
              <a:t>Signature: Dr. R. Patel</a:t>
            </a:r>
            <a:endParaRPr lang="en-US" sz="2250" dirty="0"/>
          </a:p>
        </p:txBody>
      </p:sp>
      <p:sp>
        <p:nvSpPr>
          <p:cNvPr id="40" name="Text 38"/>
          <p:cNvSpPr/>
          <p:nvPr/>
        </p:nvSpPr>
        <p:spPr>
          <a:xfrm>
            <a:off x="7815739" y="5474970"/>
            <a:ext cx="419131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3A4368"/>
                </a:solidFill>
                <a:latin typeface="Consolas" pitchFamily="34" charset="0"/>
                <a:ea typeface="Consolas" pitchFamily="34" charset="-122"/>
                <a:cs typeface="Consolas" pitchFamily="34" charset="-120"/>
              </a:rPr>
              <a:t>signature: Dr. R. Patel</a:t>
            </a:r>
            <a:endParaRPr lang="en-US" sz="1500" dirty="0"/>
          </a:p>
        </p:txBody>
      </p:sp>
      <p:sp>
        <p:nvSpPr>
          <p:cNvPr id="41" name="Text 39"/>
          <p:cNvSpPr/>
          <p:nvPr/>
        </p:nvSpPr>
        <p:spPr>
          <a:xfrm>
            <a:off x="12056427" y="5474970"/>
            <a:ext cx="419131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A5181F"/>
                </a:solidFill>
                <a:latin typeface="Consolas" pitchFamily="34" charset="0"/>
                <a:ea typeface="Consolas" pitchFamily="34" charset="-122"/>
                <a:cs typeface="Consolas" pitchFamily="34" charset="-120"/>
              </a:rPr>
              <a:t>signature: Dr. K. Patal</a:t>
            </a:r>
            <a:endParaRPr lang="en-US" sz="1500" dirty="0"/>
          </a:p>
        </p:txBody>
      </p:sp>
      <p:sp>
        <p:nvSpPr>
          <p:cNvPr id="42" name="Shape 40"/>
          <p:cNvSpPr/>
          <p:nvPr/>
        </p:nvSpPr>
        <p:spPr>
          <a:xfrm>
            <a:off x="16297117" y="5403532"/>
            <a:ext cx="857250" cy="371475"/>
          </a:xfrm>
          <a:prstGeom prst="roundRect">
            <a:avLst>
              <a:gd name="adj" fmla="val 50000"/>
            </a:avLst>
          </a:prstGeom>
          <a:solidFill>
            <a:srgbClr val="E9474E"/>
          </a:solidFill>
          <a:ln/>
        </p:spPr>
      </p:sp>
      <p:sp>
        <p:nvSpPr>
          <p:cNvPr id="43" name="Text 41"/>
          <p:cNvSpPr/>
          <p:nvPr/>
        </p:nvSpPr>
        <p:spPr>
          <a:xfrm>
            <a:off x="16373317" y="5479732"/>
            <a:ext cx="704850" cy="257175"/>
          </a:xfrm>
          <a:prstGeom prst="rect">
            <a:avLst/>
          </a:prstGeom>
          <a:noFill/>
          <a:ln/>
        </p:spPr>
        <p:txBody>
          <a:bodyPr wrap="square" lIns="25400" tIns="25400" rIns="25400" bIns="25400" rtlCol="0" anchor="t">
            <a:normAutofit/>
          </a:bodyPr>
          <a:lstStyle/>
          <a:p>
            <a:pPr marL="0" indent="0" algn="ctr">
              <a:buNone/>
            </a:pPr>
            <a:r>
              <a:rPr lang="en-US" sz="1200" b="1" dirty="0">
                <a:solidFill>
                  <a:srgbClr val="FFFFFF"/>
                </a:solidFill>
                <a:latin typeface="Century Gothic" pitchFamily="34" charset="0"/>
                <a:ea typeface="Century Gothic" pitchFamily="34" charset="-122"/>
                <a:cs typeface="Century Gothic" pitchFamily="34" charset="-120"/>
              </a:rPr>
              <a:t>FAIL</a:t>
            </a:r>
            <a:endParaRPr lang="en-US" sz="1200" dirty="0"/>
          </a:p>
        </p:txBody>
      </p:sp>
      <p:sp>
        <p:nvSpPr>
          <p:cNvPr id="44" name="Text 42"/>
          <p:cNvSpPr/>
          <p:nvPr/>
        </p:nvSpPr>
        <p:spPr>
          <a:xfrm>
            <a:off x="952500" y="6341745"/>
            <a:ext cx="16874490"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One clean win, one partial, one failure — all sampled from the held-out validation set.</a:t>
            </a:r>
            <a:endParaRPr lang="en-US" sz="1950" dirty="0"/>
          </a:p>
        </p:txBody>
      </p:sp>
      <p:sp>
        <p:nvSpPr>
          <p:cNvPr id="45" name="Text 43"/>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6" name="Text 44"/>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22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25">
        <p159:morph option="byObject"/>
      </p:transition>
    </mc:Choice>
    <mc:Fallback>
      <p:transition spd="slow" advTm="525">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Shape 5"/>
          <p:cNvSpPr/>
          <p:nvPr/>
        </p:nvSpPr>
        <p:spPr>
          <a:xfrm>
            <a:off x="952500" y="952500"/>
            <a:ext cx="893445" cy="371475"/>
          </a:xfrm>
          <a:prstGeom prst="roundRect">
            <a:avLst>
              <a:gd name="adj" fmla="val 50000"/>
            </a:avLst>
          </a:prstGeom>
          <a:solidFill>
            <a:srgbClr val="F3F5FB"/>
          </a:solidFill>
          <a:ln/>
        </p:spPr>
      </p:sp>
      <p:sp>
        <p:nvSpPr>
          <p:cNvPr id="8" name="Text 6"/>
          <p:cNvSpPr/>
          <p:nvPr/>
        </p:nvSpPr>
        <p:spPr>
          <a:xfrm>
            <a:off x="110490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1</a:t>
            </a:r>
            <a:endParaRPr lang="en-US" sz="1350" dirty="0"/>
          </a:p>
        </p:txBody>
      </p:sp>
      <p:sp>
        <p:nvSpPr>
          <p:cNvPr id="9" name="Shape 7"/>
          <p:cNvSpPr/>
          <p:nvPr/>
        </p:nvSpPr>
        <p:spPr>
          <a:xfrm>
            <a:off x="1979295" y="952500"/>
            <a:ext cx="893445" cy="371475"/>
          </a:xfrm>
          <a:prstGeom prst="roundRect">
            <a:avLst>
              <a:gd name="adj" fmla="val 50000"/>
            </a:avLst>
          </a:prstGeom>
          <a:solidFill>
            <a:srgbClr val="F3F5FB"/>
          </a:solidFill>
          <a:ln/>
        </p:spPr>
      </p:sp>
      <p:sp>
        <p:nvSpPr>
          <p:cNvPr id="10" name="Text 8"/>
          <p:cNvSpPr/>
          <p:nvPr/>
        </p:nvSpPr>
        <p:spPr>
          <a:xfrm>
            <a:off x="213169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2</a:t>
            </a:r>
            <a:endParaRPr lang="en-US" sz="1350" dirty="0"/>
          </a:p>
        </p:txBody>
      </p:sp>
      <p:sp>
        <p:nvSpPr>
          <p:cNvPr id="11" name="Shape 9"/>
          <p:cNvSpPr/>
          <p:nvPr/>
        </p:nvSpPr>
        <p:spPr>
          <a:xfrm>
            <a:off x="3006090" y="952500"/>
            <a:ext cx="893445" cy="371475"/>
          </a:xfrm>
          <a:prstGeom prst="roundRect">
            <a:avLst>
              <a:gd name="adj" fmla="val 50000"/>
            </a:avLst>
          </a:prstGeom>
          <a:solidFill>
            <a:srgbClr val="F3F5FB"/>
          </a:solidFill>
          <a:ln/>
        </p:spPr>
      </p:sp>
      <p:sp>
        <p:nvSpPr>
          <p:cNvPr id="12" name="Text 10"/>
          <p:cNvSpPr/>
          <p:nvPr/>
        </p:nvSpPr>
        <p:spPr>
          <a:xfrm>
            <a:off x="315849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3</a:t>
            </a:r>
            <a:endParaRPr lang="en-US" sz="1350" dirty="0"/>
          </a:p>
        </p:txBody>
      </p:sp>
      <p:sp>
        <p:nvSpPr>
          <p:cNvPr id="13" name="Shape 11"/>
          <p:cNvSpPr/>
          <p:nvPr/>
        </p:nvSpPr>
        <p:spPr>
          <a:xfrm>
            <a:off x="4032885" y="952500"/>
            <a:ext cx="893445" cy="371475"/>
          </a:xfrm>
          <a:prstGeom prst="roundRect">
            <a:avLst>
              <a:gd name="adj" fmla="val 50000"/>
            </a:avLst>
          </a:prstGeom>
          <a:solidFill>
            <a:srgbClr val="F3F5FB"/>
          </a:solidFill>
          <a:ln/>
        </p:spPr>
      </p:sp>
      <p:sp>
        <p:nvSpPr>
          <p:cNvPr id="14" name="Text 12"/>
          <p:cNvSpPr/>
          <p:nvPr/>
        </p:nvSpPr>
        <p:spPr>
          <a:xfrm>
            <a:off x="418528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4</a:t>
            </a:r>
            <a:endParaRPr lang="en-US" sz="1350" dirty="0"/>
          </a:p>
        </p:txBody>
      </p:sp>
      <p:sp>
        <p:nvSpPr>
          <p:cNvPr id="15" name="Shape 13"/>
          <p:cNvSpPr/>
          <p:nvPr/>
        </p:nvSpPr>
        <p:spPr>
          <a:xfrm>
            <a:off x="5059680" y="952500"/>
            <a:ext cx="893445" cy="371475"/>
          </a:xfrm>
          <a:prstGeom prst="roundRect">
            <a:avLst>
              <a:gd name="adj" fmla="val 50000"/>
            </a:avLst>
          </a:prstGeom>
          <a:solidFill>
            <a:srgbClr val="F3F5FB"/>
          </a:solidFill>
          <a:ln/>
        </p:spPr>
      </p:sp>
      <p:sp>
        <p:nvSpPr>
          <p:cNvPr id="16" name="Text 14"/>
          <p:cNvSpPr/>
          <p:nvPr/>
        </p:nvSpPr>
        <p:spPr>
          <a:xfrm>
            <a:off x="5212080"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3A4368"/>
                </a:solidFill>
                <a:latin typeface="Century Gothic" pitchFamily="34" charset="0"/>
                <a:ea typeface="Century Gothic" pitchFamily="34" charset="-122"/>
                <a:cs typeface="Century Gothic" pitchFamily="34" charset="-120"/>
              </a:rPr>
              <a:t>STEP 5</a:t>
            </a:r>
            <a:endParaRPr lang="en-US" sz="1350" dirty="0"/>
          </a:p>
        </p:txBody>
      </p:sp>
      <p:sp>
        <p:nvSpPr>
          <p:cNvPr id="17" name="Shape 15"/>
          <p:cNvSpPr/>
          <p:nvPr/>
        </p:nvSpPr>
        <p:spPr>
          <a:xfrm>
            <a:off x="6086475" y="952500"/>
            <a:ext cx="893445" cy="371475"/>
          </a:xfrm>
          <a:prstGeom prst="roundRect">
            <a:avLst>
              <a:gd name="adj" fmla="val 50000"/>
            </a:avLst>
          </a:prstGeom>
          <a:solidFill>
            <a:srgbClr val="172144"/>
          </a:solidFill>
          <a:ln/>
        </p:spPr>
      </p:sp>
      <p:sp>
        <p:nvSpPr>
          <p:cNvPr id="18" name="Text 16"/>
          <p:cNvSpPr/>
          <p:nvPr/>
        </p:nvSpPr>
        <p:spPr>
          <a:xfrm>
            <a:off x="6238875" y="1028700"/>
            <a:ext cx="664845" cy="257175"/>
          </a:xfrm>
          <a:prstGeom prst="rect">
            <a:avLst/>
          </a:prstGeom>
          <a:noFill/>
          <a:ln/>
        </p:spPr>
        <p:txBody>
          <a:bodyPr wrap="square" lIns="25400" tIns="25400" rIns="25400" bIns="25400" rtlCol="0" anchor="t">
            <a:normAutofit/>
          </a:bodyPr>
          <a:lstStyle/>
          <a:p>
            <a:pPr marL="0" indent="0" algn="l">
              <a:buNone/>
            </a:pPr>
            <a:r>
              <a:rPr lang="en-US" sz="1350" b="1" kern="0" spc="162" dirty="0">
                <a:solidFill>
                  <a:srgbClr val="FFFFFF"/>
                </a:solidFill>
                <a:latin typeface="Century Gothic" pitchFamily="34" charset="0"/>
                <a:ea typeface="Century Gothic" pitchFamily="34" charset="-122"/>
                <a:cs typeface="Century Gothic" pitchFamily="34" charset="-120"/>
              </a:rPr>
              <a:t>STEP 6</a:t>
            </a:r>
            <a:endParaRPr lang="en-US" sz="1350" dirty="0"/>
          </a:p>
        </p:txBody>
      </p:sp>
      <p:sp>
        <p:nvSpPr>
          <p:cNvPr id="19" name="Text 17"/>
          <p:cNvSpPr/>
          <p:nvPr/>
        </p:nvSpPr>
        <p:spPr>
          <a:xfrm>
            <a:off x="952500" y="159067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Failure analysis</a:t>
            </a:r>
            <a:endParaRPr lang="en-US" sz="3600" dirty="0"/>
          </a:p>
        </p:txBody>
      </p:sp>
      <p:sp>
        <p:nvSpPr>
          <p:cNvPr id="20" name="Shape 18"/>
          <p:cNvSpPr/>
          <p:nvPr/>
        </p:nvSpPr>
        <p:spPr>
          <a:xfrm>
            <a:off x="952500" y="2800350"/>
            <a:ext cx="5232400" cy="1819275"/>
          </a:xfrm>
          <a:prstGeom prst="roundRect">
            <a:avLst>
              <a:gd name="adj" fmla="val 7330"/>
            </a:avLst>
          </a:prstGeom>
          <a:solidFill>
            <a:srgbClr val="FFFFFF"/>
          </a:solidFill>
          <a:ln/>
        </p:spPr>
      </p:sp>
      <p:sp>
        <p:nvSpPr>
          <p:cNvPr id="21" name="Shape 19"/>
          <p:cNvSpPr/>
          <p:nvPr/>
        </p:nvSpPr>
        <p:spPr>
          <a:xfrm>
            <a:off x="952500" y="4610100"/>
            <a:ext cx="5232400" cy="9525"/>
          </a:xfrm>
          <a:prstGeom prst="rect">
            <a:avLst/>
          </a:prstGeom>
          <a:solidFill>
            <a:srgbClr val="E6E8F0"/>
          </a:solidFill>
          <a:ln/>
        </p:spPr>
      </p:sp>
      <p:sp>
        <p:nvSpPr>
          <p:cNvPr id="22" name="Shape 20"/>
          <p:cNvSpPr/>
          <p:nvPr/>
        </p:nvSpPr>
        <p:spPr>
          <a:xfrm>
            <a:off x="952500" y="2800350"/>
            <a:ext cx="5232400" cy="57150"/>
          </a:xfrm>
          <a:prstGeom prst="rect">
            <a:avLst/>
          </a:prstGeom>
          <a:solidFill>
            <a:srgbClr val="FA3585"/>
          </a:solidFill>
          <a:ln/>
        </p:spPr>
      </p:sp>
      <p:sp>
        <p:nvSpPr>
          <p:cNvPr id="23" name="Shape 21"/>
          <p:cNvSpPr/>
          <p:nvPr/>
        </p:nvSpPr>
        <p:spPr>
          <a:xfrm>
            <a:off x="952500" y="2800350"/>
            <a:ext cx="9525" cy="1819275"/>
          </a:xfrm>
          <a:prstGeom prst="rect">
            <a:avLst/>
          </a:prstGeom>
          <a:solidFill>
            <a:srgbClr val="E6E8F0"/>
          </a:solidFill>
          <a:ln/>
        </p:spPr>
      </p:sp>
      <p:sp>
        <p:nvSpPr>
          <p:cNvPr id="24" name="Shape 22"/>
          <p:cNvSpPr/>
          <p:nvPr/>
        </p:nvSpPr>
        <p:spPr>
          <a:xfrm>
            <a:off x="6175375" y="2800350"/>
            <a:ext cx="9525" cy="1819275"/>
          </a:xfrm>
          <a:prstGeom prst="rect">
            <a:avLst/>
          </a:prstGeom>
          <a:solidFill>
            <a:srgbClr val="E6E8F0"/>
          </a:solidFill>
          <a:ln/>
        </p:spPr>
      </p:sp>
      <p:sp>
        <p:nvSpPr>
          <p:cNvPr id="25" name="Text 23"/>
          <p:cNvSpPr/>
          <p:nvPr/>
        </p:nvSpPr>
        <p:spPr>
          <a:xfrm>
            <a:off x="1228725" y="3124200"/>
            <a:ext cx="4820348" cy="361950"/>
          </a:xfrm>
          <a:prstGeom prst="rect">
            <a:avLst/>
          </a:prstGeom>
          <a:noFill/>
          <a:ln/>
        </p:spPr>
        <p:txBody>
          <a:bodyPr wrap="square" lIns="25400" tIns="25400" rIns="25400" bIns="25400" rtlCol="0" anchor="t">
            <a:normAutofit/>
          </a:bodyPr>
          <a:lstStyle/>
          <a:p>
            <a:pPr marL="0" indent="0" algn="l">
              <a:buNone/>
            </a:pPr>
            <a:r>
              <a:rPr lang="en-US" sz="1800" b="1" dirty="0">
                <a:solidFill>
                  <a:srgbClr val="172144"/>
                </a:solidFill>
                <a:latin typeface="Century Gothic" pitchFamily="34" charset="0"/>
                <a:ea typeface="Century Gothic" pitchFamily="34" charset="-122"/>
                <a:cs typeface="Century Gothic" pitchFamily="34" charset="-120"/>
              </a:rPr>
              <a:t>Overlapping cursive</a:t>
            </a:r>
            <a:endParaRPr lang="en-US" sz="1800" dirty="0"/>
          </a:p>
        </p:txBody>
      </p:sp>
      <p:sp>
        <p:nvSpPr>
          <p:cNvPr id="26" name="Text 24"/>
          <p:cNvSpPr/>
          <p:nvPr/>
        </p:nvSpPr>
        <p:spPr>
          <a:xfrm>
            <a:off x="1228725" y="3543300"/>
            <a:ext cx="4820348" cy="8382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Adjacent line strokes touch and segmentation fuses them. The OCR sees a single confused image and emits a blended hallucination.</a:t>
            </a:r>
            <a:endParaRPr lang="en-US" sz="1500" dirty="0"/>
          </a:p>
        </p:txBody>
      </p:sp>
      <p:sp>
        <p:nvSpPr>
          <p:cNvPr id="27" name="Shape 25"/>
          <p:cNvSpPr/>
          <p:nvPr/>
        </p:nvSpPr>
        <p:spPr>
          <a:xfrm>
            <a:off x="6527800" y="2800350"/>
            <a:ext cx="5232400" cy="1552575"/>
          </a:xfrm>
          <a:prstGeom prst="roundRect">
            <a:avLst>
              <a:gd name="adj" fmla="val 8589"/>
            </a:avLst>
          </a:prstGeom>
          <a:solidFill>
            <a:srgbClr val="FFFFFF"/>
          </a:solidFill>
          <a:ln/>
        </p:spPr>
      </p:sp>
      <p:sp>
        <p:nvSpPr>
          <p:cNvPr id="28" name="Shape 26"/>
          <p:cNvSpPr/>
          <p:nvPr/>
        </p:nvSpPr>
        <p:spPr>
          <a:xfrm>
            <a:off x="6527800" y="4343400"/>
            <a:ext cx="5232400" cy="9525"/>
          </a:xfrm>
          <a:prstGeom prst="rect">
            <a:avLst/>
          </a:prstGeom>
          <a:solidFill>
            <a:srgbClr val="E6E8F0"/>
          </a:solidFill>
          <a:ln/>
        </p:spPr>
      </p:sp>
      <p:sp>
        <p:nvSpPr>
          <p:cNvPr id="29" name="Shape 27"/>
          <p:cNvSpPr/>
          <p:nvPr/>
        </p:nvSpPr>
        <p:spPr>
          <a:xfrm>
            <a:off x="6527800" y="2800350"/>
            <a:ext cx="5232400" cy="57150"/>
          </a:xfrm>
          <a:prstGeom prst="rect">
            <a:avLst/>
          </a:prstGeom>
          <a:solidFill>
            <a:srgbClr val="FF8E38"/>
          </a:solidFill>
          <a:ln/>
        </p:spPr>
      </p:sp>
      <p:sp>
        <p:nvSpPr>
          <p:cNvPr id="30" name="Shape 28"/>
          <p:cNvSpPr/>
          <p:nvPr/>
        </p:nvSpPr>
        <p:spPr>
          <a:xfrm>
            <a:off x="6527800" y="2800350"/>
            <a:ext cx="9525" cy="1552575"/>
          </a:xfrm>
          <a:prstGeom prst="rect">
            <a:avLst/>
          </a:prstGeom>
          <a:solidFill>
            <a:srgbClr val="E6E8F0"/>
          </a:solidFill>
          <a:ln/>
        </p:spPr>
      </p:sp>
      <p:sp>
        <p:nvSpPr>
          <p:cNvPr id="31" name="Shape 29"/>
          <p:cNvSpPr/>
          <p:nvPr/>
        </p:nvSpPr>
        <p:spPr>
          <a:xfrm>
            <a:off x="11750675" y="2800350"/>
            <a:ext cx="9525" cy="1552575"/>
          </a:xfrm>
          <a:prstGeom prst="rect">
            <a:avLst/>
          </a:prstGeom>
          <a:solidFill>
            <a:srgbClr val="E6E8F0"/>
          </a:solidFill>
          <a:ln/>
        </p:spPr>
      </p:sp>
      <p:sp>
        <p:nvSpPr>
          <p:cNvPr id="32" name="Text 30"/>
          <p:cNvSpPr/>
          <p:nvPr/>
        </p:nvSpPr>
        <p:spPr>
          <a:xfrm>
            <a:off x="6804025" y="3124200"/>
            <a:ext cx="4820349" cy="361950"/>
          </a:xfrm>
          <a:prstGeom prst="rect">
            <a:avLst/>
          </a:prstGeom>
          <a:noFill/>
          <a:ln/>
        </p:spPr>
        <p:txBody>
          <a:bodyPr wrap="square" lIns="25400" tIns="25400" rIns="25400" bIns="25400" rtlCol="0" anchor="t">
            <a:normAutofit/>
          </a:bodyPr>
          <a:lstStyle/>
          <a:p>
            <a:pPr marL="0" indent="0" algn="l">
              <a:buNone/>
            </a:pPr>
            <a:r>
              <a:rPr lang="en-US" sz="1800" b="1" dirty="0">
                <a:solidFill>
                  <a:srgbClr val="172144"/>
                </a:solidFill>
                <a:latin typeface="Century Gothic" pitchFamily="34" charset="0"/>
                <a:ea typeface="Century Gothic" pitchFamily="34" charset="-122"/>
                <a:cs typeface="Century Gothic" pitchFamily="34" charset="-120"/>
              </a:rPr>
              <a:t>Rare drug names</a:t>
            </a:r>
            <a:endParaRPr lang="en-US" sz="1800" dirty="0"/>
          </a:p>
        </p:txBody>
      </p:sp>
      <p:sp>
        <p:nvSpPr>
          <p:cNvPr id="33" name="Text 31"/>
          <p:cNvSpPr/>
          <p:nvPr/>
        </p:nvSpPr>
        <p:spPr>
          <a:xfrm>
            <a:off x="6804025" y="3543300"/>
            <a:ext cx="482034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Out-of-vocabulary brand or generic names get snapped to the nearest phonetic neighbor with higher LM probability.</a:t>
            </a:r>
            <a:endParaRPr lang="en-US" sz="1500" dirty="0"/>
          </a:p>
        </p:txBody>
      </p:sp>
      <p:sp>
        <p:nvSpPr>
          <p:cNvPr id="34" name="Shape 32"/>
          <p:cNvSpPr/>
          <p:nvPr/>
        </p:nvSpPr>
        <p:spPr>
          <a:xfrm>
            <a:off x="12103100" y="2800350"/>
            <a:ext cx="5232400" cy="1819275"/>
          </a:xfrm>
          <a:prstGeom prst="roundRect">
            <a:avLst>
              <a:gd name="adj" fmla="val 7330"/>
            </a:avLst>
          </a:prstGeom>
          <a:solidFill>
            <a:srgbClr val="FFFFFF"/>
          </a:solidFill>
          <a:ln/>
        </p:spPr>
      </p:sp>
      <p:sp>
        <p:nvSpPr>
          <p:cNvPr id="35" name="Shape 33"/>
          <p:cNvSpPr/>
          <p:nvPr/>
        </p:nvSpPr>
        <p:spPr>
          <a:xfrm>
            <a:off x="12103100" y="4610100"/>
            <a:ext cx="5232400" cy="9525"/>
          </a:xfrm>
          <a:prstGeom prst="rect">
            <a:avLst/>
          </a:prstGeom>
          <a:solidFill>
            <a:srgbClr val="E6E8F0"/>
          </a:solidFill>
          <a:ln/>
        </p:spPr>
      </p:sp>
      <p:sp>
        <p:nvSpPr>
          <p:cNvPr id="36" name="Shape 34"/>
          <p:cNvSpPr/>
          <p:nvPr/>
        </p:nvSpPr>
        <p:spPr>
          <a:xfrm>
            <a:off x="12103100" y="2800350"/>
            <a:ext cx="5232400" cy="57150"/>
          </a:xfrm>
          <a:prstGeom prst="rect">
            <a:avLst/>
          </a:prstGeom>
          <a:solidFill>
            <a:srgbClr val="6070FF"/>
          </a:solidFill>
          <a:ln/>
        </p:spPr>
      </p:sp>
      <p:sp>
        <p:nvSpPr>
          <p:cNvPr id="37" name="Shape 35"/>
          <p:cNvSpPr/>
          <p:nvPr/>
        </p:nvSpPr>
        <p:spPr>
          <a:xfrm>
            <a:off x="12103100" y="2800350"/>
            <a:ext cx="9525" cy="1819275"/>
          </a:xfrm>
          <a:prstGeom prst="rect">
            <a:avLst/>
          </a:prstGeom>
          <a:solidFill>
            <a:srgbClr val="E6E8F0"/>
          </a:solidFill>
          <a:ln/>
        </p:spPr>
      </p:sp>
      <p:sp>
        <p:nvSpPr>
          <p:cNvPr id="38" name="Shape 36"/>
          <p:cNvSpPr/>
          <p:nvPr/>
        </p:nvSpPr>
        <p:spPr>
          <a:xfrm>
            <a:off x="17325974" y="2800350"/>
            <a:ext cx="9525" cy="1819275"/>
          </a:xfrm>
          <a:prstGeom prst="rect">
            <a:avLst/>
          </a:prstGeom>
          <a:solidFill>
            <a:srgbClr val="E6E8F0"/>
          </a:solidFill>
          <a:ln/>
        </p:spPr>
      </p:sp>
      <p:sp>
        <p:nvSpPr>
          <p:cNvPr id="39" name="Text 37"/>
          <p:cNvSpPr/>
          <p:nvPr/>
        </p:nvSpPr>
        <p:spPr>
          <a:xfrm>
            <a:off x="12379325" y="3124200"/>
            <a:ext cx="4820348" cy="361950"/>
          </a:xfrm>
          <a:prstGeom prst="rect">
            <a:avLst/>
          </a:prstGeom>
          <a:noFill/>
          <a:ln/>
        </p:spPr>
        <p:txBody>
          <a:bodyPr wrap="square" lIns="25400" tIns="25400" rIns="25400" bIns="25400" rtlCol="0" anchor="t">
            <a:normAutofit/>
          </a:bodyPr>
          <a:lstStyle/>
          <a:p>
            <a:pPr marL="0" indent="0" algn="l">
              <a:buNone/>
            </a:pPr>
            <a:r>
              <a:rPr lang="en-US" sz="1800" b="1" dirty="0">
                <a:solidFill>
                  <a:srgbClr val="172144"/>
                </a:solidFill>
                <a:latin typeface="Century Gothic" pitchFamily="34" charset="0"/>
                <a:ea typeface="Century Gothic" pitchFamily="34" charset="-122"/>
                <a:cs typeface="Century Gothic" pitchFamily="34" charset="-120"/>
              </a:rPr>
              <a:t>Residual shadows</a:t>
            </a:r>
            <a:endParaRPr lang="en-US" sz="1800" dirty="0"/>
          </a:p>
        </p:txBody>
      </p:sp>
      <p:sp>
        <p:nvSpPr>
          <p:cNvPr id="40" name="Text 38"/>
          <p:cNvSpPr/>
          <p:nvPr/>
        </p:nvSpPr>
        <p:spPr>
          <a:xfrm>
            <a:off x="12379325" y="3543300"/>
            <a:ext cx="4820348" cy="8382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Dark gradients that survive binarization bias the encoder and produce confident-but-wrong outputs near the affected region.</a:t>
            </a:r>
            <a:endParaRPr lang="en-US" sz="1500" dirty="0"/>
          </a:p>
        </p:txBody>
      </p:sp>
      <p:sp>
        <p:nvSpPr>
          <p:cNvPr id="41" name="Text 39"/>
          <p:cNvSpPr/>
          <p:nvPr/>
        </p:nvSpPr>
        <p:spPr>
          <a:xfrm>
            <a:off x="952500" y="5057775"/>
            <a:ext cx="14716125" cy="39719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950" dirty="0">
                <a:solidFill>
                  <a:srgbClr val="3A4368"/>
                </a:solidFill>
                <a:latin typeface="Calibri" pitchFamily="34" charset="0"/>
                <a:ea typeface="Calibri" pitchFamily="34" charset="-122"/>
                <a:cs typeface="Calibri" pitchFamily="34" charset="-120"/>
              </a:rPr>
              <a:t>Each is a concrete improvement target — addressed in the future-work slide.</a:t>
            </a:r>
            <a:endParaRPr lang="en-US" sz="1950" dirty="0"/>
          </a:p>
        </p:txBody>
      </p:sp>
      <p:sp>
        <p:nvSpPr>
          <p:cNvPr id="42" name="Text 40"/>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3" name="Text 41"/>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23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13">
        <p159:morph option="byObject"/>
      </p:transition>
    </mc:Choice>
    <mc:Fallback>
      <p:transition spd="slow" advTm="213">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14827886" y="762000"/>
            <a:ext cx="2393315" cy="2324100"/>
          </a:xfrm>
          <a:prstGeom prst="rect">
            <a:avLst/>
          </a:prstGeom>
          <a:noFill/>
          <a:ln/>
        </p:spPr>
        <p:txBody>
          <a:bodyPr wrap="square" lIns="25400" tIns="25400" rIns="25400" bIns="25400" rtlCol="0" anchor="t">
            <a:normAutofit fontScale="85000" lnSpcReduction="10000"/>
          </a:bodyPr>
          <a:lstStyle/>
          <a:p>
            <a:pPr marL="0" indent="0" algn="l">
              <a:lnSpc>
                <a:spcPct val="100000"/>
              </a:lnSpc>
              <a:buNone/>
            </a:pPr>
            <a:r>
              <a:rPr lang="en-US" sz="18000" b="1" dirty="0">
                <a:solidFill>
                  <a:srgbClr val="777A86">
                    <a:alpha val="8000"/>
                  </a:srgbClr>
                </a:solidFill>
                <a:latin typeface="Century Gothic" pitchFamily="34" charset="0"/>
                <a:ea typeface="Century Gothic" pitchFamily="34" charset="-122"/>
                <a:cs typeface="Century Gothic" pitchFamily="34" charset="-120"/>
              </a:rPr>
              <a:t>04</a:t>
            </a:r>
            <a:endParaRPr lang="en-US" sz="18000" dirty="0">
              <a:solidFill>
                <a:srgbClr val="777A86">
                  <a:alpha val="8000"/>
                </a:srgbClr>
              </a:solidFill>
            </a:endParaRPr>
          </a:p>
        </p:txBody>
      </p:sp>
      <p:sp>
        <p:nvSpPr>
          <p:cNvPr id="8" name="Text 6"/>
          <p:cNvSpPr/>
          <p:nvPr/>
        </p:nvSpPr>
        <p:spPr>
          <a:xfrm>
            <a:off x="1143000" y="4082415"/>
            <a:ext cx="1648206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FF8E38"/>
                </a:solidFill>
                <a:latin typeface="Century Gothic" pitchFamily="34" charset="0"/>
                <a:ea typeface="Century Gothic" pitchFamily="34" charset="-122"/>
                <a:cs typeface="Century Gothic" pitchFamily="34" charset="-120"/>
              </a:rPr>
              <a:t>ACT 4</a:t>
            </a:r>
            <a:endParaRPr lang="en-US" sz="1800" dirty="0"/>
          </a:p>
        </p:txBody>
      </p:sp>
      <p:sp>
        <p:nvSpPr>
          <p:cNvPr id="9" name="Text 7"/>
          <p:cNvSpPr/>
          <p:nvPr/>
        </p:nvSpPr>
        <p:spPr>
          <a:xfrm>
            <a:off x="1143000" y="4596765"/>
            <a:ext cx="13735050" cy="99822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454A5C"/>
                </a:solidFill>
                <a:latin typeface="Century Gothic" pitchFamily="34" charset="0"/>
                <a:ea typeface="Century Gothic" pitchFamily="34" charset="-122"/>
                <a:cs typeface="Century Gothic" pitchFamily="34" charset="-120"/>
              </a:rPr>
              <a:t>Demo</a:t>
            </a:r>
            <a:endParaRPr lang="en-US" sz="7200" dirty="0">
              <a:solidFill>
                <a:srgbClr val="454A5C"/>
              </a:solidFill>
            </a:endParaRPr>
          </a:p>
        </p:txBody>
      </p:sp>
      <p:sp>
        <p:nvSpPr>
          <p:cNvPr id="10" name="Text 8"/>
          <p:cNvSpPr/>
          <p:nvPr/>
        </p:nvSpPr>
        <p:spPr>
          <a:xfrm>
            <a:off x="1143000" y="5842635"/>
            <a:ext cx="12753975" cy="400050"/>
          </a:xfrm>
          <a:prstGeom prst="rect">
            <a:avLst/>
          </a:prstGeom>
          <a:noFill/>
          <a:ln/>
        </p:spPr>
        <p:txBody>
          <a:bodyPr wrap="square" lIns="25400" tIns="25400" rIns="25400" bIns="25400" rtlCol="0" anchor="t">
            <a:normAutofit/>
          </a:bodyPr>
          <a:lstStyle/>
          <a:p>
            <a:pPr marL="0" indent="0" algn="l">
              <a:buNone/>
            </a:pPr>
            <a:r>
              <a:rPr lang="en-US" sz="2250" dirty="0">
                <a:solidFill>
                  <a:srgbClr val="777A86"/>
                </a:solidFill>
                <a:latin typeface="Calibri" pitchFamily="34" charset="0"/>
                <a:ea typeface="Calibri" pitchFamily="34" charset="-122"/>
                <a:cs typeface="Calibri" pitchFamily="34" charset="-120"/>
              </a:rPr>
              <a:t>Frontend, backend, and the live walkthrough.</a:t>
            </a:r>
            <a:endParaRPr lang="en-US" sz="2250" dirty="0">
              <a:solidFill>
                <a:srgbClr val="777A86"/>
              </a:solidFill>
            </a:endParaRPr>
          </a:p>
        </p:txBody>
      </p:sp>
      <p:sp>
        <p:nvSpPr>
          <p:cNvPr id="11" name="Text 9"/>
          <p:cNvSpPr/>
          <p:nvPr/>
        </p:nvSpPr>
        <p:spPr>
          <a:xfrm>
            <a:off x="762000" y="8691563"/>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77A86"/>
                </a:solidFill>
                <a:latin typeface="Century Gothic" pitchFamily="34" charset="0"/>
                <a:ea typeface="Century Gothic" pitchFamily="34" charset="-122"/>
                <a:cs typeface="Century Gothic" pitchFamily="34" charset="-120"/>
              </a:rPr>
              <a:t>Medical Prescription OCR with TrOCR — ESI, Mai 2025</a:t>
            </a:r>
            <a:endParaRPr lang="en-US" sz="1350" dirty="0">
              <a:solidFill>
                <a:srgbClr val="777A86"/>
              </a:solidFill>
            </a:endParaRPr>
          </a:p>
        </p:txBody>
      </p:sp>
      <p:sp>
        <p:nvSpPr>
          <p:cNvPr id="12" name="Text 10"/>
          <p:cNvSpPr/>
          <p:nvPr/>
        </p:nvSpPr>
        <p:spPr>
          <a:xfrm>
            <a:off x="14787329" y="7658100"/>
            <a:ext cx="2738671" cy="2324100"/>
          </a:xfrm>
          <a:prstGeom prst="rect">
            <a:avLst/>
          </a:prstGeom>
          <a:noFill/>
          <a:ln/>
        </p:spPr>
        <p:txBody>
          <a:bodyPr wrap="square" lIns="25400" tIns="25400" rIns="25400" bIns="25400" rtlCol="0" anchor="t">
            <a:normAutofit fontScale="92500" lnSpcReduction="20000"/>
          </a:bodyPr>
          <a:lstStyle/>
          <a:p>
            <a:pPr marL="0" indent="0" algn="r">
              <a:buNone/>
            </a:pPr>
            <a:r>
              <a:rPr lang="en-US" sz="18000" b="1" kern="0" spc="27" dirty="0">
                <a:solidFill>
                  <a:srgbClr val="777A86"/>
                </a:solidFill>
                <a:latin typeface="Century Gothic" pitchFamily="34" charset="0"/>
                <a:ea typeface="Century Gothic" pitchFamily="34" charset="-122"/>
                <a:cs typeface="Century Gothic" pitchFamily="34" charset="-120"/>
              </a:rPr>
              <a:t>24</a:t>
            </a:r>
            <a:r>
              <a:rPr lang="en-US" sz="18000" b="1" kern="0" spc="27" dirty="0">
                <a:solidFill>
                  <a:srgbClr val="FFFFFF"/>
                </a:solidFill>
                <a:latin typeface="Century Gothic" pitchFamily="34" charset="0"/>
                <a:ea typeface="Century Gothic" pitchFamily="34" charset="-122"/>
                <a:cs typeface="Century Gothic" pitchFamily="34" charset="-120"/>
              </a:rPr>
              <a:t> </a:t>
            </a:r>
            <a:r>
              <a:rPr lang="en-US" sz="1350" kern="0" spc="27" dirty="0">
                <a:solidFill>
                  <a:srgbClr val="FFFFFF">
                    <a:alpha val="50000"/>
                  </a:srgbClr>
                </a:solidFill>
                <a:latin typeface="Century Gothic" pitchFamily="34" charset="0"/>
                <a:ea typeface="Century Gothic" pitchFamily="34" charset="-122"/>
                <a:cs typeface="Century Gothic" pitchFamily="34" charset="-120"/>
              </a:rPr>
              <a:t>/ 30</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312">
        <p159:morph option="byObject"/>
      </p:transition>
    </mc:Choice>
    <mc:Fallback>
      <p:transition spd="slow" advTm="312">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F8E38"/>
                </a:solidFill>
                <a:latin typeface="Century Gothic" pitchFamily="34" charset="0"/>
                <a:ea typeface="Century Gothic" pitchFamily="34" charset="-122"/>
                <a:cs typeface="Century Gothic" pitchFamily="34" charset="-120"/>
              </a:rPr>
              <a:t>ACT 4 · BACKEND</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Serving the model</a:t>
            </a:r>
            <a:endParaRPr lang="en-US" sz="3600" dirty="0"/>
          </a:p>
        </p:txBody>
      </p:sp>
      <p:sp>
        <p:nvSpPr>
          <p:cNvPr id="9" name="Text 7"/>
          <p:cNvSpPr/>
          <p:nvPr/>
        </p:nvSpPr>
        <p:spPr>
          <a:xfrm>
            <a:off x="1295400" y="232219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FastAPI · Python 3.11</a:t>
            </a:r>
            <a:endParaRPr lang="en-US" sz="1950" dirty="0"/>
          </a:p>
        </p:txBody>
      </p:sp>
      <p:sp>
        <p:nvSpPr>
          <p:cNvPr id="10" name="Text 8"/>
          <p:cNvSpPr/>
          <p:nvPr/>
        </p:nvSpPr>
        <p:spPr>
          <a:xfrm>
            <a:off x="1295400" y="293560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Endpoints: </a:t>
            </a:r>
            <a:r>
              <a:rPr lang="en-US" sz="1950" dirty="0">
                <a:solidFill>
                  <a:srgbClr val="3A4368"/>
                </a:solidFill>
                <a:latin typeface="monospace" pitchFamily="34" charset="0"/>
                <a:ea typeface="monospace" pitchFamily="34" charset="-122"/>
                <a:cs typeface="monospace" pitchFamily="34" charset="-120"/>
              </a:rPr>
              <a:t>GET /health </a:t>
            </a:r>
            <a:r>
              <a:rPr lang="en-US" sz="1950" dirty="0">
                <a:solidFill>
                  <a:srgbClr val="3A4368"/>
                </a:solidFill>
                <a:latin typeface="Calibri" pitchFamily="34" charset="0"/>
                <a:ea typeface="Calibri" pitchFamily="34" charset="-122"/>
                <a:cs typeface="Calibri" pitchFamily="34" charset="-120"/>
              </a:rPr>
              <a:t>· </a:t>
            </a:r>
            <a:r>
              <a:rPr lang="en-US" sz="1950" dirty="0">
                <a:solidFill>
                  <a:srgbClr val="3A4368"/>
                </a:solidFill>
                <a:latin typeface="monospace" pitchFamily="34" charset="0"/>
                <a:ea typeface="monospace" pitchFamily="34" charset="-122"/>
                <a:cs typeface="monospace" pitchFamily="34" charset="-120"/>
              </a:rPr>
              <a:t>POST /predict</a:t>
            </a:r>
            <a:endParaRPr lang="en-US" sz="1950" dirty="0"/>
          </a:p>
        </p:txBody>
      </p:sp>
      <p:sp>
        <p:nvSpPr>
          <p:cNvPr id="11" name="Text 9"/>
          <p:cNvSpPr/>
          <p:nvPr/>
        </p:nvSpPr>
        <p:spPr>
          <a:xfrm>
            <a:off x="1295400" y="354901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Model loaded once at startup</a:t>
            </a:r>
            <a:endParaRPr lang="en-US" sz="1950" dirty="0"/>
          </a:p>
        </p:txBody>
      </p:sp>
      <p:sp>
        <p:nvSpPr>
          <p:cNvPr id="12" name="Text 10"/>
          <p:cNvSpPr/>
          <p:nvPr/>
        </p:nvSpPr>
        <p:spPr>
          <a:xfrm>
            <a:off x="1295400" y="416242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Multipart upload, JSON response</a:t>
            </a:r>
            <a:endParaRPr lang="en-US" sz="1950" dirty="0"/>
          </a:p>
        </p:txBody>
      </p:sp>
      <p:sp>
        <p:nvSpPr>
          <p:cNvPr id="13" name="Text 11"/>
          <p:cNvSpPr/>
          <p:nvPr/>
        </p:nvSpPr>
        <p:spPr>
          <a:xfrm>
            <a:off x="1295400" y="477583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Swagger UI auto-generated at </a:t>
            </a:r>
            <a:r>
              <a:rPr lang="en-US" sz="1950" dirty="0">
                <a:solidFill>
                  <a:srgbClr val="3A4368"/>
                </a:solidFill>
                <a:latin typeface="monospace" pitchFamily="34" charset="0"/>
                <a:ea typeface="monospace" pitchFamily="34" charset="-122"/>
                <a:cs typeface="monospace" pitchFamily="34" charset="-120"/>
              </a:rPr>
              <a:t>/docs</a:t>
            </a:r>
            <a:endParaRPr lang="en-US" sz="1950" dirty="0"/>
          </a:p>
        </p:txBody>
      </p:sp>
      <p:sp>
        <p:nvSpPr>
          <p:cNvPr id="14" name="Shape 12"/>
          <p:cNvSpPr/>
          <p:nvPr/>
        </p:nvSpPr>
        <p:spPr>
          <a:xfrm>
            <a:off x="952500" y="5484494"/>
            <a:ext cx="7886700" cy="3068955"/>
          </a:xfrm>
          <a:prstGeom prst="roundRect">
            <a:avLst>
              <a:gd name="adj" fmla="val 6422"/>
            </a:avLst>
          </a:prstGeom>
          <a:solidFill>
            <a:srgbClr val="0F1730"/>
          </a:solidFill>
          <a:ln/>
        </p:spPr>
      </p:sp>
      <p:sp>
        <p:nvSpPr>
          <p:cNvPr id="16" name="Text 14"/>
          <p:cNvSpPr/>
          <p:nvPr/>
        </p:nvSpPr>
        <p:spPr>
          <a:xfrm>
            <a:off x="1314450" y="5751195"/>
            <a:ext cx="7456551" cy="1581150"/>
          </a:xfrm>
          <a:prstGeom prst="rect">
            <a:avLst/>
          </a:prstGeom>
          <a:noFill/>
          <a:ln/>
        </p:spPr>
        <p:txBody>
          <a:bodyPr wrap="square" lIns="25400" tIns="25400" rIns="25400" bIns="25400" rtlCol="0" anchor="t">
            <a:normAutofit fontScale="70000" lnSpcReduction="20000"/>
          </a:bodyPr>
          <a:lstStyle/>
          <a:p>
            <a:pPr marL="0" indent="0" algn="l">
              <a:lnSpc>
                <a:spcPct val="150000"/>
              </a:lnSpc>
              <a:buNone/>
            </a:pPr>
            <a:r>
              <a:rPr lang="en-US" sz="1350" dirty="0">
                <a:solidFill>
                  <a:srgbClr val="FF8E38"/>
                </a:solidFill>
                <a:latin typeface="Consolas" pitchFamily="34" charset="0"/>
                <a:ea typeface="Consolas" pitchFamily="34" charset="-122"/>
                <a:cs typeface="Consolas" pitchFamily="34" charset="-120"/>
              </a:rPr>
              <a:t>@app.post</a:t>
            </a:r>
            <a:r>
              <a:rPr lang="en-US" sz="1350" dirty="0">
                <a:solidFill>
                  <a:srgbClr val="CFE2FF"/>
                </a:solidFill>
                <a:highlight>
                  <a:srgbClr val="0F1730"/>
                </a:highlight>
                <a:latin typeface="Consolas" pitchFamily="34" charset="0"/>
                <a:ea typeface="Consolas" pitchFamily="34" charset="-122"/>
                <a:cs typeface="Consolas" pitchFamily="34" charset="-120"/>
              </a:rPr>
              <a:t>(</a:t>
            </a:r>
            <a:r>
              <a:rPr lang="en-US" sz="1350" dirty="0">
                <a:solidFill>
                  <a:srgbClr val="D4F579"/>
                </a:solidFill>
                <a:latin typeface="Consolas" pitchFamily="34" charset="0"/>
                <a:ea typeface="Consolas" pitchFamily="34" charset="-122"/>
                <a:cs typeface="Consolas" pitchFamily="34" charset="-120"/>
              </a:rPr>
              <a:t>"/predict"</a:t>
            </a:r>
            <a:r>
              <a:rPr lang="en-US" sz="1350" dirty="0">
                <a:solidFill>
                  <a:srgbClr val="CFE2FF"/>
                </a:solidFill>
                <a:highlight>
                  <a:srgbClr val="0F1730"/>
                </a:highlight>
                <a:latin typeface="Consolas" pitchFamily="34" charset="0"/>
                <a:ea typeface="Consolas" pitchFamily="34" charset="-122"/>
                <a:cs typeface="Consolas" pitchFamily="34" charset="-120"/>
              </a:rPr>
              <a:t>) </a:t>
            </a:r>
            <a:r>
              <a:rPr lang="en-US" sz="1350" dirty="0">
                <a:solidFill>
                  <a:srgbClr val="3BC8F1"/>
                </a:solidFill>
                <a:latin typeface="Consolas" pitchFamily="34" charset="0"/>
                <a:ea typeface="Consolas" pitchFamily="34" charset="-122"/>
                <a:cs typeface="Consolas" pitchFamily="34" charset="-120"/>
              </a:rPr>
              <a:t>async def </a:t>
            </a:r>
            <a:r>
              <a:rPr lang="en-US" sz="1350" dirty="0">
                <a:solidFill>
                  <a:srgbClr val="CFE2FF"/>
                </a:solidFill>
                <a:highlight>
                  <a:srgbClr val="0F1730"/>
                </a:highlight>
                <a:latin typeface="Consolas" pitchFamily="34" charset="0"/>
                <a:ea typeface="Consolas" pitchFamily="34" charset="-122"/>
                <a:cs typeface="Consolas" pitchFamily="34" charset="-120"/>
              </a:rPr>
              <a:t> predict(file: UploadFile):</a:t>
            </a:r>
            <a:endParaRPr lang="en-US" sz="1350" dirty="0"/>
          </a:p>
          <a:p>
            <a:pPr marL="0" indent="0" algn="l">
              <a:lnSpc>
                <a:spcPct val="150000"/>
              </a:lnSpc>
              <a:buNone/>
            </a:pPr>
            <a:r>
              <a:rPr lang="en-US" sz="1350" dirty="0">
                <a:solidFill>
                  <a:srgbClr val="CFE2FF"/>
                </a:solidFill>
                <a:highlight>
                  <a:srgbClr val="0F1730"/>
                </a:highlight>
                <a:latin typeface="Consolas" pitchFamily="34" charset="0"/>
                <a:ea typeface="Consolas" pitchFamily="34" charset="-122"/>
                <a:cs typeface="Consolas" pitchFamily="34" charset="-120"/>
              </a:rPr>
              <a:t>    image = Image.open(file.file).convert(</a:t>
            </a:r>
            <a:endParaRPr lang="en-US" sz="1350" dirty="0"/>
          </a:p>
          <a:p>
            <a:pPr marL="0" indent="0" algn="l">
              <a:lnSpc>
                <a:spcPct val="150000"/>
              </a:lnSpc>
              <a:buNone/>
            </a:pPr>
            <a:r>
              <a:rPr lang="en-US" sz="1350" dirty="0">
                <a:solidFill>
                  <a:srgbClr val="D4F579"/>
                </a:solidFill>
                <a:latin typeface="Consolas" pitchFamily="34" charset="0"/>
                <a:ea typeface="Consolas" pitchFamily="34" charset="-122"/>
                <a:cs typeface="Consolas" pitchFamily="34" charset="-120"/>
              </a:rPr>
              <a:t>"RGB" </a:t>
            </a:r>
            <a:r>
              <a:rPr lang="en-US" sz="1350" dirty="0">
                <a:solidFill>
                  <a:srgbClr val="CFE2FF"/>
                </a:solidFill>
                <a:highlight>
                  <a:srgbClr val="0F1730"/>
                </a:highlight>
                <a:latin typeface="Consolas" pitchFamily="34" charset="0"/>
                <a:ea typeface="Consolas" pitchFamily="34" charset="-122"/>
                <a:cs typeface="Consolas" pitchFamily="34" charset="-120"/>
              </a:rPr>
              <a:t>)</a:t>
            </a:r>
            <a:endParaRPr lang="en-US" sz="1350" dirty="0"/>
          </a:p>
          <a:p>
            <a:pPr marL="0" indent="0" algn="l">
              <a:lnSpc>
                <a:spcPct val="150000"/>
              </a:lnSpc>
              <a:buNone/>
            </a:pPr>
            <a:r>
              <a:rPr lang="en-US" sz="1350" dirty="0">
                <a:solidFill>
                  <a:srgbClr val="CFE2FF"/>
                </a:solidFill>
                <a:highlight>
                  <a:srgbClr val="0F1730"/>
                </a:highlight>
                <a:latin typeface="Consolas" pitchFamily="34" charset="0"/>
                <a:ea typeface="Consolas" pitchFamily="34" charset="-122"/>
                <a:cs typeface="Consolas" pitchFamily="34" charset="-120"/>
              </a:rPr>
              <a:t>    lines = segment_lines(preprocess(image))</a:t>
            </a:r>
            <a:endParaRPr lang="en-US" sz="1350" dirty="0"/>
          </a:p>
          <a:p>
            <a:pPr marL="0" indent="0" algn="l">
              <a:lnSpc>
                <a:spcPct val="150000"/>
              </a:lnSpc>
              <a:buNone/>
            </a:pPr>
            <a:r>
              <a:rPr lang="en-US" sz="1350" dirty="0">
                <a:solidFill>
                  <a:srgbClr val="CFE2FF"/>
                </a:solidFill>
                <a:highlight>
                  <a:srgbClr val="0F1730"/>
                </a:highlight>
                <a:latin typeface="Consolas" pitchFamily="34" charset="0"/>
                <a:ea typeface="Consolas" pitchFamily="34" charset="-122"/>
                <a:cs typeface="Consolas" pitchFamily="34" charset="-120"/>
              </a:rPr>
              <a:t>    text  = [trocr(l)  </a:t>
            </a:r>
            <a:endParaRPr lang="en-US" sz="1350" dirty="0"/>
          </a:p>
          <a:p>
            <a:pPr marL="0" indent="0" algn="l">
              <a:lnSpc>
                <a:spcPct val="150000"/>
              </a:lnSpc>
              <a:buNone/>
            </a:pPr>
            <a:r>
              <a:rPr lang="en-US" sz="1350" dirty="0">
                <a:solidFill>
                  <a:srgbClr val="3BC8F1"/>
                </a:solidFill>
                <a:latin typeface="Consolas" pitchFamily="34" charset="0"/>
                <a:ea typeface="Consolas" pitchFamily="34" charset="-122"/>
                <a:cs typeface="Consolas" pitchFamily="34" charset="-120"/>
              </a:rPr>
              <a:t>for</a:t>
            </a:r>
            <a:r>
              <a:rPr lang="en-US" sz="1350" dirty="0">
                <a:solidFill>
                  <a:srgbClr val="CFE2FF"/>
                </a:solidFill>
                <a:highlight>
                  <a:srgbClr val="0F1730"/>
                </a:highlight>
                <a:latin typeface="Consolas" pitchFamily="34" charset="0"/>
                <a:ea typeface="Consolas" pitchFamily="34" charset="-122"/>
                <a:cs typeface="Consolas" pitchFamily="34" charset="-120"/>
              </a:rPr>
              <a:t> l </a:t>
            </a:r>
            <a:r>
              <a:rPr lang="en-US" sz="1350" dirty="0">
                <a:solidFill>
                  <a:srgbClr val="3BC8F1"/>
                </a:solidFill>
                <a:latin typeface="Consolas" pitchFamily="34" charset="0"/>
                <a:ea typeface="Consolas" pitchFamily="34" charset="-122"/>
                <a:cs typeface="Consolas" pitchFamily="34" charset="-120"/>
              </a:rPr>
              <a:t>in </a:t>
            </a:r>
            <a:r>
              <a:rPr lang="en-US" sz="1350" dirty="0">
                <a:solidFill>
                  <a:srgbClr val="CFE2FF"/>
                </a:solidFill>
                <a:highlight>
                  <a:srgbClr val="0F1730"/>
                </a:highlight>
                <a:latin typeface="Consolas" pitchFamily="34" charset="0"/>
                <a:ea typeface="Consolas" pitchFamily="34" charset="-122"/>
                <a:cs typeface="Consolas" pitchFamily="34" charset="-120"/>
              </a:rPr>
              <a:t> lines]</a:t>
            </a:r>
            <a:endParaRPr lang="en-US" sz="1350" dirty="0"/>
          </a:p>
          <a:p>
            <a:pPr marL="0" indent="0" algn="l">
              <a:lnSpc>
                <a:spcPct val="150000"/>
              </a:lnSpc>
              <a:buNone/>
            </a:pPr>
            <a:r>
              <a:rPr lang="en-US" sz="1350" dirty="0">
                <a:solidFill>
                  <a:srgbClr val="CFE2FF"/>
                </a:solidFill>
                <a:highlight>
                  <a:srgbClr val="0F1730"/>
                </a:highlight>
                <a:latin typeface="Consolas" pitchFamily="34" charset="0"/>
                <a:ea typeface="Consolas" pitchFamily="34" charset="-122"/>
                <a:cs typeface="Consolas" pitchFamily="34" charset="-120"/>
              </a:rPr>
              <a:t>     </a:t>
            </a:r>
            <a:endParaRPr lang="en-US" sz="1350" dirty="0"/>
          </a:p>
          <a:p>
            <a:pPr marL="0" indent="0" algn="l">
              <a:lnSpc>
                <a:spcPct val="150000"/>
              </a:lnSpc>
              <a:buNone/>
            </a:pPr>
            <a:r>
              <a:rPr lang="en-US" sz="1350" dirty="0">
                <a:solidFill>
                  <a:srgbClr val="3BC8F1"/>
                </a:solidFill>
                <a:latin typeface="Consolas" pitchFamily="34" charset="0"/>
                <a:ea typeface="Consolas" pitchFamily="34" charset="-122"/>
                <a:cs typeface="Consolas" pitchFamily="34" charset="-120"/>
              </a:rPr>
              <a:t>return</a:t>
            </a:r>
            <a:r>
              <a:rPr lang="en-US" sz="1350" dirty="0">
                <a:solidFill>
                  <a:srgbClr val="CFE2FF"/>
                </a:solidFill>
                <a:highlight>
                  <a:srgbClr val="0F1730"/>
                </a:highlight>
                <a:latin typeface="Consolas" pitchFamily="34" charset="0"/>
                <a:ea typeface="Consolas" pitchFamily="34" charset="-122"/>
                <a:cs typeface="Consolas" pitchFamily="34" charset="-120"/>
              </a:rPr>
              <a:t> {</a:t>
            </a:r>
            <a:r>
              <a:rPr lang="en-US" sz="1350" dirty="0">
                <a:solidFill>
                  <a:srgbClr val="D4F579"/>
                </a:solidFill>
                <a:latin typeface="Consolas" pitchFamily="34" charset="0"/>
                <a:ea typeface="Consolas" pitchFamily="34" charset="-122"/>
                <a:cs typeface="Consolas" pitchFamily="34" charset="-120"/>
              </a:rPr>
              <a:t>"lines"</a:t>
            </a:r>
            <a:r>
              <a:rPr lang="en-US" sz="1350" dirty="0">
                <a:solidFill>
                  <a:srgbClr val="CFE2FF"/>
                </a:solidFill>
                <a:highlight>
                  <a:srgbClr val="0F1730"/>
                </a:highlight>
                <a:latin typeface="Consolas" pitchFamily="34" charset="0"/>
                <a:ea typeface="Consolas" pitchFamily="34" charset="-122"/>
                <a:cs typeface="Consolas" pitchFamily="34" charset="-120"/>
              </a:rPr>
              <a:t>: text, </a:t>
            </a:r>
            <a:r>
              <a:rPr lang="en-US" sz="1350" dirty="0">
                <a:solidFill>
                  <a:srgbClr val="D4F579"/>
                </a:solidFill>
                <a:latin typeface="Consolas" pitchFamily="34" charset="0"/>
                <a:ea typeface="Consolas" pitchFamily="34" charset="-122"/>
                <a:cs typeface="Consolas" pitchFamily="34" charset="-120"/>
              </a:rPr>
              <a:t>"ms"</a:t>
            </a:r>
            <a:r>
              <a:rPr lang="en-US" sz="1350" dirty="0">
                <a:solidFill>
                  <a:srgbClr val="CFE2FF"/>
                </a:solidFill>
                <a:highlight>
                  <a:srgbClr val="0F1730"/>
                </a:highlight>
                <a:latin typeface="Consolas" pitchFamily="34" charset="0"/>
                <a:ea typeface="Consolas" pitchFamily="34" charset="-122"/>
                <a:cs typeface="Consolas" pitchFamily="34" charset="-120"/>
              </a:rPr>
              <a:t>: timer.elapsed}</a:t>
            </a:r>
            <a:endParaRPr lang="en-US" sz="1350" dirty="0"/>
          </a:p>
        </p:txBody>
      </p:sp>
      <p:sp>
        <p:nvSpPr>
          <p:cNvPr id="17" name="Shape 15"/>
          <p:cNvSpPr/>
          <p:nvPr/>
        </p:nvSpPr>
        <p:spPr>
          <a:xfrm>
            <a:off x="9448800" y="2188845"/>
            <a:ext cx="7886700" cy="5353050"/>
          </a:xfrm>
          <a:prstGeom prst="roundRect">
            <a:avLst>
              <a:gd name="adj" fmla="val 3203"/>
            </a:avLst>
          </a:prstGeom>
          <a:solidFill>
            <a:srgbClr val="FFFFFF"/>
          </a:solidFill>
          <a:ln w="9525">
            <a:solidFill>
              <a:srgbClr val="E6E8F0"/>
            </a:solidFill>
            <a:prstDash val="solid"/>
          </a:ln>
          <a:effectLst>
            <a:outerShdw blurRad="571500" dist="228600" dir="5400000" algn="bl" rotWithShape="0">
              <a:srgbClr val="0F1730">
                <a:alpha val="12000"/>
              </a:srgbClr>
            </a:outerShdw>
          </a:effectLst>
        </p:spPr>
      </p:sp>
      <p:sp>
        <p:nvSpPr>
          <p:cNvPr id="18" name="Shape 16"/>
          <p:cNvSpPr/>
          <p:nvPr/>
        </p:nvSpPr>
        <p:spPr>
          <a:xfrm>
            <a:off x="9458325" y="2198370"/>
            <a:ext cx="7867650" cy="466725"/>
          </a:xfrm>
          <a:prstGeom prst="rect">
            <a:avLst/>
          </a:prstGeom>
          <a:solidFill>
            <a:srgbClr val="F3F5FB"/>
          </a:solidFill>
          <a:ln/>
        </p:spPr>
      </p:sp>
      <p:sp>
        <p:nvSpPr>
          <p:cNvPr id="19" name="Shape 17"/>
          <p:cNvSpPr/>
          <p:nvPr/>
        </p:nvSpPr>
        <p:spPr>
          <a:xfrm>
            <a:off x="9458325" y="2655570"/>
            <a:ext cx="7867650" cy="9525"/>
          </a:xfrm>
          <a:prstGeom prst="rect">
            <a:avLst/>
          </a:prstGeom>
          <a:solidFill>
            <a:srgbClr val="E6E8F0"/>
          </a:solidFill>
          <a:ln/>
        </p:spPr>
      </p:sp>
      <p:sp>
        <p:nvSpPr>
          <p:cNvPr id="20" name="Shape 18"/>
          <p:cNvSpPr/>
          <p:nvPr/>
        </p:nvSpPr>
        <p:spPr>
          <a:xfrm>
            <a:off x="9629775" y="2365058"/>
            <a:ext cx="123825" cy="123825"/>
          </a:xfrm>
          <a:prstGeom prst="ellipse">
            <a:avLst/>
          </a:prstGeom>
          <a:solidFill>
            <a:srgbClr val="FF5F57"/>
          </a:solidFill>
          <a:ln/>
        </p:spPr>
      </p:sp>
      <p:sp>
        <p:nvSpPr>
          <p:cNvPr id="21" name="Shape 19"/>
          <p:cNvSpPr/>
          <p:nvPr/>
        </p:nvSpPr>
        <p:spPr>
          <a:xfrm>
            <a:off x="9829800" y="2365058"/>
            <a:ext cx="123825" cy="123825"/>
          </a:xfrm>
          <a:prstGeom prst="ellipse">
            <a:avLst/>
          </a:prstGeom>
          <a:solidFill>
            <a:srgbClr val="FEBC2E"/>
          </a:solidFill>
          <a:ln/>
        </p:spPr>
      </p:sp>
      <p:sp>
        <p:nvSpPr>
          <p:cNvPr id="22" name="Shape 20"/>
          <p:cNvSpPr/>
          <p:nvPr/>
        </p:nvSpPr>
        <p:spPr>
          <a:xfrm>
            <a:off x="10029825" y="2365058"/>
            <a:ext cx="123825" cy="123825"/>
          </a:xfrm>
          <a:prstGeom prst="ellipse">
            <a:avLst/>
          </a:prstGeom>
          <a:solidFill>
            <a:srgbClr val="28C840"/>
          </a:solidFill>
          <a:ln/>
        </p:spPr>
      </p:sp>
      <p:sp>
        <p:nvSpPr>
          <p:cNvPr id="23" name="Shape 21"/>
          <p:cNvSpPr/>
          <p:nvPr/>
        </p:nvSpPr>
        <p:spPr>
          <a:xfrm>
            <a:off x="10401300" y="2274570"/>
            <a:ext cx="6753225" cy="304800"/>
          </a:xfrm>
          <a:prstGeom prst="roundRect">
            <a:avLst>
              <a:gd name="adj" fmla="val 25000"/>
            </a:avLst>
          </a:prstGeom>
          <a:solidFill>
            <a:srgbClr val="FFFFFF"/>
          </a:solidFill>
          <a:ln w="9525">
            <a:solidFill>
              <a:srgbClr val="E6E8F0"/>
            </a:solidFill>
            <a:prstDash val="solid"/>
          </a:ln>
        </p:spPr>
      </p:sp>
      <p:sp>
        <p:nvSpPr>
          <p:cNvPr id="24" name="Text 22"/>
          <p:cNvSpPr/>
          <p:nvPr/>
        </p:nvSpPr>
        <p:spPr>
          <a:xfrm>
            <a:off x="10544175" y="2284095"/>
            <a:ext cx="6670072" cy="323850"/>
          </a:xfrm>
          <a:prstGeom prst="rect">
            <a:avLst/>
          </a:prstGeom>
          <a:noFill/>
          <a:ln/>
        </p:spPr>
        <p:txBody>
          <a:bodyPr wrap="square" lIns="25400" tIns="25400" rIns="25400" bIns="25400" rtlCol="0" anchor="ctr">
            <a:normAutofit/>
          </a:bodyPr>
          <a:lstStyle/>
          <a:p>
            <a:pPr marL="0" indent="0" algn="l">
              <a:buNone/>
            </a:pPr>
            <a:r>
              <a:rPr lang="en-US" sz="1200" dirty="0">
                <a:solidFill>
                  <a:srgbClr val="7A8099"/>
                </a:solidFill>
                <a:latin typeface="Consolas" pitchFamily="34" charset="0"/>
                <a:ea typeface="Consolas" pitchFamily="34" charset="-122"/>
                <a:cs typeface="Consolas" pitchFamily="34" charset="-120"/>
              </a:rPr>
              <a:t>localhost:8000/docs</a:t>
            </a:r>
            <a:endParaRPr lang="en-US" sz="1200" dirty="0"/>
          </a:p>
        </p:txBody>
      </p:sp>
      <p:sp>
        <p:nvSpPr>
          <p:cNvPr id="25" name="Text 23"/>
          <p:cNvSpPr/>
          <p:nvPr/>
        </p:nvSpPr>
        <p:spPr>
          <a:xfrm>
            <a:off x="9686925" y="2893695"/>
            <a:ext cx="7632763" cy="361950"/>
          </a:xfrm>
          <a:prstGeom prst="rect">
            <a:avLst/>
          </a:prstGeom>
          <a:noFill/>
          <a:ln/>
        </p:spPr>
        <p:txBody>
          <a:bodyPr wrap="square" lIns="25400" tIns="25400" rIns="25400" bIns="25400" rtlCol="0" anchor="t">
            <a:normAutofit/>
          </a:bodyPr>
          <a:lstStyle/>
          <a:p>
            <a:pPr marL="0" indent="0" algn="l">
              <a:buNone/>
            </a:pPr>
            <a:r>
              <a:rPr lang="en-US" sz="1800" b="1" dirty="0">
                <a:solidFill>
                  <a:srgbClr val="172144"/>
                </a:solidFill>
                <a:latin typeface="Century Gothic" pitchFamily="34" charset="0"/>
                <a:ea typeface="Century Gothic" pitchFamily="34" charset="-122"/>
                <a:cs typeface="Century Gothic" pitchFamily="34" charset="-120"/>
              </a:rPr>
              <a:t>FastAPI · Swagger UI</a:t>
            </a:r>
            <a:endParaRPr lang="en-US" sz="1800" dirty="0"/>
          </a:p>
        </p:txBody>
      </p:sp>
      <p:sp>
        <p:nvSpPr>
          <p:cNvPr id="26" name="Shape 24"/>
          <p:cNvSpPr/>
          <p:nvPr/>
        </p:nvSpPr>
        <p:spPr>
          <a:xfrm>
            <a:off x="9686925" y="3388995"/>
            <a:ext cx="7410450" cy="485775"/>
          </a:xfrm>
          <a:prstGeom prst="roundRect">
            <a:avLst>
              <a:gd name="adj" fmla="val 11765"/>
            </a:avLst>
          </a:prstGeom>
          <a:solidFill>
            <a:srgbClr val="F3FBF5"/>
          </a:solidFill>
          <a:ln/>
        </p:spPr>
      </p:sp>
      <p:sp>
        <p:nvSpPr>
          <p:cNvPr id="27" name="Shape 25"/>
          <p:cNvSpPr/>
          <p:nvPr/>
        </p:nvSpPr>
        <p:spPr>
          <a:xfrm>
            <a:off x="9686925" y="3388995"/>
            <a:ext cx="57150" cy="485775"/>
          </a:xfrm>
          <a:prstGeom prst="rect">
            <a:avLst/>
          </a:prstGeom>
          <a:solidFill>
            <a:srgbClr val="40D492"/>
          </a:solidFill>
          <a:ln/>
        </p:spPr>
      </p:sp>
      <p:sp>
        <p:nvSpPr>
          <p:cNvPr id="28" name="Text 26"/>
          <p:cNvSpPr/>
          <p:nvPr/>
        </p:nvSpPr>
        <p:spPr>
          <a:xfrm>
            <a:off x="9915525" y="3522345"/>
            <a:ext cx="7232713" cy="257175"/>
          </a:xfrm>
          <a:prstGeom prst="rect">
            <a:avLst/>
          </a:prstGeom>
          <a:noFill/>
          <a:ln/>
        </p:spPr>
        <p:txBody>
          <a:bodyPr wrap="square" lIns="25400" tIns="25400" rIns="25400" bIns="25400" rtlCol="0" anchor="t">
            <a:normAutofit/>
          </a:bodyPr>
          <a:lstStyle/>
          <a:p>
            <a:pPr marL="0" indent="0" algn="l">
              <a:buNone/>
            </a:pPr>
            <a:r>
              <a:rPr lang="en-US" sz="1200" b="1" dirty="0">
                <a:solidFill>
                  <a:srgbClr val="172144"/>
                </a:solidFill>
                <a:latin typeface="Consolas" pitchFamily="34" charset="0"/>
                <a:ea typeface="Consolas" pitchFamily="34" charset="-122"/>
                <a:cs typeface="Consolas" pitchFamily="34" charset="-120"/>
              </a:rPr>
              <a:t>GET </a:t>
            </a:r>
            <a:r>
              <a:rPr lang="en-US" sz="1200" dirty="0">
                <a:solidFill>
                  <a:srgbClr val="172144"/>
                </a:solidFill>
                <a:highlight>
                  <a:srgbClr val="F3FBF5"/>
                </a:highlight>
                <a:latin typeface="Calibri" pitchFamily="34" charset="0"/>
                <a:ea typeface="Calibri" pitchFamily="34" charset="-122"/>
                <a:cs typeface="Calibri" pitchFamily="34" charset="-120"/>
              </a:rPr>
              <a:t>/health</a:t>
            </a:r>
            <a:endParaRPr lang="en-US" sz="1200" dirty="0"/>
          </a:p>
        </p:txBody>
      </p:sp>
      <p:sp>
        <p:nvSpPr>
          <p:cNvPr id="29" name="Shape 27"/>
          <p:cNvSpPr/>
          <p:nvPr/>
        </p:nvSpPr>
        <p:spPr>
          <a:xfrm>
            <a:off x="9686925" y="3970020"/>
            <a:ext cx="7410450" cy="485775"/>
          </a:xfrm>
          <a:prstGeom prst="roundRect">
            <a:avLst>
              <a:gd name="adj" fmla="val 11765"/>
            </a:avLst>
          </a:prstGeom>
          <a:solidFill>
            <a:srgbClr val="F0F3FF"/>
          </a:solidFill>
          <a:ln/>
        </p:spPr>
      </p:sp>
      <p:sp>
        <p:nvSpPr>
          <p:cNvPr id="30" name="Shape 28"/>
          <p:cNvSpPr/>
          <p:nvPr/>
        </p:nvSpPr>
        <p:spPr>
          <a:xfrm>
            <a:off x="9686925" y="3970020"/>
            <a:ext cx="57150" cy="485775"/>
          </a:xfrm>
          <a:prstGeom prst="rect">
            <a:avLst/>
          </a:prstGeom>
          <a:solidFill>
            <a:srgbClr val="6070FF"/>
          </a:solidFill>
          <a:ln/>
        </p:spPr>
      </p:sp>
      <p:sp>
        <p:nvSpPr>
          <p:cNvPr id="31" name="Text 29"/>
          <p:cNvSpPr/>
          <p:nvPr/>
        </p:nvSpPr>
        <p:spPr>
          <a:xfrm>
            <a:off x="9915525" y="4103370"/>
            <a:ext cx="7232713" cy="257175"/>
          </a:xfrm>
          <a:prstGeom prst="rect">
            <a:avLst/>
          </a:prstGeom>
          <a:noFill/>
          <a:ln/>
        </p:spPr>
        <p:txBody>
          <a:bodyPr wrap="square" lIns="25400" tIns="25400" rIns="25400" bIns="25400" rtlCol="0" anchor="t">
            <a:normAutofit/>
          </a:bodyPr>
          <a:lstStyle/>
          <a:p>
            <a:pPr marL="0" indent="0" algn="l">
              <a:buNone/>
            </a:pPr>
            <a:r>
              <a:rPr lang="en-US" sz="1200" b="1" dirty="0">
                <a:solidFill>
                  <a:srgbClr val="6070FF"/>
                </a:solidFill>
                <a:latin typeface="Consolas" pitchFamily="34" charset="0"/>
                <a:ea typeface="Consolas" pitchFamily="34" charset="-122"/>
                <a:cs typeface="Consolas" pitchFamily="34" charset="-120"/>
              </a:rPr>
              <a:t>POST </a:t>
            </a:r>
            <a:r>
              <a:rPr lang="en-US" sz="1200" dirty="0">
                <a:solidFill>
                  <a:srgbClr val="172144"/>
                </a:solidFill>
                <a:highlight>
                  <a:srgbClr val="F0F3FF"/>
                </a:highlight>
                <a:latin typeface="Calibri" pitchFamily="34" charset="0"/>
                <a:ea typeface="Calibri" pitchFamily="34" charset="-122"/>
                <a:cs typeface="Calibri" pitchFamily="34" charset="-120"/>
              </a:rPr>
              <a:t>/predict</a:t>
            </a:r>
            <a:endParaRPr lang="en-US" sz="1200" dirty="0"/>
          </a:p>
        </p:txBody>
      </p:sp>
      <p:sp>
        <p:nvSpPr>
          <p:cNvPr id="32" name="Text 30"/>
          <p:cNvSpPr/>
          <p:nvPr/>
        </p:nvSpPr>
        <p:spPr>
          <a:xfrm>
            <a:off x="9686925" y="4627245"/>
            <a:ext cx="7632763" cy="257175"/>
          </a:xfrm>
          <a:prstGeom prst="rect">
            <a:avLst/>
          </a:prstGeom>
          <a:noFill/>
          <a:ln/>
        </p:spPr>
        <p:txBody>
          <a:bodyPr wrap="square" lIns="25400" tIns="25400" rIns="25400" bIns="25400" rtlCol="0" anchor="t">
            <a:normAutofit/>
          </a:bodyPr>
          <a:lstStyle/>
          <a:p>
            <a:pPr marL="0" indent="0" algn="l">
              <a:buNone/>
            </a:pPr>
            <a:r>
              <a:rPr lang="en-US" sz="1350" dirty="0">
                <a:solidFill>
                  <a:srgbClr val="7A8099"/>
                </a:solidFill>
                <a:latin typeface="Calibri" pitchFamily="34" charset="0"/>
                <a:ea typeface="Calibri" pitchFamily="34" charset="-122"/>
                <a:cs typeface="Calibri" pitchFamily="34" charset="-120"/>
              </a:rPr>
              <a:t>Try it out · Upload a prescription image · Execute</a:t>
            </a:r>
            <a:endParaRPr lang="en-US" sz="1350" dirty="0"/>
          </a:p>
        </p:txBody>
      </p:sp>
      <p:sp>
        <p:nvSpPr>
          <p:cNvPr id="33" name="Shape 31"/>
          <p:cNvSpPr/>
          <p:nvPr/>
        </p:nvSpPr>
        <p:spPr>
          <a:xfrm>
            <a:off x="9686925" y="4979670"/>
            <a:ext cx="7410450" cy="1760220"/>
          </a:xfrm>
          <a:prstGeom prst="roundRect">
            <a:avLst>
              <a:gd name="adj" fmla="val 4329"/>
            </a:avLst>
          </a:prstGeom>
          <a:solidFill>
            <a:srgbClr val="0F1730"/>
          </a:solidFill>
          <a:ln/>
        </p:spPr>
      </p:sp>
      <p:sp>
        <p:nvSpPr>
          <p:cNvPr id="34" name="Text 32"/>
          <p:cNvSpPr/>
          <p:nvPr/>
        </p:nvSpPr>
        <p:spPr>
          <a:xfrm>
            <a:off x="9858375" y="5113020"/>
            <a:ext cx="7289863" cy="1531620"/>
          </a:xfrm>
          <a:prstGeom prst="rect">
            <a:avLst/>
          </a:prstGeom>
          <a:noFill/>
          <a:ln/>
        </p:spPr>
        <p:txBody>
          <a:bodyPr wrap="square" lIns="25400" tIns="25400" rIns="25400" bIns="25400" rtlCol="0" anchor="t">
            <a:normAutofit/>
          </a:bodyPr>
          <a:lstStyle/>
          <a:p>
            <a:pPr marL="0" indent="0" algn="l">
              <a:lnSpc>
                <a:spcPct val="140000"/>
              </a:lnSpc>
              <a:buNone/>
            </a:pPr>
            <a:r>
              <a:rPr lang="en-US" sz="1050" dirty="0">
                <a:solidFill>
                  <a:srgbClr val="CFE2FF"/>
                </a:solidFill>
                <a:highlight>
                  <a:srgbClr val="0F1730"/>
                </a:highlight>
                <a:latin typeface="Consolas" pitchFamily="34" charset="0"/>
                <a:ea typeface="Consolas" pitchFamily="34" charset="-122"/>
                <a:cs typeface="Consolas" pitchFamily="34" charset="-120"/>
              </a:rPr>
              <a:t>{ "lines": [ "Patient: J. Doe Age: 45", "Metformin 500 mg — Twice daily", "Dr. R. Patel" ], "ms": 1842 }</a:t>
            </a:r>
            <a:endParaRPr lang="en-US" sz="1050" dirty="0"/>
          </a:p>
        </p:txBody>
      </p:sp>
      <p:sp>
        <p:nvSpPr>
          <p:cNvPr id="35" name="Text 33"/>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6" name="Text 34"/>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25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756">
        <p159:morph option="byObject"/>
      </p:transition>
    </mc:Choice>
    <mc:Fallback>
      <p:transition spd="slow" advTm="756">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F8E38"/>
                </a:solidFill>
                <a:latin typeface="Century Gothic" pitchFamily="34" charset="0"/>
                <a:ea typeface="Century Gothic" pitchFamily="34" charset="-122"/>
                <a:cs typeface="Century Gothic" pitchFamily="34" charset="-120"/>
              </a:rPr>
              <a:t>ACT 4 · FRONTEND</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Frontend architecture</a:t>
            </a:r>
            <a:endParaRPr lang="en-US" sz="3600" dirty="0"/>
          </a:p>
        </p:txBody>
      </p:sp>
      <p:sp>
        <p:nvSpPr>
          <p:cNvPr id="9" name="Shape 7"/>
          <p:cNvSpPr/>
          <p:nvPr/>
        </p:nvSpPr>
        <p:spPr>
          <a:xfrm>
            <a:off x="952500" y="2015808"/>
            <a:ext cx="3605689" cy="2847975"/>
          </a:xfrm>
          <a:prstGeom prst="roundRect">
            <a:avLst>
              <a:gd name="adj" fmla="val 4682"/>
            </a:avLst>
          </a:prstGeom>
          <a:solidFill>
            <a:srgbClr val="F3F5FB"/>
          </a:solidFill>
          <a:ln/>
        </p:spPr>
      </p:sp>
      <p:sp>
        <p:nvSpPr>
          <p:cNvPr id="10" name="Shape 8"/>
          <p:cNvSpPr/>
          <p:nvPr/>
        </p:nvSpPr>
        <p:spPr>
          <a:xfrm>
            <a:off x="952500" y="4854258"/>
            <a:ext cx="3605689" cy="9525"/>
          </a:xfrm>
          <a:prstGeom prst="rect">
            <a:avLst/>
          </a:prstGeom>
          <a:solidFill>
            <a:srgbClr val="E6E8F0"/>
          </a:solidFill>
          <a:ln/>
        </p:spPr>
      </p:sp>
      <p:sp>
        <p:nvSpPr>
          <p:cNvPr id="11" name="Shape 9"/>
          <p:cNvSpPr/>
          <p:nvPr/>
        </p:nvSpPr>
        <p:spPr>
          <a:xfrm>
            <a:off x="952500" y="2015808"/>
            <a:ext cx="3605689" cy="57150"/>
          </a:xfrm>
          <a:prstGeom prst="rect">
            <a:avLst/>
          </a:prstGeom>
          <a:solidFill>
            <a:srgbClr val="3BC8F1"/>
          </a:solidFill>
          <a:ln/>
        </p:spPr>
      </p:sp>
      <p:sp>
        <p:nvSpPr>
          <p:cNvPr id="12" name="Shape 10"/>
          <p:cNvSpPr/>
          <p:nvPr/>
        </p:nvSpPr>
        <p:spPr>
          <a:xfrm>
            <a:off x="952500" y="2015808"/>
            <a:ext cx="9525" cy="2847975"/>
          </a:xfrm>
          <a:prstGeom prst="rect">
            <a:avLst/>
          </a:prstGeom>
          <a:solidFill>
            <a:srgbClr val="E6E8F0"/>
          </a:solidFill>
          <a:ln/>
        </p:spPr>
      </p:sp>
      <p:sp>
        <p:nvSpPr>
          <p:cNvPr id="13" name="Shape 11"/>
          <p:cNvSpPr/>
          <p:nvPr/>
        </p:nvSpPr>
        <p:spPr>
          <a:xfrm>
            <a:off x="4548664" y="2015808"/>
            <a:ext cx="9525" cy="2847975"/>
          </a:xfrm>
          <a:prstGeom prst="rect">
            <a:avLst/>
          </a:prstGeom>
          <a:solidFill>
            <a:srgbClr val="E6E8F0"/>
          </a:solidFill>
          <a:ln/>
        </p:spPr>
      </p:sp>
      <p:sp>
        <p:nvSpPr>
          <p:cNvPr id="14" name="Text 12"/>
          <p:cNvSpPr/>
          <p:nvPr/>
        </p:nvSpPr>
        <p:spPr>
          <a:xfrm>
            <a:off x="1065197" y="3187382"/>
            <a:ext cx="3380294" cy="333375"/>
          </a:xfrm>
          <a:prstGeom prst="rect">
            <a:avLst/>
          </a:prstGeom>
          <a:noFill/>
          <a:ln/>
        </p:spPr>
        <p:txBody>
          <a:bodyPr wrap="square" lIns="25400" tIns="25400" rIns="25400" bIns="25400" rtlCol="0" anchor="t">
            <a:normAutofit/>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React + Vite SPA</a:t>
            </a:r>
            <a:endParaRPr lang="en-US" sz="1650" dirty="0"/>
          </a:p>
        </p:txBody>
      </p:sp>
      <p:sp>
        <p:nvSpPr>
          <p:cNvPr id="15" name="Text 13"/>
          <p:cNvSpPr/>
          <p:nvPr/>
        </p:nvSpPr>
        <p:spPr>
          <a:xfrm>
            <a:off x="1065197" y="3539807"/>
            <a:ext cx="3380294" cy="238125"/>
          </a:xfrm>
          <a:prstGeom prst="rect">
            <a:avLst/>
          </a:prstGeom>
          <a:noFill/>
          <a:ln/>
        </p:spPr>
        <p:txBody>
          <a:bodyPr wrap="square" lIns="25400" tIns="25400" rIns="25400" bIns="25400" rtlCol="0" anchor="t">
            <a:normAutofit/>
          </a:bodyPr>
          <a:lstStyle/>
          <a:p>
            <a:pPr marL="0" indent="0" algn="ctr">
              <a:buNone/>
            </a:pPr>
            <a:r>
              <a:rPr lang="en-US" sz="1200" dirty="0">
                <a:solidFill>
                  <a:srgbClr val="7A8099"/>
                </a:solidFill>
                <a:latin typeface="Calibri" pitchFamily="34" charset="0"/>
                <a:ea typeface="Calibri" pitchFamily="34" charset="-122"/>
                <a:cs typeface="Calibri" pitchFamily="34" charset="-120"/>
              </a:rPr>
              <a:t>Drop zone · upload · render</a:t>
            </a:r>
            <a:endParaRPr lang="en-US" sz="1200" dirty="0"/>
          </a:p>
        </p:txBody>
      </p:sp>
      <p:sp>
        <p:nvSpPr>
          <p:cNvPr id="16" name="Text 14"/>
          <p:cNvSpPr/>
          <p:nvPr/>
        </p:nvSpPr>
        <p:spPr>
          <a:xfrm>
            <a:off x="4729639" y="3225482"/>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17" name="Shape 15"/>
          <p:cNvSpPr/>
          <p:nvPr/>
        </p:nvSpPr>
        <p:spPr>
          <a:xfrm>
            <a:off x="5211445" y="2015808"/>
            <a:ext cx="3605847" cy="2847975"/>
          </a:xfrm>
          <a:prstGeom prst="roundRect">
            <a:avLst>
              <a:gd name="adj" fmla="val 4682"/>
            </a:avLst>
          </a:prstGeom>
          <a:solidFill>
            <a:srgbClr val="F3F5FB"/>
          </a:solidFill>
          <a:ln/>
        </p:spPr>
      </p:sp>
      <p:sp>
        <p:nvSpPr>
          <p:cNvPr id="18" name="Shape 16"/>
          <p:cNvSpPr/>
          <p:nvPr/>
        </p:nvSpPr>
        <p:spPr>
          <a:xfrm>
            <a:off x="5211445" y="4854258"/>
            <a:ext cx="3605847" cy="9525"/>
          </a:xfrm>
          <a:prstGeom prst="rect">
            <a:avLst/>
          </a:prstGeom>
          <a:solidFill>
            <a:srgbClr val="E6E8F0"/>
          </a:solidFill>
          <a:ln/>
        </p:spPr>
      </p:sp>
      <p:sp>
        <p:nvSpPr>
          <p:cNvPr id="19" name="Shape 17"/>
          <p:cNvSpPr/>
          <p:nvPr/>
        </p:nvSpPr>
        <p:spPr>
          <a:xfrm>
            <a:off x="5211445" y="2015808"/>
            <a:ext cx="3605847" cy="57150"/>
          </a:xfrm>
          <a:prstGeom prst="rect">
            <a:avLst/>
          </a:prstGeom>
          <a:solidFill>
            <a:srgbClr val="6070FF"/>
          </a:solidFill>
          <a:ln/>
        </p:spPr>
      </p:sp>
      <p:sp>
        <p:nvSpPr>
          <p:cNvPr id="20" name="Shape 18"/>
          <p:cNvSpPr/>
          <p:nvPr/>
        </p:nvSpPr>
        <p:spPr>
          <a:xfrm>
            <a:off x="5211445" y="2015808"/>
            <a:ext cx="9525" cy="2847975"/>
          </a:xfrm>
          <a:prstGeom prst="rect">
            <a:avLst/>
          </a:prstGeom>
          <a:solidFill>
            <a:srgbClr val="E6E8F0"/>
          </a:solidFill>
          <a:ln/>
        </p:spPr>
      </p:sp>
      <p:sp>
        <p:nvSpPr>
          <p:cNvPr id="21" name="Shape 19"/>
          <p:cNvSpPr/>
          <p:nvPr/>
        </p:nvSpPr>
        <p:spPr>
          <a:xfrm>
            <a:off x="8807767" y="2015808"/>
            <a:ext cx="9525" cy="2847975"/>
          </a:xfrm>
          <a:prstGeom prst="rect">
            <a:avLst/>
          </a:prstGeom>
          <a:solidFill>
            <a:srgbClr val="E6E8F0"/>
          </a:solidFill>
          <a:ln/>
        </p:spPr>
      </p:sp>
      <p:sp>
        <p:nvSpPr>
          <p:cNvPr id="22" name="Text 20"/>
          <p:cNvSpPr/>
          <p:nvPr/>
        </p:nvSpPr>
        <p:spPr>
          <a:xfrm>
            <a:off x="5324140" y="3187382"/>
            <a:ext cx="3380457" cy="333375"/>
          </a:xfrm>
          <a:prstGeom prst="rect">
            <a:avLst/>
          </a:prstGeom>
          <a:noFill/>
          <a:ln/>
        </p:spPr>
        <p:txBody>
          <a:bodyPr wrap="square" lIns="25400" tIns="25400" rIns="25400" bIns="25400" rtlCol="0" anchor="t">
            <a:normAutofit/>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FastAPI</a:t>
            </a:r>
            <a:endParaRPr lang="en-US" sz="1650" dirty="0"/>
          </a:p>
        </p:txBody>
      </p:sp>
      <p:sp>
        <p:nvSpPr>
          <p:cNvPr id="23" name="Text 21"/>
          <p:cNvSpPr/>
          <p:nvPr/>
        </p:nvSpPr>
        <p:spPr>
          <a:xfrm>
            <a:off x="5324140" y="3539807"/>
            <a:ext cx="3380457" cy="238125"/>
          </a:xfrm>
          <a:prstGeom prst="rect">
            <a:avLst/>
          </a:prstGeom>
          <a:noFill/>
          <a:ln/>
        </p:spPr>
        <p:txBody>
          <a:bodyPr wrap="square" lIns="25400" tIns="25400" rIns="25400" bIns="25400" rtlCol="0" anchor="t">
            <a:normAutofit/>
          </a:bodyPr>
          <a:lstStyle/>
          <a:p>
            <a:pPr marL="0" indent="0" algn="ctr">
              <a:buNone/>
            </a:pPr>
            <a:r>
              <a:rPr lang="en-US" sz="1200" dirty="0">
                <a:solidFill>
                  <a:srgbClr val="7A8099"/>
                </a:solidFill>
                <a:latin typeface="Calibri" pitchFamily="34" charset="0"/>
                <a:ea typeface="Calibri" pitchFamily="34" charset="-122"/>
                <a:cs typeface="Calibri" pitchFamily="34" charset="-120"/>
              </a:rPr>
              <a:t>/predict · multipart</a:t>
            </a:r>
            <a:endParaRPr lang="en-US" sz="1200" dirty="0"/>
          </a:p>
        </p:txBody>
      </p:sp>
      <p:sp>
        <p:nvSpPr>
          <p:cNvPr id="24" name="Text 22"/>
          <p:cNvSpPr/>
          <p:nvPr/>
        </p:nvSpPr>
        <p:spPr>
          <a:xfrm>
            <a:off x="8988743" y="3225482"/>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25" name="Shape 23"/>
          <p:cNvSpPr/>
          <p:nvPr/>
        </p:nvSpPr>
        <p:spPr>
          <a:xfrm>
            <a:off x="9470549" y="2015808"/>
            <a:ext cx="3605847" cy="2847975"/>
          </a:xfrm>
          <a:prstGeom prst="roundRect">
            <a:avLst>
              <a:gd name="adj" fmla="val 4682"/>
            </a:avLst>
          </a:prstGeom>
          <a:solidFill>
            <a:srgbClr val="F3F5FB"/>
          </a:solidFill>
          <a:ln/>
        </p:spPr>
      </p:sp>
      <p:sp>
        <p:nvSpPr>
          <p:cNvPr id="26" name="Shape 24"/>
          <p:cNvSpPr/>
          <p:nvPr/>
        </p:nvSpPr>
        <p:spPr>
          <a:xfrm>
            <a:off x="9470549" y="4854258"/>
            <a:ext cx="3605847" cy="9525"/>
          </a:xfrm>
          <a:prstGeom prst="rect">
            <a:avLst/>
          </a:prstGeom>
          <a:solidFill>
            <a:srgbClr val="E6E8F0"/>
          </a:solidFill>
          <a:ln/>
        </p:spPr>
      </p:sp>
      <p:sp>
        <p:nvSpPr>
          <p:cNvPr id="27" name="Shape 25"/>
          <p:cNvSpPr/>
          <p:nvPr/>
        </p:nvSpPr>
        <p:spPr>
          <a:xfrm>
            <a:off x="9470549" y="2015808"/>
            <a:ext cx="3605847" cy="57150"/>
          </a:xfrm>
          <a:prstGeom prst="rect">
            <a:avLst/>
          </a:prstGeom>
          <a:solidFill>
            <a:srgbClr val="FA3585"/>
          </a:solidFill>
          <a:ln/>
        </p:spPr>
      </p:sp>
      <p:sp>
        <p:nvSpPr>
          <p:cNvPr id="28" name="Shape 26"/>
          <p:cNvSpPr/>
          <p:nvPr/>
        </p:nvSpPr>
        <p:spPr>
          <a:xfrm>
            <a:off x="9470549" y="2015808"/>
            <a:ext cx="9525" cy="2847975"/>
          </a:xfrm>
          <a:prstGeom prst="rect">
            <a:avLst/>
          </a:prstGeom>
          <a:solidFill>
            <a:srgbClr val="E6E8F0"/>
          </a:solidFill>
          <a:ln/>
        </p:spPr>
      </p:sp>
      <p:sp>
        <p:nvSpPr>
          <p:cNvPr id="29" name="Shape 27"/>
          <p:cNvSpPr/>
          <p:nvPr/>
        </p:nvSpPr>
        <p:spPr>
          <a:xfrm>
            <a:off x="13066871" y="2015808"/>
            <a:ext cx="9525" cy="2847975"/>
          </a:xfrm>
          <a:prstGeom prst="rect">
            <a:avLst/>
          </a:prstGeom>
          <a:solidFill>
            <a:srgbClr val="E6E8F0"/>
          </a:solidFill>
          <a:ln/>
        </p:spPr>
      </p:sp>
      <p:sp>
        <p:nvSpPr>
          <p:cNvPr id="30" name="Text 28"/>
          <p:cNvSpPr/>
          <p:nvPr/>
        </p:nvSpPr>
        <p:spPr>
          <a:xfrm>
            <a:off x="9583244" y="3187382"/>
            <a:ext cx="3380457" cy="333375"/>
          </a:xfrm>
          <a:prstGeom prst="rect">
            <a:avLst/>
          </a:prstGeom>
          <a:noFill/>
          <a:ln/>
        </p:spPr>
        <p:txBody>
          <a:bodyPr wrap="square" lIns="25400" tIns="25400" rIns="25400" bIns="25400" rtlCol="0" anchor="t">
            <a:normAutofit/>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TrOCR (PyTorch)</a:t>
            </a:r>
            <a:endParaRPr lang="en-US" sz="1650" dirty="0"/>
          </a:p>
        </p:txBody>
      </p:sp>
      <p:sp>
        <p:nvSpPr>
          <p:cNvPr id="31" name="Text 29"/>
          <p:cNvSpPr/>
          <p:nvPr/>
        </p:nvSpPr>
        <p:spPr>
          <a:xfrm>
            <a:off x="9583244" y="3539807"/>
            <a:ext cx="3380457" cy="238125"/>
          </a:xfrm>
          <a:prstGeom prst="rect">
            <a:avLst/>
          </a:prstGeom>
          <a:noFill/>
          <a:ln/>
        </p:spPr>
        <p:txBody>
          <a:bodyPr wrap="square" lIns="25400" tIns="25400" rIns="25400" bIns="25400" rtlCol="0" anchor="t">
            <a:normAutofit/>
          </a:bodyPr>
          <a:lstStyle/>
          <a:p>
            <a:pPr marL="0" indent="0" algn="ctr">
              <a:buNone/>
            </a:pPr>
            <a:r>
              <a:rPr lang="en-US" sz="1200" dirty="0">
                <a:solidFill>
                  <a:srgbClr val="7A8099"/>
                </a:solidFill>
                <a:latin typeface="Calibri" pitchFamily="34" charset="0"/>
                <a:ea typeface="Calibri" pitchFamily="34" charset="-122"/>
                <a:cs typeface="Calibri" pitchFamily="34" charset="-120"/>
              </a:rPr>
              <a:t>Loaded once at startup</a:t>
            </a:r>
            <a:endParaRPr lang="en-US" sz="1200" dirty="0"/>
          </a:p>
        </p:txBody>
      </p:sp>
      <p:sp>
        <p:nvSpPr>
          <p:cNvPr id="32" name="Text 30"/>
          <p:cNvSpPr/>
          <p:nvPr/>
        </p:nvSpPr>
        <p:spPr>
          <a:xfrm>
            <a:off x="13247846" y="3225482"/>
            <a:ext cx="386556" cy="466725"/>
          </a:xfrm>
          <a:prstGeom prst="rect">
            <a:avLst/>
          </a:prstGeom>
          <a:noFill/>
          <a:ln/>
        </p:spPr>
        <p:txBody>
          <a:bodyPr wrap="square" lIns="25400" tIns="25400" rIns="25400" bIns="25400" rtlCol="0" anchor="t">
            <a:normAutofit/>
          </a:bodyPr>
          <a:lstStyle/>
          <a:p>
            <a:pPr marL="0" indent="0" algn="l">
              <a:buNone/>
            </a:pPr>
            <a:r>
              <a:rPr lang="en-US" sz="2700" dirty="0">
                <a:solidFill>
                  <a:srgbClr val="FF8E38"/>
                </a:solidFill>
                <a:latin typeface="Calibri" pitchFamily="34" charset="0"/>
                <a:ea typeface="Calibri" pitchFamily="34" charset="-122"/>
                <a:cs typeface="Calibri" pitchFamily="34" charset="-120"/>
              </a:rPr>
              <a:t>→</a:t>
            </a:r>
            <a:endParaRPr lang="en-US" sz="2700" dirty="0"/>
          </a:p>
        </p:txBody>
      </p:sp>
      <p:sp>
        <p:nvSpPr>
          <p:cNvPr id="33" name="Shape 31"/>
          <p:cNvSpPr/>
          <p:nvPr/>
        </p:nvSpPr>
        <p:spPr>
          <a:xfrm>
            <a:off x="13729653" y="2015808"/>
            <a:ext cx="3605847" cy="2847975"/>
          </a:xfrm>
          <a:prstGeom prst="roundRect">
            <a:avLst>
              <a:gd name="adj" fmla="val 4682"/>
            </a:avLst>
          </a:prstGeom>
          <a:solidFill>
            <a:srgbClr val="F3F5FB"/>
          </a:solidFill>
          <a:ln/>
        </p:spPr>
      </p:sp>
      <p:sp>
        <p:nvSpPr>
          <p:cNvPr id="34" name="Shape 32"/>
          <p:cNvSpPr/>
          <p:nvPr/>
        </p:nvSpPr>
        <p:spPr>
          <a:xfrm>
            <a:off x="13729653" y="4854258"/>
            <a:ext cx="3605847" cy="9525"/>
          </a:xfrm>
          <a:prstGeom prst="rect">
            <a:avLst/>
          </a:prstGeom>
          <a:solidFill>
            <a:srgbClr val="E6E8F0"/>
          </a:solidFill>
          <a:ln/>
        </p:spPr>
      </p:sp>
      <p:sp>
        <p:nvSpPr>
          <p:cNvPr id="35" name="Shape 33"/>
          <p:cNvSpPr/>
          <p:nvPr/>
        </p:nvSpPr>
        <p:spPr>
          <a:xfrm>
            <a:off x="13729653" y="2015808"/>
            <a:ext cx="3605847" cy="57150"/>
          </a:xfrm>
          <a:prstGeom prst="rect">
            <a:avLst/>
          </a:prstGeom>
          <a:solidFill>
            <a:srgbClr val="3BC8F1"/>
          </a:solidFill>
          <a:ln/>
        </p:spPr>
      </p:sp>
      <p:sp>
        <p:nvSpPr>
          <p:cNvPr id="36" name="Shape 34"/>
          <p:cNvSpPr/>
          <p:nvPr/>
        </p:nvSpPr>
        <p:spPr>
          <a:xfrm>
            <a:off x="13729653" y="2015808"/>
            <a:ext cx="9525" cy="2847975"/>
          </a:xfrm>
          <a:prstGeom prst="rect">
            <a:avLst/>
          </a:prstGeom>
          <a:solidFill>
            <a:srgbClr val="E6E8F0"/>
          </a:solidFill>
          <a:ln/>
        </p:spPr>
      </p:sp>
      <p:sp>
        <p:nvSpPr>
          <p:cNvPr id="37" name="Shape 35"/>
          <p:cNvSpPr/>
          <p:nvPr/>
        </p:nvSpPr>
        <p:spPr>
          <a:xfrm>
            <a:off x="17325975" y="2015808"/>
            <a:ext cx="9525" cy="2847975"/>
          </a:xfrm>
          <a:prstGeom prst="rect">
            <a:avLst/>
          </a:prstGeom>
          <a:solidFill>
            <a:srgbClr val="E6E8F0"/>
          </a:solidFill>
          <a:ln/>
        </p:spPr>
      </p:sp>
      <p:sp>
        <p:nvSpPr>
          <p:cNvPr id="38" name="Text 36"/>
          <p:cNvSpPr/>
          <p:nvPr/>
        </p:nvSpPr>
        <p:spPr>
          <a:xfrm>
            <a:off x="13842348" y="3187382"/>
            <a:ext cx="3380457" cy="333375"/>
          </a:xfrm>
          <a:prstGeom prst="rect">
            <a:avLst/>
          </a:prstGeom>
          <a:noFill/>
          <a:ln/>
        </p:spPr>
        <p:txBody>
          <a:bodyPr wrap="square" lIns="25400" tIns="25400" rIns="25400" bIns="25400" rtlCol="0" anchor="t">
            <a:normAutofit/>
          </a:bodyPr>
          <a:lstStyle/>
          <a:p>
            <a:pPr marL="0" indent="0" algn="ctr">
              <a:buNone/>
            </a:pPr>
            <a:r>
              <a:rPr lang="en-US" sz="1650" b="1" dirty="0">
                <a:solidFill>
                  <a:srgbClr val="172144"/>
                </a:solidFill>
                <a:latin typeface="Century Gothic" pitchFamily="34" charset="0"/>
                <a:ea typeface="Century Gothic" pitchFamily="34" charset="-122"/>
                <a:cs typeface="Century Gothic" pitchFamily="34" charset="-120"/>
              </a:rPr>
              <a:t>JSON</a:t>
            </a:r>
            <a:endParaRPr lang="en-US" sz="1650" dirty="0"/>
          </a:p>
        </p:txBody>
      </p:sp>
      <p:sp>
        <p:nvSpPr>
          <p:cNvPr id="39" name="Text 37"/>
          <p:cNvSpPr/>
          <p:nvPr/>
        </p:nvSpPr>
        <p:spPr>
          <a:xfrm>
            <a:off x="13842348" y="3539807"/>
            <a:ext cx="3380457" cy="238125"/>
          </a:xfrm>
          <a:prstGeom prst="rect">
            <a:avLst/>
          </a:prstGeom>
          <a:noFill/>
          <a:ln/>
        </p:spPr>
        <p:txBody>
          <a:bodyPr wrap="square" lIns="25400" tIns="25400" rIns="25400" bIns="25400" rtlCol="0" anchor="t">
            <a:normAutofit/>
          </a:bodyPr>
          <a:lstStyle/>
          <a:p>
            <a:pPr marL="0" indent="0" algn="ctr">
              <a:buNone/>
            </a:pPr>
            <a:r>
              <a:rPr lang="en-US" sz="1200" dirty="0">
                <a:solidFill>
                  <a:srgbClr val="7A8099"/>
                </a:solidFill>
                <a:latin typeface="Calibri" pitchFamily="34" charset="0"/>
                <a:ea typeface="Calibri" pitchFamily="34" charset="-122"/>
                <a:cs typeface="Calibri" pitchFamily="34" charset="-120"/>
              </a:rPr>
              <a:t>lines · raw text · timing</a:t>
            </a:r>
            <a:endParaRPr lang="en-US" sz="1200" dirty="0"/>
          </a:p>
        </p:txBody>
      </p:sp>
      <p:sp>
        <p:nvSpPr>
          <p:cNvPr id="40" name="Text 38"/>
          <p:cNvSpPr/>
          <p:nvPr/>
        </p:nvSpPr>
        <p:spPr>
          <a:xfrm>
            <a:off x="1295400" y="524954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Single-page React + Vite app, no SSR</a:t>
            </a:r>
            <a:endParaRPr lang="en-US" sz="1950" dirty="0"/>
          </a:p>
        </p:txBody>
      </p:sp>
      <p:sp>
        <p:nvSpPr>
          <p:cNvPr id="41" name="Text 39"/>
          <p:cNvSpPr/>
          <p:nvPr/>
        </p:nvSpPr>
        <p:spPr>
          <a:xfrm>
            <a:off x="1295400" y="586295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Drag-and-drop upload, client-side preview</a:t>
            </a:r>
            <a:endParaRPr lang="en-US" sz="1950" dirty="0"/>
          </a:p>
        </p:txBody>
      </p:sp>
      <p:sp>
        <p:nvSpPr>
          <p:cNvPr id="42" name="Text 40"/>
          <p:cNvSpPr/>
          <p:nvPr/>
        </p:nvSpPr>
        <p:spPr>
          <a:xfrm>
            <a:off x="1295400" y="647636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POST </a:t>
            </a:r>
            <a:r>
              <a:rPr lang="en-US" sz="1950" dirty="0">
                <a:solidFill>
                  <a:srgbClr val="3A4368"/>
                </a:solidFill>
                <a:latin typeface="monospace" pitchFamily="34" charset="0"/>
                <a:ea typeface="monospace" pitchFamily="34" charset="-122"/>
                <a:cs typeface="monospace" pitchFamily="34" charset="-120"/>
              </a:rPr>
              <a:t>/predict </a:t>
            </a:r>
            <a:r>
              <a:rPr lang="en-US" sz="1950" dirty="0">
                <a:solidFill>
                  <a:srgbClr val="3A4368"/>
                </a:solidFill>
                <a:latin typeface="Calibri" pitchFamily="34" charset="0"/>
                <a:ea typeface="Calibri" pitchFamily="34" charset="-122"/>
                <a:cs typeface="Calibri" pitchFamily="34" charset="-120"/>
              </a:rPr>
              <a:t>with the image as multipart</a:t>
            </a:r>
            <a:endParaRPr lang="en-US" sz="1950" dirty="0"/>
          </a:p>
        </p:txBody>
      </p:sp>
      <p:sp>
        <p:nvSpPr>
          <p:cNvPr id="43" name="Text 41"/>
          <p:cNvSpPr/>
          <p:nvPr/>
        </p:nvSpPr>
        <p:spPr>
          <a:xfrm>
            <a:off x="1295400" y="7089775"/>
            <a:ext cx="7780401" cy="38481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Renders extracted lines, raw text, and processing time</a:t>
            </a:r>
            <a:endParaRPr lang="en-US" sz="1950" dirty="0"/>
          </a:p>
        </p:txBody>
      </p:sp>
      <p:sp>
        <p:nvSpPr>
          <p:cNvPr id="44" name="Text 42"/>
          <p:cNvSpPr/>
          <p:nvPr/>
        </p:nvSpPr>
        <p:spPr>
          <a:xfrm>
            <a:off x="9275445" y="5116195"/>
            <a:ext cx="8136255" cy="2491740"/>
          </a:xfrm>
          <a:prstGeom prst="rect">
            <a:avLst/>
          </a:prstGeom>
          <a:noFill/>
          <a:ln/>
        </p:spPr>
        <p:txBody>
          <a:bodyPr wrap="square" lIns="25400" tIns="25400" rIns="25400" bIns="25400" rtlCol="0" anchor="t">
            <a:normAutofit/>
          </a:bodyPr>
          <a:lstStyle/>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react-query for fetch &amp; cache</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Tailwind for styling, no design system</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Dockerized — one command to run end to end</a:t>
            </a:r>
            <a:endParaRPr lang="en-US" sz="1950" dirty="0"/>
          </a:p>
          <a:p>
            <a:pPr marL="0" indent="0" algn="l">
              <a:lnSpc>
                <a:spcPct val="140000"/>
              </a:lnSpc>
              <a:buNone/>
            </a:pPr>
            <a:r>
              <a:rPr lang="en-US" sz="1950" dirty="0">
                <a:solidFill>
                  <a:srgbClr val="3A4368"/>
                </a:solidFill>
                <a:latin typeface="Calibri" pitchFamily="34" charset="0"/>
                <a:ea typeface="Calibri" pitchFamily="34" charset="-122"/>
                <a:cs typeface="Calibri" pitchFamily="34" charset="-120"/>
              </a:rPr>
              <a:t>Deployable to any container host</a:t>
            </a:r>
            <a:endParaRPr lang="en-US" sz="1950" dirty="0"/>
          </a:p>
        </p:txBody>
      </p:sp>
      <p:sp>
        <p:nvSpPr>
          <p:cNvPr id="45" name="Text 43"/>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46" name="Text 44"/>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26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62">
        <p159:morph option="byObject"/>
      </p:transition>
    </mc:Choice>
    <mc:Fallback>
      <p:transition spd="slow" advTm="562">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F8E38"/>
                </a:solidFill>
                <a:latin typeface="Century Gothic" pitchFamily="34" charset="0"/>
                <a:ea typeface="Century Gothic" pitchFamily="34" charset="-122"/>
                <a:cs typeface="Century Gothic" pitchFamily="34" charset="-120"/>
              </a:rPr>
              <a:t>ACT 4 · LIVE DEMO</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Upload screen</a:t>
            </a:r>
            <a:endParaRPr lang="en-US" sz="3600" dirty="0"/>
          </a:p>
        </p:txBody>
      </p:sp>
      <p:sp>
        <p:nvSpPr>
          <p:cNvPr id="9" name="Shape 7"/>
          <p:cNvSpPr/>
          <p:nvPr/>
        </p:nvSpPr>
        <p:spPr>
          <a:xfrm>
            <a:off x="952500" y="2188845"/>
            <a:ext cx="16383000" cy="6496050"/>
          </a:xfrm>
          <a:prstGeom prst="roundRect">
            <a:avLst>
              <a:gd name="adj" fmla="val 2639"/>
            </a:avLst>
          </a:prstGeom>
          <a:solidFill>
            <a:srgbClr val="0F1730"/>
          </a:solidFill>
          <a:ln w="9525">
            <a:solidFill>
              <a:srgbClr val="E6E8F0"/>
            </a:solidFill>
            <a:prstDash val="solid"/>
          </a:ln>
        </p:spPr>
      </p:sp>
      <p:sp>
        <p:nvSpPr>
          <p:cNvPr id="10" name="Shape 8"/>
          <p:cNvSpPr/>
          <p:nvPr/>
        </p:nvSpPr>
        <p:spPr>
          <a:xfrm>
            <a:off x="962025" y="2198370"/>
            <a:ext cx="16363950" cy="6496050"/>
          </a:xfrm>
          <a:prstGeom prst="roundRect">
            <a:avLst>
              <a:gd name="adj" fmla="val 2639"/>
            </a:avLst>
          </a:prstGeom>
          <a:solidFill>
            <a:srgbClr val="FFFFFF"/>
          </a:solidFill>
          <a:ln w="9525">
            <a:solidFill>
              <a:srgbClr val="E6E8F0"/>
            </a:solidFill>
            <a:prstDash val="solid"/>
          </a:ln>
          <a:effectLst>
            <a:outerShdw blurRad="571500" dist="228600" dir="5400000" algn="bl" rotWithShape="0">
              <a:srgbClr val="0F1730">
                <a:alpha val="12000"/>
              </a:srgbClr>
            </a:outerShdw>
          </a:effectLst>
        </p:spPr>
      </p:sp>
      <p:sp>
        <p:nvSpPr>
          <p:cNvPr id="11" name="Shape 9"/>
          <p:cNvSpPr/>
          <p:nvPr/>
        </p:nvSpPr>
        <p:spPr>
          <a:xfrm>
            <a:off x="971550" y="2207895"/>
            <a:ext cx="16344900" cy="466725"/>
          </a:xfrm>
          <a:prstGeom prst="rect">
            <a:avLst/>
          </a:prstGeom>
          <a:solidFill>
            <a:srgbClr val="F3F5FB"/>
          </a:solidFill>
          <a:ln/>
        </p:spPr>
      </p:sp>
      <p:sp>
        <p:nvSpPr>
          <p:cNvPr id="12" name="Shape 10"/>
          <p:cNvSpPr/>
          <p:nvPr/>
        </p:nvSpPr>
        <p:spPr>
          <a:xfrm>
            <a:off x="971550" y="2665095"/>
            <a:ext cx="16344900" cy="9525"/>
          </a:xfrm>
          <a:prstGeom prst="rect">
            <a:avLst/>
          </a:prstGeom>
          <a:solidFill>
            <a:srgbClr val="E6E8F0"/>
          </a:solidFill>
          <a:ln/>
        </p:spPr>
      </p:sp>
      <p:sp>
        <p:nvSpPr>
          <p:cNvPr id="13" name="Shape 11"/>
          <p:cNvSpPr/>
          <p:nvPr/>
        </p:nvSpPr>
        <p:spPr>
          <a:xfrm>
            <a:off x="1143000" y="2374583"/>
            <a:ext cx="123825" cy="123825"/>
          </a:xfrm>
          <a:prstGeom prst="ellipse">
            <a:avLst/>
          </a:prstGeom>
          <a:solidFill>
            <a:srgbClr val="FF5F57"/>
          </a:solidFill>
          <a:ln/>
        </p:spPr>
      </p:sp>
      <p:sp>
        <p:nvSpPr>
          <p:cNvPr id="14" name="Shape 12"/>
          <p:cNvSpPr/>
          <p:nvPr/>
        </p:nvSpPr>
        <p:spPr>
          <a:xfrm>
            <a:off x="1343025" y="2374583"/>
            <a:ext cx="123825" cy="123825"/>
          </a:xfrm>
          <a:prstGeom prst="ellipse">
            <a:avLst/>
          </a:prstGeom>
          <a:solidFill>
            <a:srgbClr val="FEBC2E"/>
          </a:solidFill>
          <a:ln/>
        </p:spPr>
      </p:sp>
      <p:sp>
        <p:nvSpPr>
          <p:cNvPr id="15" name="Shape 13"/>
          <p:cNvSpPr/>
          <p:nvPr/>
        </p:nvSpPr>
        <p:spPr>
          <a:xfrm>
            <a:off x="1543050" y="2374583"/>
            <a:ext cx="123825" cy="123825"/>
          </a:xfrm>
          <a:prstGeom prst="ellipse">
            <a:avLst/>
          </a:prstGeom>
          <a:solidFill>
            <a:srgbClr val="28C840"/>
          </a:solidFill>
          <a:ln/>
        </p:spPr>
      </p:sp>
      <p:sp>
        <p:nvSpPr>
          <p:cNvPr id="16" name="Shape 14"/>
          <p:cNvSpPr/>
          <p:nvPr/>
        </p:nvSpPr>
        <p:spPr>
          <a:xfrm>
            <a:off x="1914525" y="2284095"/>
            <a:ext cx="15230475" cy="304800"/>
          </a:xfrm>
          <a:prstGeom prst="roundRect">
            <a:avLst>
              <a:gd name="adj" fmla="val 25000"/>
            </a:avLst>
          </a:prstGeom>
          <a:solidFill>
            <a:srgbClr val="FFFFFF"/>
          </a:solidFill>
          <a:ln w="9525">
            <a:solidFill>
              <a:srgbClr val="E6E8F0"/>
            </a:solidFill>
            <a:prstDash val="solid"/>
          </a:ln>
        </p:spPr>
      </p:sp>
      <p:sp>
        <p:nvSpPr>
          <p:cNvPr id="17" name="Text 15"/>
          <p:cNvSpPr/>
          <p:nvPr/>
        </p:nvSpPr>
        <p:spPr>
          <a:xfrm>
            <a:off x="2057400" y="2293620"/>
            <a:ext cx="15401639" cy="323850"/>
          </a:xfrm>
          <a:prstGeom prst="rect">
            <a:avLst/>
          </a:prstGeom>
          <a:noFill/>
          <a:ln/>
        </p:spPr>
        <p:txBody>
          <a:bodyPr wrap="square" lIns="25400" tIns="25400" rIns="25400" bIns="25400" rtlCol="0" anchor="ctr">
            <a:normAutofit/>
          </a:bodyPr>
          <a:lstStyle/>
          <a:p>
            <a:pPr marL="0" indent="0" algn="l">
              <a:buNone/>
            </a:pPr>
            <a:r>
              <a:rPr lang="en-US" sz="1200" dirty="0">
                <a:solidFill>
                  <a:srgbClr val="7A8099"/>
                </a:solidFill>
                <a:latin typeface="Consolas" pitchFamily="34" charset="0"/>
                <a:ea typeface="Consolas" pitchFamily="34" charset="-122"/>
                <a:cs typeface="Consolas" pitchFamily="34" charset="-120"/>
              </a:rPr>
              <a:t>prescription-ocr.app</a:t>
            </a:r>
            <a:endParaRPr lang="en-US" sz="1200" dirty="0"/>
          </a:p>
        </p:txBody>
      </p:sp>
      <p:sp>
        <p:nvSpPr>
          <p:cNvPr id="18" name="Shape 16"/>
          <p:cNvSpPr/>
          <p:nvPr/>
        </p:nvSpPr>
        <p:spPr>
          <a:xfrm>
            <a:off x="971550" y="2674620"/>
            <a:ext cx="16344900" cy="7239000"/>
          </a:xfrm>
          <a:prstGeom prst="rect">
            <a:avLst/>
          </a:prstGeom>
          <a:solidFill>
            <a:srgbClr val="FFFFFF"/>
          </a:solidFill>
          <a:ln/>
        </p:spPr>
      </p:sp>
      <p:sp>
        <p:nvSpPr>
          <p:cNvPr id="19" name="Text 17"/>
          <p:cNvSpPr/>
          <p:nvPr/>
        </p:nvSpPr>
        <p:spPr>
          <a:xfrm>
            <a:off x="7608252" y="4274820"/>
            <a:ext cx="3163640" cy="438150"/>
          </a:xfrm>
          <a:prstGeom prst="rect">
            <a:avLst/>
          </a:prstGeom>
          <a:noFill/>
          <a:ln/>
        </p:spPr>
        <p:txBody>
          <a:bodyPr wrap="square" lIns="25400" tIns="25400" rIns="25400" bIns="25400" rtlCol="0" anchor="t">
            <a:normAutofit/>
          </a:bodyPr>
          <a:lstStyle/>
          <a:p>
            <a:pPr marL="0" indent="0" algn="l">
              <a:buNone/>
            </a:pPr>
            <a:r>
              <a:rPr lang="en-US" sz="2250" b="1" dirty="0">
                <a:solidFill>
                  <a:srgbClr val="172144"/>
                </a:solidFill>
                <a:latin typeface="Century Gothic" pitchFamily="34" charset="0"/>
                <a:ea typeface="Century Gothic" pitchFamily="34" charset="-122"/>
                <a:cs typeface="Century Gothic" pitchFamily="34" charset="-120"/>
              </a:rPr>
              <a:t>Upload a prescription</a:t>
            </a:r>
            <a:endParaRPr lang="en-US" sz="2250" dirty="0"/>
          </a:p>
        </p:txBody>
      </p:sp>
      <p:sp>
        <p:nvSpPr>
          <p:cNvPr id="20" name="Text 18"/>
          <p:cNvSpPr/>
          <p:nvPr/>
        </p:nvSpPr>
        <p:spPr>
          <a:xfrm>
            <a:off x="7252970" y="4751070"/>
            <a:ext cx="3895358" cy="285750"/>
          </a:xfrm>
          <a:prstGeom prst="rect">
            <a:avLst/>
          </a:prstGeom>
          <a:noFill/>
          <a:ln/>
        </p:spPr>
        <p:txBody>
          <a:bodyPr wrap="square" lIns="25400" tIns="25400" rIns="25400" bIns="25400" rtlCol="0" anchor="t">
            <a:normAutofit/>
          </a:bodyPr>
          <a:lstStyle/>
          <a:p>
            <a:pPr marL="0" indent="0" algn="l">
              <a:buNone/>
            </a:pPr>
            <a:r>
              <a:rPr lang="en-US" sz="1500" dirty="0">
                <a:solidFill>
                  <a:srgbClr val="7A8099"/>
                </a:solidFill>
                <a:latin typeface="Calibri" pitchFamily="34" charset="0"/>
                <a:ea typeface="Calibri" pitchFamily="34" charset="-122"/>
                <a:cs typeface="Calibri" pitchFamily="34" charset="-120"/>
              </a:rPr>
              <a:t>Drop your image, paste a URL, or click to browse.</a:t>
            </a:r>
            <a:endParaRPr lang="en-US" sz="1500" dirty="0"/>
          </a:p>
        </p:txBody>
      </p:sp>
      <p:sp>
        <p:nvSpPr>
          <p:cNvPr id="21" name="Shape 19"/>
          <p:cNvSpPr/>
          <p:nvPr/>
        </p:nvSpPr>
        <p:spPr>
          <a:xfrm>
            <a:off x="2882265" y="5227320"/>
            <a:ext cx="12523470" cy="2343150"/>
          </a:xfrm>
          <a:prstGeom prst="roundRect">
            <a:avLst>
              <a:gd name="adj" fmla="val 7317"/>
            </a:avLst>
          </a:prstGeom>
          <a:solidFill>
            <a:srgbClr val="EFF8FE"/>
          </a:solidFill>
          <a:ln w="28575">
            <a:solidFill>
              <a:srgbClr val="3BC8F1"/>
            </a:solidFill>
            <a:prstDash val="dash"/>
          </a:ln>
        </p:spPr>
      </p:sp>
      <p:sp>
        <p:nvSpPr>
          <p:cNvPr id="22" name="Shape 20"/>
          <p:cNvSpPr/>
          <p:nvPr/>
        </p:nvSpPr>
        <p:spPr>
          <a:xfrm>
            <a:off x="8858250" y="5789295"/>
            <a:ext cx="571500" cy="571500"/>
          </a:xfrm>
          <a:prstGeom prst="roundRect">
            <a:avLst>
              <a:gd name="adj" fmla="val 23333"/>
            </a:avLst>
          </a:prstGeom>
          <a:solidFill>
            <a:srgbClr val="3BC8F1"/>
          </a:solidFill>
          <a:ln/>
        </p:spPr>
      </p:sp>
      <p:sp>
        <p:nvSpPr>
          <p:cNvPr id="23" name="Text 21"/>
          <p:cNvSpPr/>
          <p:nvPr/>
        </p:nvSpPr>
        <p:spPr>
          <a:xfrm>
            <a:off x="8820150" y="5789295"/>
            <a:ext cx="647700" cy="6096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Century Gothic" pitchFamily="34" charset="0"/>
                <a:ea typeface="Century Gothic" pitchFamily="34" charset="-122"/>
                <a:cs typeface="Century Gothic" pitchFamily="34" charset="-120"/>
              </a:rPr>
              <a:t>↑</a:t>
            </a:r>
            <a:endParaRPr lang="en-US" sz="1800" dirty="0"/>
          </a:p>
        </p:txBody>
      </p:sp>
      <p:sp>
        <p:nvSpPr>
          <p:cNvPr id="24" name="Text 22"/>
          <p:cNvSpPr/>
          <p:nvPr/>
        </p:nvSpPr>
        <p:spPr>
          <a:xfrm>
            <a:off x="7801610" y="6436995"/>
            <a:ext cx="2765160" cy="333375"/>
          </a:xfrm>
          <a:prstGeom prst="rect">
            <a:avLst/>
          </a:prstGeom>
          <a:noFill/>
          <a:ln/>
        </p:spPr>
        <p:txBody>
          <a:bodyPr wrap="square" lIns="25400" tIns="25400" rIns="25400" bIns="25400" rtlCol="0" anchor="t">
            <a:normAutofit fontScale="92500"/>
          </a:bodyPr>
          <a:lstStyle/>
          <a:p>
            <a:pPr marL="0" indent="0" algn="l">
              <a:buNone/>
            </a:pPr>
            <a:r>
              <a:rPr lang="en-US" sz="1650" dirty="0">
                <a:solidFill>
                  <a:srgbClr val="172144"/>
                </a:solidFill>
                <a:latin typeface="Century Gothic" pitchFamily="34" charset="0"/>
                <a:ea typeface="Century Gothic" pitchFamily="34" charset="-122"/>
                <a:cs typeface="Century Gothic" pitchFamily="34" charset="-120"/>
              </a:rPr>
              <a:t>Drag &amp; drop an image here</a:t>
            </a:r>
            <a:endParaRPr lang="en-US" sz="1650" dirty="0"/>
          </a:p>
        </p:txBody>
      </p:sp>
      <p:sp>
        <p:nvSpPr>
          <p:cNvPr id="25" name="Text 23"/>
          <p:cNvSpPr/>
          <p:nvPr/>
        </p:nvSpPr>
        <p:spPr>
          <a:xfrm>
            <a:off x="7613015" y="6808470"/>
            <a:ext cx="3153666" cy="238125"/>
          </a:xfrm>
          <a:prstGeom prst="rect">
            <a:avLst/>
          </a:prstGeom>
          <a:noFill/>
          <a:ln/>
        </p:spPr>
        <p:txBody>
          <a:bodyPr wrap="square" lIns="25400" tIns="25400" rIns="25400" bIns="25400" rtlCol="0" anchor="t">
            <a:normAutofit/>
          </a:bodyPr>
          <a:lstStyle/>
          <a:p>
            <a:pPr marL="0" indent="0" algn="l">
              <a:buNone/>
            </a:pPr>
            <a:r>
              <a:rPr lang="en-US" sz="1200" dirty="0">
                <a:solidFill>
                  <a:srgbClr val="7A8099"/>
                </a:solidFill>
                <a:latin typeface="Calibri" pitchFamily="34" charset="0"/>
                <a:ea typeface="Calibri" pitchFamily="34" charset="-122"/>
                <a:cs typeface="Calibri" pitchFamily="34" charset="-120"/>
              </a:rPr>
              <a:t>Supported formats: JPG · PNG · PDF · up to 10 MB</a:t>
            </a:r>
            <a:endParaRPr lang="en-US" sz="1200" dirty="0"/>
          </a:p>
        </p:txBody>
      </p:sp>
      <p:sp>
        <p:nvSpPr>
          <p:cNvPr id="26" name="Shape 24"/>
          <p:cNvSpPr/>
          <p:nvPr/>
        </p:nvSpPr>
        <p:spPr>
          <a:xfrm>
            <a:off x="8325485" y="7780020"/>
            <a:ext cx="1636871" cy="533400"/>
          </a:xfrm>
          <a:prstGeom prst="roundRect">
            <a:avLst>
              <a:gd name="adj" fmla="val 17857"/>
            </a:avLst>
          </a:prstGeom>
          <a:solidFill>
            <a:srgbClr val="172144"/>
          </a:solidFill>
          <a:ln/>
        </p:spPr>
      </p:sp>
      <p:sp>
        <p:nvSpPr>
          <p:cNvPr id="27" name="Text 25"/>
          <p:cNvSpPr/>
          <p:nvPr/>
        </p:nvSpPr>
        <p:spPr>
          <a:xfrm>
            <a:off x="8573135" y="7913370"/>
            <a:ext cx="1217771" cy="304800"/>
          </a:xfrm>
          <a:prstGeom prst="rect">
            <a:avLst/>
          </a:prstGeom>
          <a:noFill/>
          <a:ln/>
        </p:spPr>
        <p:txBody>
          <a:bodyPr wrap="square" lIns="25400" tIns="25400" rIns="25400" bIns="25400" rtlCol="0" anchor="t">
            <a:normAutofit/>
          </a:bodyPr>
          <a:lstStyle/>
          <a:p>
            <a:pPr marL="0" indent="0" algn="l">
              <a:buNone/>
            </a:pPr>
            <a:r>
              <a:rPr lang="en-US" sz="1500" b="1" dirty="0">
                <a:solidFill>
                  <a:srgbClr val="FFFFFF"/>
                </a:solidFill>
                <a:latin typeface="Century Gothic" pitchFamily="34" charset="0"/>
                <a:ea typeface="Century Gothic" pitchFamily="34" charset="-122"/>
                <a:cs typeface="Century Gothic" pitchFamily="34" charset="-120"/>
              </a:rPr>
              <a:t>Browse files</a:t>
            </a:r>
            <a:endParaRPr lang="en-US" sz="1500" dirty="0"/>
          </a:p>
        </p:txBody>
      </p:sp>
      <p:sp>
        <p:nvSpPr>
          <p:cNvPr id="28" name="Shape 26"/>
          <p:cNvSpPr/>
          <p:nvPr/>
        </p:nvSpPr>
        <p:spPr>
          <a:xfrm>
            <a:off x="7180262" y="5177790"/>
            <a:ext cx="1295718" cy="438150"/>
          </a:xfrm>
          <a:prstGeom prst="roundRect">
            <a:avLst>
              <a:gd name="adj" fmla="val 21739"/>
            </a:avLst>
          </a:prstGeom>
          <a:solidFill>
            <a:srgbClr val="3BC8F1"/>
          </a:solidFill>
          <a:ln/>
          <a:effectLst>
            <a:outerShdw blurRad="152400" dist="57150" dir="5400000" algn="bl" rotWithShape="0">
              <a:srgbClr val="000000">
                <a:alpha val="25000"/>
              </a:srgbClr>
            </a:outerShdw>
          </a:effectLst>
        </p:spPr>
      </p:sp>
      <p:sp>
        <p:nvSpPr>
          <p:cNvPr id="29" name="Text 27"/>
          <p:cNvSpPr/>
          <p:nvPr/>
        </p:nvSpPr>
        <p:spPr>
          <a:xfrm>
            <a:off x="7313612" y="5273040"/>
            <a:ext cx="1105218"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172144"/>
                </a:solidFill>
                <a:latin typeface="Century Gothic" pitchFamily="34" charset="0"/>
                <a:ea typeface="Century Gothic" pitchFamily="34" charset="-122"/>
                <a:cs typeface="Century Gothic" pitchFamily="34" charset="-120"/>
              </a:rPr>
              <a:t>Drag &amp; drop</a:t>
            </a:r>
            <a:endParaRPr lang="en-US" sz="1350" dirty="0"/>
          </a:p>
        </p:txBody>
      </p:sp>
      <p:sp>
        <p:nvSpPr>
          <p:cNvPr id="30" name="Shape 28"/>
          <p:cNvSpPr/>
          <p:nvPr/>
        </p:nvSpPr>
        <p:spPr>
          <a:xfrm>
            <a:off x="8489315" y="6343650"/>
            <a:ext cx="1885950" cy="438150"/>
          </a:xfrm>
          <a:prstGeom prst="roundRect">
            <a:avLst>
              <a:gd name="adj" fmla="val 21739"/>
            </a:avLst>
          </a:prstGeom>
          <a:solidFill>
            <a:srgbClr val="FF8E38"/>
          </a:solidFill>
          <a:ln/>
          <a:effectLst>
            <a:outerShdw blurRad="152400" dist="57150" dir="5400000" algn="bl" rotWithShape="0">
              <a:srgbClr val="000000">
                <a:alpha val="25000"/>
              </a:srgbClr>
            </a:outerShdw>
          </a:effectLst>
        </p:spPr>
      </p:sp>
      <p:sp>
        <p:nvSpPr>
          <p:cNvPr id="31" name="Text 29"/>
          <p:cNvSpPr/>
          <p:nvPr/>
        </p:nvSpPr>
        <p:spPr>
          <a:xfrm>
            <a:off x="8622665" y="6438900"/>
            <a:ext cx="1695450"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FFFFFF"/>
                </a:solidFill>
                <a:latin typeface="Century Gothic" pitchFamily="34" charset="0"/>
                <a:ea typeface="Century Gothic" pitchFamily="34" charset="-122"/>
                <a:cs typeface="Century Gothic" pitchFamily="34" charset="-120"/>
              </a:rPr>
              <a:t>Supported formats</a:t>
            </a:r>
            <a:endParaRPr lang="en-US" sz="1350" dirty="0"/>
          </a:p>
        </p:txBody>
      </p:sp>
      <p:sp>
        <p:nvSpPr>
          <p:cNvPr id="32" name="Text 30"/>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3" name="Text 31"/>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27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34">
        <p159:morph option="byObject"/>
      </p:transition>
    </mc:Choice>
    <mc:Fallback>
      <p:transition spd="slow" advTm="534">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F8E38"/>
                </a:solidFill>
                <a:latin typeface="Century Gothic" pitchFamily="34" charset="0"/>
                <a:ea typeface="Century Gothic" pitchFamily="34" charset="-122"/>
                <a:cs typeface="Century Gothic" pitchFamily="34" charset="-120"/>
              </a:rPr>
              <a:t>ACT 4 · LIVE DEMO</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Results screen</a:t>
            </a:r>
            <a:endParaRPr lang="en-US" sz="3600" dirty="0"/>
          </a:p>
        </p:txBody>
      </p:sp>
      <p:sp>
        <p:nvSpPr>
          <p:cNvPr id="9" name="Shape 7"/>
          <p:cNvSpPr/>
          <p:nvPr/>
        </p:nvSpPr>
        <p:spPr>
          <a:xfrm>
            <a:off x="952500" y="2188845"/>
            <a:ext cx="16383000" cy="6496050"/>
          </a:xfrm>
          <a:prstGeom prst="roundRect">
            <a:avLst>
              <a:gd name="adj" fmla="val 2639"/>
            </a:avLst>
          </a:prstGeom>
          <a:solidFill>
            <a:srgbClr val="0F1730"/>
          </a:solidFill>
          <a:ln w="9525">
            <a:solidFill>
              <a:srgbClr val="E6E8F0"/>
            </a:solidFill>
            <a:prstDash val="solid"/>
          </a:ln>
        </p:spPr>
      </p:sp>
      <p:sp>
        <p:nvSpPr>
          <p:cNvPr id="10" name="Shape 8"/>
          <p:cNvSpPr/>
          <p:nvPr/>
        </p:nvSpPr>
        <p:spPr>
          <a:xfrm>
            <a:off x="962025" y="2198370"/>
            <a:ext cx="16363950" cy="6496050"/>
          </a:xfrm>
          <a:prstGeom prst="roundRect">
            <a:avLst>
              <a:gd name="adj" fmla="val 2639"/>
            </a:avLst>
          </a:prstGeom>
          <a:solidFill>
            <a:srgbClr val="FFFFFF"/>
          </a:solidFill>
          <a:ln w="9525">
            <a:solidFill>
              <a:srgbClr val="E6E8F0"/>
            </a:solidFill>
            <a:prstDash val="solid"/>
          </a:ln>
          <a:effectLst>
            <a:outerShdw blurRad="571500" dist="228600" dir="5400000" algn="bl" rotWithShape="0">
              <a:srgbClr val="0F1730">
                <a:alpha val="12000"/>
              </a:srgbClr>
            </a:outerShdw>
          </a:effectLst>
        </p:spPr>
      </p:sp>
      <p:sp>
        <p:nvSpPr>
          <p:cNvPr id="11" name="Shape 9"/>
          <p:cNvSpPr/>
          <p:nvPr/>
        </p:nvSpPr>
        <p:spPr>
          <a:xfrm>
            <a:off x="971550" y="2207895"/>
            <a:ext cx="16344900" cy="466725"/>
          </a:xfrm>
          <a:prstGeom prst="rect">
            <a:avLst/>
          </a:prstGeom>
          <a:solidFill>
            <a:srgbClr val="F3F5FB"/>
          </a:solidFill>
          <a:ln/>
        </p:spPr>
      </p:sp>
      <p:sp>
        <p:nvSpPr>
          <p:cNvPr id="12" name="Shape 10"/>
          <p:cNvSpPr/>
          <p:nvPr/>
        </p:nvSpPr>
        <p:spPr>
          <a:xfrm>
            <a:off x="971550" y="2665095"/>
            <a:ext cx="16344900" cy="9525"/>
          </a:xfrm>
          <a:prstGeom prst="rect">
            <a:avLst/>
          </a:prstGeom>
          <a:solidFill>
            <a:srgbClr val="E6E8F0"/>
          </a:solidFill>
          <a:ln/>
        </p:spPr>
      </p:sp>
      <p:sp>
        <p:nvSpPr>
          <p:cNvPr id="13" name="Shape 11"/>
          <p:cNvSpPr/>
          <p:nvPr/>
        </p:nvSpPr>
        <p:spPr>
          <a:xfrm>
            <a:off x="1143000" y="2374583"/>
            <a:ext cx="123825" cy="123825"/>
          </a:xfrm>
          <a:prstGeom prst="ellipse">
            <a:avLst/>
          </a:prstGeom>
          <a:solidFill>
            <a:srgbClr val="FF5F57"/>
          </a:solidFill>
          <a:ln/>
        </p:spPr>
      </p:sp>
      <p:sp>
        <p:nvSpPr>
          <p:cNvPr id="14" name="Shape 12"/>
          <p:cNvSpPr/>
          <p:nvPr/>
        </p:nvSpPr>
        <p:spPr>
          <a:xfrm>
            <a:off x="1343025" y="2374583"/>
            <a:ext cx="123825" cy="123825"/>
          </a:xfrm>
          <a:prstGeom prst="ellipse">
            <a:avLst/>
          </a:prstGeom>
          <a:solidFill>
            <a:srgbClr val="FEBC2E"/>
          </a:solidFill>
          <a:ln/>
        </p:spPr>
      </p:sp>
      <p:sp>
        <p:nvSpPr>
          <p:cNvPr id="15" name="Shape 13"/>
          <p:cNvSpPr/>
          <p:nvPr/>
        </p:nvSpPr>
        <p:spPr>
          <a:xfrm>
            <a:off x="1543050" y="2374583"/>
            <a:ext cx="123825" cy="123825"/>
          </a:xfrm>
          <a:prstGeom prst="ellipse">
            <a:avLst/>
          </a:prstGeom>
          <a:solidFill>
            <a:srgbClr val="28C840"/>
          </a:solidFill>
          <a:ln/>
        </p:spPr>
      </p:sp>
      <p:sp>
        <p:nvSpPr>
          <p:cNvPr id="16" name="Shape 14"/>
          <p:cNvSpPr/>
          <p:nvPr/>
        </p:nvSpPr>
        <p:spPr>
          <a:xfrm>
            <a:off x="1914525" y="2284095"/>
            <a:ext cx="15230475" cy="304800"/>
          </a:xfrm>
          <a:prstGeom prst="roundRect">
            <a:avLst>
              <a:gd name="adj" fmla="val 25000"/>
            </a:avLst>
          </a:prstGeom>
          <a:solidFill>
            <a:srgbClr val="FFFFFF"/>
          </a:solidFill>
          <a:ln w="9525">
            <a:solidFill>
              <a:srgbClr val="E6E8F0"/>
            </a:solidFill>
            <a:prstDash val="solid"/>
          </a:ln>
        </p:spPr>
      </p:sp>
      <p:sp>
        <p:nvSpPr>
          <p:cNvPr id="17" name="Text 15"/>
          <p:cNvSpPr/>
          <p:nvPr/>
        </p:nvSpPr>
        <p:spPr>
          <a:xfrm>
            <a:off x="2057400" y="2293620"/>
            <a:ext cx="15401639" cy="323850"/>
          </a:xfrm>
          <a:prstGeom prst="rect">
            <a:avLst/>
          </a:prstGeom>
          <a:noFill/>
          <a:ln/>
        </p:spPr>
        <p:txBody>
          <a:bodyPr wrap="square" lIns="25400" tIns="25400" rIns="25400" bIns="25400" rtlCol="0" anchor="ctr">
            <a:normAutofit/>
          </a:bodyPr>
          <a:lstStyle/>
          <a:p>
            <a:pPr marL="0" indent="0" algn="l">
              <a:buNone/>
            </a:pPr>
            <a:r>
              <a:rPr lang="en-US" sz="1200" dirty="0">
                <a:solidFill>
                  <a:srgbClr val="7A8099"/>
                </a:solidFill>
                <a:latin typeface="Consolas" pitchFamily="34" charset="0"/>
                <a:ea typeface="Consolas" pitchFamily="34" charset="-122"/>
                <a:cs typeface="Consolas" pitchFamily="34" charset="-120"/>
              </a:rPr>
              <a:t>prescription-ocr.app/result/3f9</a:t>
            </a:r>
            <a:endParaRPr lang="en-US" sz="1200" dirty="0"/>
          </a:p>
        </p:txBody>
      </p:sp>
      <p:sp>
        <p:nvSpPr>
          <p:cNvPr id="18" name="Shape 16"/>
          <p:cNvSpPr/>
          <p:nvPr/>
        </p:nvSpPr>
        <p:spPr>
          <a:xfrm>
            <a:off x="971550" y="2674620"/>
            <a:ext cx="16344900" cy="6477000"/>
          </a:xfrm>
          <a:prstGeom prst="rect">
            <a:avLst/>
          </a:prstGeom>
          <a:solidFill>
            <a:srgbClr val="FFFFFF"/>
          </a:solidFill>
          <a:ln/>
        </p:spPr>
      </p:sp>
      <p:sp>
        <p:nvSpPr>
          <p:cNvPr id="19" name="Shape 17"/>
          <p:cNvSpPr/>
          <p:nvPr/>
        </p:nvSpPr>
        <p:spPr>
          <a:xfrm>
            <a:off x="971550" y="2674620"/>
            <a:ext cx="7783354" cy="6477000"/>
          </a:xfrm>
          <a:prstGeom prst="rect">
            <a:avLst/>
          </a:prstGeom>
          <a:solidFill>
            <a:srgbClr val="F7F8FC"/>
          </a:solidFill>
          <a:ln/>
        </p:spPr>
      </p:sp>
      <p:sp>
        <p:nvSpPr>
          <p:cNvPr id="20" name="Shape 18"/>
          <p:cNvSpPr/>
          <p:nvPr/>
        </p:nvSpPr>
        <p:spPr>
          <a:xfrm>
            <a:off x="8745379" y="2674620"/>
            <a:ext cx="9525" cy="6477000"/>
          </a:xfrm>
          <a:prstGeom prst="rect">
            <a:avLst/>
          </a:prstGeom>
          <a:solidFill>
            <a:srgbClr val="E6E8F0"/>
          </a:solidFill>
          <a:ln/>
        </p:spPr>
      </p:sp>
      <p:sp>
        <p:nvSpPr>
          <p:cNvPr id="21" name="Text 19"/>
          <p:cNvSpPr/>
          <p:nvPr/>
        </p:nvSpPr>
        <p:spPr>
          <a:xfrm>
            <a:off x="1257300" y="2960370"/>
            <a:ext cx="7418399" cy="285750"/>
          </a:xfrm>
          <a:prstGeom prst="rect">
            <a:avLst/>
          </a:prstGeom>
          <a:noFill/>
          <a:ln/>
        </p:spPr>
        <p:txBody>
          <a:bodyPr wrap="square" lIns="25400" tIns="25400" rIns="25400" bIns="25400" rtlCol="0" anchor="t">
            <a:normAutofit/>
          </a:bodyPr>
          <a:lstStyle/>
          <a:p>
            <a:pPr marL="0" indent="0" algn="l">
              <a:buNone/>
            </a:pPr>
            <a:r>
              <a:rPr lang="en-US" sz="1350" b="1" kern="0" spc="135" dirty="0">
                <a:solidFill>
                  <a:srgbClr val="7A8099"/>
                </a:solidFill>
                <a:latin typeface="Century Gothic" pitchFamily="34" charset="0"/>
                <a:ea typeface="Century Gothic" pitchFamily="34" charset="-122"/>
                <a:cs typeface="Century Gothic" pitchFamily="34" charset="-120"/>
              </a:rPr>
              <a:t>IMAGE PREVIEW</a:t>
            </a:r>
            <a:endParaRPr lang="en-US" sz="1350" dirty="0"/>
          </a:p>
        </p:txBody>
      </p:sp>
      <p:sp>
        <p:nvSpPr>
          <p:cNvPr id="22" name="Shape 20"/>
          <p:cNvSpPr/>
          <p:nvPr/>
        </p:nvSpPr>
        <p:spPr>
          <a:xfrm>
            <a:off x="1257300" y="3322320"/>
            <a:ext cx="7202329" cy="3143250"/>
          </a:xfrm>
          <a:prstGeom prst="roundRect">
            <a:avLst>
              <a:gd name="adj" fmla="val 3636"/>
            </a:avLst>
          </a:prstGeom>
          <a:solidFill>
            <a:srgbClr val="FFFFFF"/>
          </a:solidFill>
          <a:ln w="9525">
            <a:solidFill>
              <a:srgbClr val="E6E8F0"/>
            </a:solidFill>
            <a:prstDash val="solid"/>
          </a:ln>
        </p:spPr>
        <p:txBody>
          <a:bodyPr/>
          <a:lstStyle/>
          <a:p>
            <a:endParaRPr lang="fr-DZ" dirty="0"/>
          </a:p>
        </p:txBody>
      </p:sp>
      <p:sp>
        <p:nvSpPr>
          <p:cNvPr id="23" name="Text 21"/>
          <p:cNvSpPr/>
          <p:nvPr/>
        </p:nvSpPr>
        <p:spPr>
          <a:xfrm>
            <a:off x="4155122" y="4010660"/>
            <a:ext cx="1398905"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dirty="0">
                <a:solidFill>
                  <a:srgbClr val="222222"/>
                </a:solidFill>
                <a:latin typeface="Caveat" pitchFamily="34" charset="0"/>
                <a:ea typeface="Caveat" pitchFamily="34" charset="-122"/>
                <a:cs typeface="Caveat" pitchFamily="34" charset="-120"/>
              </a:rPr>
              <a:t>Riverside Clinic</a:t>
            </a:r>
            <a:endParaRPr lang="en-US" sz="1800" dirty="0"/>
          </a:p>
        </p:txBody>
      </p:sp>
      <p:sp>
        <p:nvSpPr>
          <p:cNvPr id="24" name="Text 22"/>
          <p:cNvSpPr/>
          <p:nvPr/>
        </p:nvSpPr>
        <p:spPr>
          <a:xfrm>
            <a:off x="4027016" y="4366260"/>
            <a:ext cx="1878965"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dirty="0">
                <a:solidFill>
                  <a:srgbClr val="222222"/>
                </a:solidFill>
                <a:latin typeface="Caveat" pitchFamily="34" charset="0"/>
                <a:ea typeface="Caveat" pitchFamily="34" charset="-122"/>
                <a:cs typeface="Caveat" pitchFamily="34" charset="-120"/>
              </a:rPr>
              <a:t>Patient: J. Doe — 45</a:t>
            </a:r>
            <a:endParaRPr lang="en-US" sz="1800" dirty="0"/>
          </a:p>
        </p:txBody>
      </p:sp>
      <p:sp>
        <p:nvSpPr>
          <p:cNvPr id="25" name="Text 23"/>
          <p:cNvSpPr/>
          <p:nvPr/>
        </p:nvSpPr>
        <p:spPr>
          <a:xfrm>
            <a:off x="4077180" y="4774565"/>
            <a:ext cx="1778636"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dirty="0">
                <a:solidFill>
                  <a:srgbClr val="222222"/>
                </a:solidFill>
                <a:latin typeface="Caveat" pitchFamily="34" charset="0"/>
                <a:ea typeface="Caveat" pitchFamily="34" charset="-122"/>
                <a:cs typeface="Caveat" pitchFamily="34" charset="-120"/>
              </a:rPr>
              <a:t>Metformin 500 mg</a:t>
            </a:r>
            <a:endParaRPr lang="en-US" sz="1800" dirty="0"/>
          </a:p>
        </p:txBody>
      </p:sp>
      <p:sp>
        <p:nvSpPr>
          <p:cNvPr id="26" name="Text 24"/>
          <p:cNvSpPr/>
          <p:nvPr/>
        </p:nvSpPr>
        <p:spPr>
          <a:xfrm>
            <a:off x="4317127" y="5130165"/>
            <a:ext cx="1092200" cy="3810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222222"/>
                </a:solidFill>
                <a:latin typeface="Caveat" pitchFamily="34" charset="0"/>
                <a:ea typeface="Caveat" pitchFamily="34" charset="-122"/>
                <a:cs typeface="Caveat" pitchFamily="34" charset="-120"/>
              </a:rPr>
              <a:t>Twice daily</a:t>
            </a:r>
            <a:endParaRPr lang="en-US" sz="1800" dirty="0"/>
          </a:p>
        </p:txBody>
      </p:sp>
      <p:sp>
        <p:nvSpPr>
          <p:cNvPr id="27" name="Text 25"/>
          <p:cNvSpPr/>
          <p:nvPr/>
        </p:nvSpPr>
        <p:spPr>
          <a:xfrm>
            <a:off x="4222750" y="5522595"/>
            <a:ext cx="1263650"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dirty="0">
                <a:solidFill>
                  <a:srgbClr val="222222"/>
                </a:solidFill>
                <a:latin typeface="Caveat" pitchFamily="34" charset="0"/>
                <a:ea typeface="Caveat" pitchFamily="34" charset="-122"/>
                <a:cs typeface="Caveat" pitchFamily="34" charset="-120"/>
              </a:rPr>
              <a:t>— Dr. R. Patel</a:t>
            </a:r>
            <a:endParaRPr lang="en-US" sz="1800" dirty="0"/>
          </a:p>
        </p:txBody>
      </p:sp>
      <p:sp>
        <p:nvSpPr>
          <p:cNvPr id="28" name="Text 26"/>
          <p:cNvSpPr/>
          <p:nvPr/>
        </p:nvSpPr>
        <p:spPr>
          <a:xfrm>
            <a:off x="9040654" y="2960370"/>
            <a:ext cx="8229747" cy="285750"/>
          </a:xfrm>
          <a:prstGeom prst="rect">
            <a:avLst/>
          </a:prstGeom>
          <a:noFill/>
          <a:ln/>
        </p:spPr>
        <p:txBody>
          <a:bodyPr wrap="square" lIns="25400" tIns="25400" rIns="25400" bIns="25400" rtlCol="0" anchor="t">
            <a:normAutofit/>
          </a:bodyPr>
          <a:lstStyle/>
          <a:p>
            <a:pPr marL="0" indent="0" algn="l">
              <a:buNone/>
            </a:pPr>
            <a:r>
              <a:rPr lang="en-US" sz="1350" b="1" kern="0" spc="135" dirty="0">
                <a:solidFill>
                  <a:srgbClr val="7A8099"/>
                </a:solidFill>
                <a:latin typeface="Century Gothic" pitchFamily="34" charset="0"/>
                <a:ea typeface="Century Gothic" pitchFamily="34" charset="-122"/>
                <a:cs typeface="Century Gothic" pitchFamily="34" charset="-120"/>
              </a:rPr>
              <a:t>EXTRACTED LINES</a:t>
            </a:r>
            <a:endParaRPr lang="en-US" sz="1350" dirty="0"/>
          </a:p>
        </p:txBody>
      </p:sp>
      <p:sp>
        <p:nvSpPr>
          <p:cNvPr id="29" name="Shape 27"/>
          <p:cNvSpPr/>
          <p:nvPr/>
        </p:nvSpPr>
        <p:spPr>
          <a:xfrm>
            <a:off x="9040654" y="3322320"/>
            <a:ext cx="7990046" cy="723900"/>
          </a:xfrm>
          <a:prstGeom prst="roundRect">
            <a:avLst>
              <a:gd name="adj" fmla="val 13158"/>
            </a:avLst>
          </a:prstGeom>
          <a:solidFill>
            <a:srgbClr val="FFFFFF"/>
          </a:solidFill>
          <a:ln w="9525">
            <a:solidFill>
              <a:srgbClr val="E6E8F0"/>
            </a:solidFill>
            <a:prstDash val="solid"/>
          </a:ln>
        </p:spPr>
      </p:sp>
      <p:sp>
        <p:nvSpPr>
          <p:cNvPr id="30" name="Text 28"/>
          <p:cNvSpPr/>
          <p:nvPr/>
        </p:nvSpPr>
        <p:spPr>
          <a:xfrm>
            <a:off x="9202579" y="3465195"/>
            <a:ext cx="7896182" cy="228600"/>
          </a:xfrm>
          <a:prstGeom prst="rect">
            <a:avLst/>
          </a:prstGeom>
          <a:noFill/>
          <a:ln/>
        </p:spPr>
        <p:txBody>
          <a:bodyPr wrap="square" lIns="25400" tIns="25400" rIns="25400" bIns="25400" rtlCol="0" anchor="t">
            <a:normAutofit/>
          </a:bodyPr>
          <a:lstStyle/>
          <a:p>
            <a:pPr marL="0" indent="0" algn="l">
              <a:buNone/>
            </a:pPr>
            <a:r>
              <a:rPr lang="en-US" sz="1050" b="1" kern="0" spc="84" dirty="0">
                <a:solidFill>
                  <a:srgbClr val="172144"/>
                </a:solidFill>
                <a:latin typeface="Century Gothic" pitchFamily="34" charset="0"/>
                <a:ea typeface="Century Gothic" pitchFamily="34" charset="-122"/>
                <a:cs typeface="Century Gothic" pitchFamily="34" charset="-120"/>
              </a:rPr>
              <a:t>CLINIC</a:t>
            </a:r>
            <a:endParaRPr lang="en-US" sz="1050" dirty="0"/>
          </a:p>
        </p:txBody>
      </p:sp>
      <p:sp>
        <p:nvSpPr>
          <p:cNvPr id="31" name="Text 29"/>
          <p:cNvSpPr/>
          <p:nvPr/>
        </p:nvSpPr>
        <p:spPr>
          <a:xfrm>
            <a:off x="9202579" y="3693795"/>
            <a:ext cx="1727200" cy="247650"/>
          </a:xfrm>
          <a:prstGeom prst="rect">
            <a:avLst/>
          </a:prstGeom>
          <a:noFill/>
          <a:ln/>
        </p:spPr>
        <p:txBody>
          <a:bodyPr wrap="square" lIns="0" tIns="0" rIns="0" bIns="0" rtlCol="0" anchor="t">
            <a:normAutofit/>
          </a:bodyPr>
          <a:lstStyle/>
          <a:p>
            <a:pPr marL="0" indent="0" algn="l">
              <a:buNone/>
            </a:pPr>
            <a:r>
              <a:rPr lang="en-US" sz="1350" dirty="0">
                <a:solidFill>
                  <a:srgbClr val="3A4368"/>
                </a:solidFill>
                <a:latin typeface="Consolas" pitchFamily="34" charset="0"/>
                <a:ea typeface="Consolas" pitchFamily="34" charset="-122"/>
                <a:cs typeface="Consolas" pitchFamily="34" charset="-120"/>
              </a:rPr>
              <a:t>Riverside Clinic</a:t>
            </a:r>
            <a:endParaRPr lang="en-US" sz="1350" dirty="0"/>
          </a:p>
        </p:txBody>
      </p:sp>
      <p:sp>
        <p:nvSpPr>
          <p:cNvPr id="32" name="Shape 30"/>
          <p:cNvSpPr/>
          <p:nvPr/>
        </p:nvSpPr>
        <p:spPr>
          <a:xfrm>
            <a:off x="9040654" y="4122420"/>
            <a:ext cx="7990046" cy="723900"/>
          </a:xfrm>
          <a:prstGeom prst="roundRect">
            <a:avLst>
              <a:gd name="adj" fmla="val 13158"/>
            </a:avLst>
          </a:prstGeom>
          <a:solidFill>
            <a:srgbClr val="FFFFFF"/>
          </a:solidFill>
          <a:ln w="9525">
            <a:solidFill>
              <a:srgbClr val="E6E8F0"/>
            </a:solidFill>
            <a:prstDash val="solid"/>
          </a:ln>
        </p:spPr>
      </p:sp>
      <p:sp>
        <p:nvSpPr>
          <p:cNvPr id="33" name="Text 31"/>
          <p:cNvSpPr/>
          <p:nvPr/>
        </p:nvSpPr>
        <p:spPr>
          <a:xfrm>
            <a:off x="9202579" y="4265295"/>
            <a:ext cx="7896182" cy="228600"/>
          </a:xfrm>
          <a:prstGeom prst="rect">
            <a:avLst/>
          </a:prstGeom>
          <a:noFill/>
          <a:ln/>
        </p:spPr>
        <p:txBody>
          <a:bodyPr wrap="square" lIns="25400" tIns="25400" rIns="25400" bIns="25400" rtlCol="0" anchor="t">
            <a:normAutofit/>
          </a:bodyPr>
          <a:lstStyle/>
          <a:p>
            <a:pPr marL="0" indent="0" algn="l">
              <a:buNone/>
            </a:pPr>
            <a:r>
              <a:rPr lang="en-US" sz="1050" b="1" kern="0" spc="84" dirty="0">
                <a:solidFill>
                  <a:srgbClr val="172144"/>
                </a:solidFill>
                <a:latin typeface="Century Gothic" pitchFamily="34" charset="0"/>
                <a:ea typeface="Century Gothic" pitchFamily="34" charset="-122"/>
                <a:cs typeface="Century Gothic" pitchFamily="34" charset="-120"/>
              </a:rPr>
              <a:t>PATIENT</a:t>
            </a:r>
            <a:endParaRPr lang="en-US" sz="1050" dirty="0"/>
          </a:p>
        </p:txBody>
      </p:sp>
      <p:sp>
        <p:nvSpPr>
          <p:cNvPr id="34" name="Text 32"/>
          <p:cNvSpPr/>
          <p:nvPr/>
        </p:nvSpPr>
        <p:spPr>
          <a:xfrm>
            <a:off x="9202579" y="4493895"/>
            <a:ext cx="1520825" cy="247650"/>
          </a:xfrm>
          <a:prstGeom prst="rect">
            <a:avLst/>
          </a:prstGeom>
          <a:noFill/>
          <a:ln/>
        </p:spPr>
        <p:txBody>
          <a:bodyPr wrap="square" lIns="0" tIns="0" rIns="0" bIns="0" rtlCol="0" anchor="t">
            <a:normAutofit/>
          </a:bodyPr>
          <a:lstStyle/>
          <a:p>
            <a:pPr marL="0" indent="0" algn="l">
              <a:buNone/>
            </a:pPr>
            <a:r>
              <a:rPr lang="en-US" sz="1350" dirty="0">
                <a:solidFill>
                  <a:srgbClr val="3A4368"/>
                </a:solidFill>
                <a:latin typeface="Consolas" pitchFamily="34" charset="0"/>
                <a:ea typeface="Consolas" pitchFamily="34" charset="-122"/>
                <a:cs typeface="Consolas" pitchFamily="34" charset="-120"/>
              </a:rPr>
              <a:t>J. Doe, age 45</a:t>
            </a:r>
            <a:endParaRPr lang="en-US" sz="1350" dirty="0"/>
          </a:p>
        </p:txBody>
      </p:sp>
      <p:sp>
        <p:nvSpPr>
          <p:cNvPr id="35" name="Shape 33"/>
          <p:cNvSpPr/>
          <p:nvPr/>
        </p:nvSpPr>
        <p:spPr>
          <a:xfrm>
            <a:off x="9040654" y="4922520"/>
            <a:ext cx="7990046" cy="723900"/>
          </a:xfrm>
          <a:prstGeom prst="roundRect">
            <a:avLst>
              <a:gd name="adj" fmla="val 13158"/>
            </a:avLst>
          </a:prstGeom>
          <a:solidFill>
            <a:srgbClr val="FFFFFF"/>
          </a:solidFill>
          <a:ln w="9525">
            <a:solidFill>
              <a:srgbClr val="E6E8F0"/>
            </a:solidFill>
            <a:prstDash val="solid"/>
          </a:ln>
        </p:spPr>
      </p:sp>
      <p:sp>
        <p:nvSpPr>
          <p:cNvPr id="36" name="Text 34"/>
          <p:cNvSpPr/>
          <p:nvPr/>
        </p:nvSpPr>
        <p:spPr>
          <a:xfrm>
            <a:off x="9202579" y="5065395"/>
            <a:ext cx="7896182" cy="228600"/>
          </a:xfrm>
          <a:prstGeom prst="rect">
            <a:avLst/>
          </a:prstGeom>
          <a:noFill/>
          <a:ln/>
        </p:spPr>
        <p:txBody>
          <a:bodyPr wrap="square" lIns="25400" tIns="25400" rIns="25400" bIns="25400" rtlCol="0" anchor="t">
            <a:normAutofit/>
          </a:bodyPr>
          <a:lstStyle/>
          <a:p>
            <a:pPr marL="0" indent="0" algn="l">
              <a:buNone/>
            </a:pPr>
            <a:r>
              <a:rPr lang="en-US" sz="1050" b="1" kern="0" spc="84" dirty="0">
                <a:solidFill>
                  <a:srgbClr val="172144"/>
                </a:solidFill>
                <a:latin typeface="Century Gothic" pitchFamily="34" charset="0"/>
                <a:ea typeface="Century Gothic" pitchFamily="34" charset="-122"/>
                <a:cs typeface="Century Gothic" pitchFamily="34" charset="-120"/>
              </a:rPr>
              <a:t>MEDICATION</a:t>
            </a:r>
            <a:endParaRPr lang="en-US" sz="1050" dirty="0"/>
          </a:p>
        </p:txBody>
      </p:sp>
      <p:sp>
        <p:nvSpPr>
          <p:cNvPr id="37" name="Text 35"/>
          <p:cNvSpPr/>
          <p:nvPr/>
        </p:nvSpPr>
        <p:spPr>
          <a:xfrm>
            <a:off x="9202579" y="5293995"/>
            <a:ext cx="1727200" cy="247650"/>
          </a:xfrm>
          <a:prstGeom prst="rect">
            <a:avLst/>
          </a:prstGeom>
          <a:noFill/>
          <a:ln/>
        </p:spPr>
        <p:txBody>
          <a:bodyPr wrap="square" lIns="0" tIns="0" rIns="0" bIns="0" rtlCol="0" anchor="t">
            <a:normAutofit/>
          </a:bodyPr>
          <a:lstStyle/>
          <a:p>
            <a:pPr marL="0" indent="0" algn="l">
              <a:buNone/>
            </a:pPr>
            <a:r>
              <a:rPr lang="en-US" sz="1350" dirty="0">
                <a:solidFill>
                  <a:srgbClr val="3A4368"/>
                </a:solidFill>
                <a:latin typeface="Consolas" pitchFamily="34" charset="0"/>
                <a:ea typeface="Consolas" pitchFamily="34" charset="-122"/>
                <a:cs typeface="Consolas" pitchFamily="34" charset="-120"/>
              </a:rPr>
              <a:t>Metformin 500 mg</a:t>
            </a:r>
            <a:endParaRPr lang="en-US" sz="1350" dirty="0"/>
          </a:p>
        </p:txBody>
      </p:sp>
      <p:sp>
        <p:nvSpPr>
          <p:cNvPr id="38" name="Shape 36"/>
          <p:cNvSpPr/>
          <p:nvPr/>
        </p:nvSpPr>
        <p:spPr>
          <a:xfrm>
            <a:off x="9040654" y="5722620"/>
            <a:ext cx="7990046" cy="723900"/>
          </a:xfrm>
          <a:prstGeom prst="roundRect">
            <a:avLst>
              <a:gd name="adj" fmla="val 13158"/>
            </a:avLst>
          </a:prstGeom>
          <a:solidFill>
            <a:srgbClr val="FFFFFF"/>
          </a:solidFill>
          <a:ln w="9525">
            <a:solidFill>
              <a:srgbClr val="E6E8F0"/>
            </a:solidFill>
            <a:prstDash val="solid"/>
          </a:ln>
        </p:spPr>
      </p:sp>
      <p:sp>
        <p:nvSpPr>
          <p:cNvPr id="39" name="Text 37"/>
          <p:cNvSpPr/>
          <p:nvPr/>
        </p:nvSpPr>
        <p:spPr>
          <a:xfrm>
            <a:off x="9202579" y="5865495"/>
            <a:ext cx="7896182" cy="228600"/>
          </a:xfrm>
          <a:prstGeom prst="rect">
            <a:avLst/>
          </a:prstGeom>
          <a:noFill/>
          <a:ln/>
        </p:spPr>
        <p:txBody>
          <a:bodyPr wrap="square" lIns="25400" tIns="25400" rIns="25400" bIns="25400" rtlCol="0" anchor="t">
            <a:normAutofit/>
          </a:bodyPr>
          <a:lstStyle/>
          <a:p>
            <a:pPr marL="0" indent="0" algn="l">
              <a:buNone/>
            </a:pPr>
            <a:r>
              <a:rPr lang="en-US" sz="1050" b="1" kern="0" spc="84" dirty="0">
                <a:solidFill>
                  <a:srgbClr val="172144"/>
                </a:solidFill>
                <a:latin typeface="Century Gothic" pitchFamily="34" charset="0"/>
                <a:ea typeface="Century Gothic" pitchFamily="34" charset="-122"/>
                <a:cs typeface="Century Gothic" pitchFamily="34" charset="-120"/>
              </a:rPr>
              <a:t>FREQUENCY</a:t>
            </a:r>
            <a:endParaRPr lang="en-US" sz="1050" dirty="0"/>
          </a:p>
        </p:txBody>
      </p:sp>
      <p:sp>
        <p:nvSpPr>
          <p:cNvPr id="40" name="Text 38"/>
          <p:cNvSpPr/>
          <p:nvPr/>
        </p:nvSpPr>
        <p:spPr>
          <a:xfrm>
            <a:off x="9202579" y="6094095"/>
            <a:ext cx="1211263" cy="247650"/>
          </a:xfrm>
          <a:prstGeom prst="rect">
            <a:avLst/>
          </a:prstGeom>
          <a:noFill/>
          <a:ln/>
        </p:spPr>
        <p:txBody>
          <a:bodyPr wrap="square" lIns="0" tIns="0" rIns="0" bIns="0" rtlCol="0" anchor="t">
            <a:normAutofit/>
          </a:bodyPr>
          <a:lstStyle/>
          <a:p>
            <a:pPr marL="0" indent="0" algn="l">
              <a:buNone/>
            </a:pPr>
            <a:r>
              <a:rPr lang="en-US" sz="1350" dirty="0">
                <a:solidFill>
                  <a:srgbClr val="3A4368"/>
                </a:solidFill>
                <a:latin typeface="Consolas" pitchFamily="34" charset="0"/>
                <a:ea typeface="Consolas" pitchFamily="34" charset="-122"/>
                <a:cs typeface="Consolas" pitchFamily="34" charset="-120"/>
              </a:rPr>
              <a:t>Twice daily</a:t>
            </a:r>
            <a:endParaRPr lang="en-US" sz="1350" dirty="0"/>
          </a:p>
        </p:txBody>
      </p:sp>
      <p:sp>
        <p:nvSpPr>
          <p:cNvPr id="41" name="Shape 39"/>
          <p:cNvSpPr/>
          <p:nvPr/>
        </p:nvSpPr>
        <p:spPr>
          <a:xfrm>
            <a:off x="9040654" y="6522720"/>
            <a:ext cx="7990046" cy="723900"/>
          </a:xfrm>
          <a:prstGeom prst="roundRect">
            <a:avLst>
              <a:gd name="adj" fmla="val 13158"/>
            </a:avLst>
          </a:prstGeom>
          <a:solidFill>
            <a:srgbClr val="FFFFFF"/>
          </a:solidFill>
          <a:ln w="9525">
            <a:solidFill>
              <a:srgbClr val="E6E8F0"/>
            </a:solidFill>
            <a:prstDash val="solid"/>
          </a:ln>
        </p:spPr>
      </p:sp>
      <p:sp>
        <p:nvSpPr>
          <p:cNvPr id="42" name="Text 40"/>
          <p:cNvSpPr/>
          <p:nvPr/>
        </p:nvSpPr>
        <p:spPr>
          <a:xfrm>
            <a:off x="9202579" y="6665595"/>
            <a:ext cx="7896182" cy="228600"/>
          </a:xfrm>
          <a:prstGeom prst="rect">
            <a:avLst/>
          </a:prstGeom>
          <a:noFill/>
          <a:ln/>
        </p:spPr>
        <p:txBody>
          <a:bodyPr wrap="square" lIns="25400" tIns="25400" rIns="25400" bIns="25400" rtlCol="0" anchor="t">
            <a:normAutofit/>
          </a:bodyPr>
          <a:lstStyle/>
          <a:p>
            <a:pPr marL="0" indent="0" algn="l">
              <a:buNone/>
            </a:pPr>
            <a:r>
              <a:rPr lang="en-US" sz="1050" b="1" kern="0" spc="84" dirty="0">
                <a:solidFill>
                  <a:srgbClr val="172144"/>
                </a:solidFill>
                <a:latin typeface="Century Gothic" pitchFamily="34" charset="0"/>
                <a:ea typeface="Century Gothic" pitchFamily="34" charset="-122"/>
                <a:cs typeface="Century Gothic" pitchFamily="34" charset="-120"/>
              </a:rPr>
              <a:t>SIGNATURE</a:t>
            </a:r>
            <a:endParaRPr lang="en-US" sz="1050" dirty="0"/>
          </a:p>
        </p:txBody>
      </p:sp>
      <p:sp>
        <p:nvSpPr>
          <p:cNvPr id="43" name="Text 41"/>
          <p:cNvSpPr/>
          <p:nvPr/>
        </p:nvSpPr>
        <p:spPr>
          <a:xfrm>
            <a:off x="9202579" y="6894195"/>
            <a:ext cx="1314450" cy="247650"/>
          </a:xfrm>
          <a:prstGeom prst="rect">
            <a:avLst/>
          </a:prstGeom>
          <a:noFill/>
          <a:ln/>
        </p:spPr>
        <p:txBody>
          <a:bodyPr wrap="square" lIns="0" tIns="0" rIns="0" bIns="0" rtlCol="0" anchor="t">
            <a:normAutofit/>
          </a:bodyPr>
          <a:lstStyle/>
          <a:p>
            <a:pPr marL="0" indent="0" algn="l">
              <a:buNone/>
            </a:pPr>
            <a:r>
              <a:rPr lang="en-US" sz="1350" dirty="0">
                <a:solidFill>
                  <a:srgbClr val="3A4368"/>
                </a:solidFill>
                <a:latin typeface="Consolas" pitchFamily="34" charset="0"/>
                <a:ea typeface="Consolas" pitchFamily="34" charset="-122"/>
                <a:cs typeface="Consolas" pitchFamily="34" charset="-120"/>
              </a:rPr>
              <a:t>Dr. R. Patel</a:t>
            </a:r>
            <a:endParaRPr lang="en-US" sz="1350" dirty="0"/>
          </a:p>
        </p:txBody>
      </p:sp>
      <p:sp>
        <p:nvSpPr>
          <p:cNvPr id="44" name="Shape 42"/>
          <p:cNvSpPr/>
          <p:nvPr/>
        </p:nvSpPr>
        <p:spPr>
          <a:xfrm>
            <a:off x="9040654" y="7379970"/>
            <a:ext cx="7990046" cy="476250"/>
          </a:xfrm>
          <a:prstGeom prst="roundRect">
            <a:avLst>
              <a:gd name="adj" fmla="val 20000"/>
            </a:avLst>
          </a:prstGeom>
          <a:solidFill>
            <a:srgbClr val="EAF8F1"/>
          </a:solidFill>
          <a:ln/>
        </p:spPr>
      </p:sp>
      <p:sp>
        <p:nvSpPr>
          <p:cNvPr id="45" name="Text 43"/>
          <p:cNvSpPr/>
          <p:nvPr/>
        </p:nvSpPr>
        <p:spPr>
          <a:xfrm>
            <a:off x="9193054" y="7494270"/>
            <a:ext cx="7924947" cy="285750"/>
          </a:xfrm>
          <a:prstGeom prst="rect">
            <a:avLst/>
          </a:prstGeom>
          <a:noFill/>
          <a:ln/>
        </p:spPr>
        <p:txBody>
          <a:bodyPr wrap="square" lIns="25400" tIns="25400" rIns="25400" bIns="25400" rtlCol="0" anchor="t">
            <a:normAutofit/>
          </a:bodyPr>
          <a:lstStyle/>
          <a:p>
            <a:pPr marL="0" indent="0" algn="l">
              <a:buNone/>
            </a:pPr>
            <a:r>
              <a:rPr lang="en-US" sz="1350" b="1" dirty="0">
                <a:solidFill>
                  <a:srgbClr val="0A7045"/>
                </a:solidFill>
                <a:latin typeface="Century Gothic" pitchFamily="34" charset="0"/>
                <a:ea typeface="Century Gothic" pitchFamily="34" charset="-122"/>
                <a:cs typeface="Century Gothic" pitchFamily="34" charset="-120"/>
              </a:rPr>
              <a:t>⏱ Processed in 1.84 s</a:t>
            </a:r>
            <a:endParaRPr lang="en-US" sz="1350" dirty="0"/>
          </a:p>
        </p:txBody>
      </p:sp>
      <p:sp>
        <p:nvSpPr>
          <p:cNvPr id="52" name="Text 50"/>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53" name="Text 51"/>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28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865">
        <p159:morph option="byObject"/>
      </p:transition>
    </mc:Choice>
    <mc:Fallback>
      <p:transition spd="slow" advTm="865">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F8E38"/>
                </a:solidFill>
                <a:latin typeface="Century Gothic" pitchFamily="34" charset="0"/>
                <a:ea typeface="Century Gothic" pitchFamily="34" charset="-122"/>
                <a:cs typeface="Century Gothic" pitchFamily="34" charset="-120"/>
              </a:rPr>
              <a:t>ACT 4 · WALKTHROUGH</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What you'll see in the demo</a:t>
            </a:r>
            <a:endParaRPr lang="en-US" sz="3600" dirty="0"/>
          </a:p>
        </p:txBody>
      </p:sp>
      <p:sp>
        <p:nvSpPr>
          <p:cNvPr id="9" name="Text 7"/>
          <p:cNvSpPr/>
          <p:nvPr/>
        </p:nvSpPr>
        <p:spPr>
          <a:xfrm>
            <a:off x="762000" y="2756079"/>
            <a:ext cx="12632055" cy="2954655"/>
          </a:xfrm>
          <a:prstGeom prst="rect">
            <a:avLst/>
          </a:prstGeom>
          <a:noFill/>
          <a:ln/>
        </p:spPr>
        <p:txBody>
          <a:bodyPr wrap="square" lIns="25400" tIns="25400" rIns="25400" bIns="25400" rtlCol="0" anchor="t">
            <a:noAutofit/>
          </a:bodyPr>
          <a:lstStyle/>
          <a:p>
            <a:pPr marL="0" indent="0" algn="l">
              <a:lnSpc>
                <a:spcPct val="140000"/>
              </a:lnSpc>
              <a:buNone/>
            </a:pPr>
            <a:r>
              <a:rPr lang="en-US" sz="4000" dirty="0">
                <a:solidFill>
                  <a:srgbClr val="3A4368"/>
                </a:solidFill>
                <a:latin typeface="+mj-lt"/>
                <a:ea typeface="Calibri" pitchFamily="34" charset="-122"/>
                <a:cs typeface="Calibri" pitchFamily="34" charset="-120"/>
              </a:rPr>
              <a:t>Upload a sample prescription from the test set</a:t>
            </a:r>
            <a:endParaRPr lang="en-US" sz="4000" dirty="0">
              <a:latin typeface="+mj-lt"/>
            </a:endParaRPr>
          </a:p>
          <a:p>
            <a:pPr marL="0" indent="0" algn="l">
              <a:lnSpc>
                <a:spcPct val="140000"/>
              </a:lnSpc>
              <a:buNone/>
            </a:pPr>
            <a:r>
              <a:rPr lang="en-US" sz="4000" dirty="0">
                <a:solidFill>
                  <a:srgbClr val="3A4368"/>
                </a:solidFill>
                <a:latin typeface="+mj-lt"/>
                <a:ea typeface="Calibri" pitchFamily="34" charset="-122"/>
                <a:cs typeface="Calibri" pitchFamily="34" charset="-120"/>
              </a:rPr>
              <a:t>Inspect the raw JSON response in DevTools</a:t>
            </a:r>
            <a:endParaRPr lang="en-US" sz="4000" dirty="0">
              <a:latin typeface="+mj-lt"/>
            </a:endParaRPr>
          </a:p>
          <a:p>
            <a:pPr marL="0" indent="0" algn="l">
              <a:lnSpc>
                <a:spcPct val="140000"/>
              </a:lnSpc>
              <a:buNone/>
            </a:pPr>
            <a:r>
              <a:rPr lang="en-US" sz="4000" dirty="0">
                <a:solidFill>
                  <a:srgbClr val="3A4368"/>
                </a:solidFill>
                <a:latin typeface="+mj-lt"/>
                <a:ea typeface="Calibri" pitchFamily="34" charset="-122"/>
                <a:cs typeface="Calibri" pitchFamily="34" charset="-120"/>
              </a:rPr>
              <a:t>Walk through structured fields rendered on the page</a:t>
            </a:r>
            <a:endParaRPr lang="en-US" sz="4000" dirty="0">
              <a:latin typeface="+mj-lt"/>
            </a:endParaRPr>
          </a:p>
        </p:txBody>
      </p:sp>
      <p:sp>
        <p:nvSpPr>
          <p:cNvPr id="10" name="Shape 8"/>
          <p:cNvSpPr/>
          <p:nvPr/>
        </p:nvSpPr>
        <p:spPr>
          <a:xfrm>
            <a:off x="14176693" y="8093869"/>
            <a:ext cx="2978944" cy="671513"/>
          </a:xfrm>
          <a:prstGeom prst="roundRect">
            <a:avLst>
              <a:gd name="adj" fmla="val 19858"/>
            </a:avLst>
          </a:prstGeom>
          <a:solidFill>
            <a:srgbClr val="FF8E38"/>
          </a:solidFill>
          <a:ln/>
          <a:effectLst>
            <a:outerShdw blurRad="280369" dist="102084" dir="5400000" algn="bl" rotWithShape="0">
              <a:srgbClr val="FF8E38">
                <a:alpha val="44500"/>
              </a:srgbClr>
            </a:outerShdw>
          </a:effectLst>
        </p:spPr>
      </p:sp>
      <p:sp>
        <p:nvSpPr>
          <p:cNvPr id="11" name="Text 9"/>
          <p:cNvSpPr/>
          <p:nvPr/>
        </p:nvSpPr>
        <p:spPr>
          <a:xfrm>
            <a:off x="14424343" y="8265319"/>
            <a:ext cx="2573012" cy="366713"/>
          </a:xfrm>
          <a:prstGeom prst="rect">
            <a:avLst/>
          </a:prstGeom>
          <a:noFill/>
          <a:ln/>
        </p:spPr>
        <p:txBody>
          <a:bodyPr wrap="square" lIns="25400" tIns="25400" rIns="25400" bIns="25400" rtlCol="0" anchor="t">
            <a:normAutofit/>
          </a:bodyPr>
          <a:lstStyle/>
          <a:p>
            <a:pPr marL="0" indent="0" algn="l">
              <a:buNone/>
            </a:pPr>
            <a:r>
              <a:rPr lang="en-US" sz="1800" b="1" dirty="0">
                <a:solidFill>
                  <a:srgbClr val="FFFFFF"/>
                </a:solidFill>
                <a:latin typeface="Century Gothic" pitchFamily="34" charset="0"/>
                <a:ea typeface="Century Gothic" pitchFamily="34" charset="-122"/>
                <a:cs typeface="Century Gothic" pitchFamily="34" charset="-120"/>
              </a:rPr>
              <a:t>▶ Switch to live demo</a:t>
            </a:r>
            <a:endParaRPr lang="en-US" sz="1800" dirty="0"/>
          </a:p>
        </p:txBody>
      </p:sp>
      <p:sp>
        <p:nvSpPr>
          <p:cNvPr id="12" name="Text 10"/>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13" name="Text 11"/>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29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572">
        <p159:morph option="byObject"/>
      </p:transition>
    </mc:Choice>
    <mc:Fallback>
      <p:transition spd="slow" advTm="572">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7C83B"/>
                </a:solidFill>
                <a:latin typeface="Century Gothic" pitchFamily="34" charset="0"/>
                <a:ea typeface="Century Gothic" pitchFamily="34" charset="-122"/>
                <a:cs typeface="Century Gothic" pitchFamily="34" charset="-120"/>
              </a:rPr>
              <a:t>ACT 5 · CONCLUSION</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What we built</a:t>
            </a:r>
            <a:endParaRPr lang="en-US" sz="3600" dirty="0"/>
          </a:p>
        </p:txBody>
      </p:sp>
      <p:sp>
        <p:nvSpPr>
          <p:cNvPr id="9" name="Text 7"/>
          <p:cNvSpPr/>
          <p:nvPr/>
        </p:nvSpPr>
        <p:spPr>
          <a:xfrm>
            <a:off x="952500" y="2265045"/>
            <a:ext cx="14716125" cy="107823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3150" dirty="0">
                <a:solidFill>
                  <a:srgbClr val="172144"/>
                </a:solidFill>
                <a:latin typeface="Calibri" pitchFamily="34" charset="0"/>
                <a:ea typeface="Calibri" pitchFamily="34" charset="-122"/>
                <a:cs typeface="Calibri" pitchFamily="34" charset="-120"/>
              </a:rPr>
              <a:t>A fine-tuned TrOCR pipeline that turns handwritten prescriptions into </a:t>
            </a:r>
            <a:r>
              <a:rPr lang="en-US" sz="3150" b="1" dirty="0">
                <a:solidFill>
                  <a:srgbClr val="FA3585"/>
                </a:solidFill>
                <a:latin typeface="Calibri" pitchFamily="34" charset="0"/>
                <a:ea typeface="Calibri" pitchFamily="34" charset="-122"/>
                <a:cs typeface="Calibri" pitchFamily="34" charset="-120"/>
              </a:rPr>
              <a:t>structured JSON </a:t>
            </a:r>
            <a:r>
              <a:rPr lang="en-US" sz="3150" dirty="0">
                <a:solidFill>
                  <a:srgbClr val="172144"/>
                </a:solidFill>
                <a:latin typeface="Calibri" pitchFamily="34" charset="0"/>
                <a:ea typeface="Calibri" pitchFamily="34" charset="-122"/>
                <a:cs typeface="Calibri" pitchFamily="34" charset="-120"/>
              </a:rPr>
              <a:t>, served behind a clean React + FastAPI web app.</a:t>
            </a:r>
            <a:endParaRPr lang="en-US" sz="3150" dirty="0"/>
          </a:p>
        </p:txBody>
      </p:sp>
      <p:sp>
        <p:nvSpPr>
          <p:cNvPr id="10" name="Shape 8"/>
          <p:cNvSpPr/>
          <p:nvPr/>
        </p:nvSpPr>
        <p:spPr>
          <a:xfrm>
            <a:off x="952500" y="4600575"/>
            <a:ext cx="5232400" cy="2133600"/>
          </a:xfrm>
          <a:prstGeom prst="roundRect">
            <a:avLst>
              <a:gd name="adj" fmla="val 7143"/>
            </a:avLst>
          </a:prstGeom>
          <a:solidFill>
            <a:srgbClr val="FFFFFF"/>
          </a:solidFill>
          <a:ln/>
        </p:spPr>
      </p:sp>
      <p:sp>
        <p:nvSpPr>
          <p:cNvPr id="11" name="Shape 9"/>
          <p:cNvSpPr/>
          <p:nvPr/>
        </p:nvSpPr>
        <p:spPr>
          <a:xfrm>
            <a:off x="952500" y="6724650"/>
            <a:ext cx="5232400" cy="9525"/>
          </a:xfrm>
          <a:prstGeom prst="rect">
            <a:avLst/>
          </a:prstGeom>
          <a:solidFill>
            <a:srgbClr val="E6E8F0"/>
          </a:solidFill>
          <a:ln/>
        </p:spPr>
      </p:sp>
      <p:sp>
        <p:nvSpPr>
          <p:cNvPr id="12" name="Shape 10"/>
          <p:cNvSpPr/>
          <p:nvPr/>
        </p:nvSpPr>
        <p:spPr>
          <a:xfrm>
            <a:off x="952500" y="4600575"/>
            <a:ext cx="5232400" cy="57150"/>
          </a:xfrm>
          <a:prstGeom prst="rect">
            <a:avLst/>
          </a:prstGeom>
          <a:solidFill>
            <a:srgbClr val="3BC8F1"/>
          </a:solidFill>
          <a:ln/>
        </p:spPr>
      </p:sp>
      <p:sp>
        <p:nvSpPr>
          <p:cNvPr id="13" name="Shape 11"/>
          <p:cNvSpPr/>
          <p:nvPr/>
        </p:nvSpPr>
        <p:spPr>
          <a:xfrm>
            <a:off x="952500" y="4600575"/>
            <a:ext cx="9525" cy="2133600"/>
          </a:xfrm>
          <a:prstGeom prst="rect">
            <a:avLst/>
          </a:prstGeom>
          <a:solidFill>
            <a:srgbClr val="E6E8F0"/>
          </a:solidFill>
          <a:ln/>
        </p:spPr>
      </p:sp>
      <p:sp>
        <p:nvSpPr>
          <p:cNvPr id="14" name="Shape 12"/>
          <p:cNvSpPr/>
          <p:nvPr/>
        </p:nvSpPr>
        <p:spPr>
          <a:xfrm>
            <a:off x="6175375" y="4600575"/>
            <a:ext cx="9525" cy="2133600"/>
          </a:xfrm>
          <a:prstGeom prst="rect">
            <a:avLst/>
          </a:prstGeom>
          <a:solidFill>
            <a:srgbClr val="E6E8F0"/>
          </a:solidFill>
          <a:ln/>
        </p:spPr>
      </p:sp>
      <p:sp>
        <p:nvSpPr>
          <p:cNvPr id="15" name="Text 13"/>
          <p:cNvSpPr/>
          <p:nvPr/>
        </p:nvSpPr>
        <p:spPr>
          <a:xfrm>
            <a:off x="1228725" y="492442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End to end</a:t>
            </a:r>
            <a:endParaRPr lang="en-US" sz="1950" dirty="0"/>
          </a:p>
        </p:txBody>
      </p:sp>
      <p:sp>
        <p:nvSpPr>
          <p:cNvPr id="16" name="Text 14"/>
          <p:cNvSpPr/>
          <p:nvPr/>
        </p:nvSpPr>
        <p:spPr>
          <a:xfrm>
            <a:off x="1228725" y="5324475"/>
            <a:ext cx="482034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Upload → JSON in under 2 seconds on a single GPU.</a:t>
            </a:r>
            <a:endParaRPr lang="en-US" sz="1500" dirty="0"/>
          </a:p>
        </p:txBody>
      </p:sp>
      <p:sp>
        <p:nvSpPr>
          <p:cNvPr id="17" name="Shape 15"/>
          <p:cNvSpPr/>
          <p:nvPr/>
        </p:nvSpPr>
        <p:spPr>
          <a:xfrm>
            <a:off x="6527800" y="4600575"/>
            <a:ext cx="5232400" cy="2133600"/>
          </a:xfrm>
          <a:prstGeom prst="roundRect">
            <a:avLst>
              <a:gd name="adj" fmla="val 7143"/>
            </a:avLst>
          </a:prstGeom>
          <a:solidFill>
            <a:srgbClr val="FFFFFF"/>
          </a:solidFill>
          <a:ln/>
        </p:spPr>
      </p:sp>
      <p:sp>
        <p:nvSpPr>
          <p:cNvPr id="18" name="Shape 16"/>
          <p:cNvSpPr/>
          <p:nvPr/>
        </p:nvSpPr>
        <p:spPr>
          <a:xfrm>
            <a:off x="6527800" y="6724650"/>
            <a:ext cx="5232400" cy="9525"/>
          </a:xfrm>
          <a:prstGeom prst="rect">
            <a:avLst/>
          </a:prstGeom>
          <a:solidFill>
            <a:srgbClr val="E6E8F0"/>
          </a:solidFill>
          <a:ln/>
        </p:spPr>
      </p:sp>
      <p:sp>
        <p:nvSpPr>
          <p:cNvPr id="19" name="Shape 17"/>
          <p:cNvSpPr/>
          <p:nvPr/>
        </p:nvSpPr>
        <p:spPr>
          <a:xfrm>
            <a:off x="6527800" y="4600575"/>
            <a:ext cx="5232400" cy="57150"/>
          </a:xfrm>
          <a:prstGeom prst="rect">
            <a:avLst/>
          </a:prstGeom>
          <a:solidFill>
            <a:srgbClr val="6070FF"/>
          </a:solidFill>
          <a:ln/>
        </p:spPr>
      </p:sp>
      <p:sp>
        <p:nvSpPr>
          <p:cNvPr id="20" name="Shape 18"/>
          <p:cNvSpPr/>
          <p:nvPr/>
        </p:nvSpPr>
        <p:spPr>
          <a:xfrm>
            <a:off x="6527800" y="4600575"/>
            <a:ext cx="9525" cy="2133600"/>
          </a:xfrm>
          <a:prstGeom prst="rect">
            <a:avLst/>
          </a:prstGeom>
          <a:solidFill>
            <a:srgbClr val="E6E8F0"/>
          </a:solidFill>
          <a:ln/>
        </p:spPr>
      </p:sp>
      <p:sp>
        <p:nvSpPr>
          <p:cNvPr id="21" name="Shape 19"/>
          <p:cNvSpPr/>
          <p:nvPr/>
        </p:nvSpPr>
        <p:spPr>
          <a:xfrm>
            <a:off x="11750675" y="4600575"/>
            <a:ext cx="9525" cy="2133600"/>
          </a:xfrm>
          <a:prstGeom prst="rect">
            <a:avLst/>
          </a:prstGeom>
          <a:solidFill>
            <a:srgbClr val="E6E8F0"/>
          </a:solidFill>
          <a:ln/>
        </p:spPr>
      </p:sp>
      <p:sp>
        <p:nvSpPr>
          <p:cNvPr id="22" name="Text 20"/>
          <p:cNvSpPr/>
          <p:nvPr/>
        </p:nvSpPr>
        <p:spPr>
          <a:xfrm>
            <a:off x="6804025" y="4924425"/>
            <a:ext cx="4820349"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Reproducible</a:t>
            </a:r>
            <a:endParaRPr lang="en-US" sz="1950" dirty="0"/>
          </a:p>
        </p:txBody>
      </p:sp>
      <p:sp>
        <p:nvSpPr>
          <p:cNvPr id="23" name="Text 21"/>
          <p:cNvSpPr/>
          <p:nvPr/>
        </p:nvSpPr>
        <p:spPr>
          <a:xfrm>
            <a:off x="6804025" y="5324475"/>
            <a:ext cx="4820349"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Single Kaggle script downloads, trains, evaluates, publishes.</a:t>
            </a:r>
            <a:endParaRPr lang="en-US" sz="1500" dirty="0"/>
          </a:p>
        </p:txBody>
      </p:sp>
      <p:sp>
        <p:nvSpPr>
          <p:cNvPr id="24" name="Shape 22"/>
          <p:cNvSpPr/>
          <p:nvPr/>
        </p:nvSpPr>
        <p:spPr>
          <a:xfrm>
            <a:off x="12103100" y="4600575"/>
            <a:ext cx="5232400" cy="2133600"/>
          </a:xfrm>
          <a:prstGeom prst="roundRect">
            <a:avLst>
              <a:gd name="adj" fmla="val 7143"/>
            </a:avLst>
          </a:prstGeom>
          <a:solidFill>
            <a:srgbClr val="FFFFFF"/>
          </a:solidFill>
          <a:ln/>
        </p:spPr>
      </p:sp>
      <p:sp>
        <p:nvSpPr>
          <p:cNvPr id="25" name="Shape 23"/>
          <p:cNvSpPr/>
          <p:nvPr/>
        </p:nvSpPr>
        <p:spPr>
          <a:xfrm>
            <a:off x="12103100" y="6724650"/>
            <a:ext cx="5232400" cy="9525"/>
          </a:xfrm>
          <a:prstGeom prst="rect">
            <a:avLst/>
          </a:prstGeom>
          <a:solidFill>
            <a:srgbClr val="E6E8F0"/>
          </a:solidFill>
          <a:ln/>
        </p:spPr>
      </p:sp>
      <p:sp>
        <p:nvSpPr>
          <p:cNvPr id="26" name="Shape 24"/>
          <p:cNvSpPr/>
          <p:nvPr/>
        </p:nvSpPr>
        <p:spPr>
          <a:xfrm>
            <a:off x="12103100" y="4600575"/>
            <a:ext cx="5232400" cy="57150"/>
          </a:xfrm>
          <a:prstGeom prst="rect">
            <a:avLst/>
          </a:prstGeom>
          <a:solidFill>
            <a:srgbClr val="FA3585"/>
          </a:solidFill>
          <a:ln/>
        </p:spPr>
      </p:sp>
      <p:sp>
        <p:nvSpPr>
          <p:cNvPr id="27" name="Shape 25"/>
          <p:cNvSpPr/>
          <p:nvPr/>
        </p:nvSpPr>
        <p:spPr>
          <a:xfrm>
            <a:off x="12103100" y="4600575"/>
            <a:ext cx="9525" cy="2133600"/>
          </a:xfrm>
          <a:prstGeom prst="rect">
            <a:avLst/>
          </a:prstGeom>
          <a:solidFill>
            <a:srgbClr val="E6E8F0"/>
          </a:solidFill>
          <a:ln/>
        </p:spPr>
      </p:sp>
      <p:sp>
        <p:nvSpPr>
          <p:cNvPr id="28" name="Shape 26"/>
          <p:cNvSpPr/>
          <p:nvPr/>
        </p:nvSpPr>
        <p:spPr>
          <a:xfrm>
            <a:off x="17325974" y="4600575"/>
            <a:ext cx="9525" cy="2133600"/>
          </a:xfrm>
          <a:prstGeom prst="rect">
            <a:avLst/>
          </a:prstGeom>
          <a:solidFill>
            <a:srgbClr val="E6E8F0"/>
          </a:solidFill>
          <a:ln/>
        </p:spPr>
      </p:sp>
      <p:sp>
        <p:nvSpPr>
          <p:cNvPr id="29" name="Text 27"/>
          <p:cNvSpPr/>
          <p:nvPr/>
        </p:nvSpPr>
        <p:spPr>
          <a:xfrm>
            <a:off x="12379325" y="492442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Open</a:t>
            </a:r>
            <a:endParaRPr lang="en-US" sz="1950" dirty="0"/>
          </a:p>
        </p:txBody>
      </p:sp>
      <p:sp>
        <p:nvSpPr>
          <p:cNvPr id="30" name="Text 28"/>
          <p:cNvSpPr/>
          <p:nvPr/>
        </p:nvSpPr>
        <p:spPr>
          <a:xfrm>
            <a:off x="12379325" y="5324475"/>
            <a:ext cx="4820348" cy="5715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Checkpoint and code are public on Hugging Face Hub and GitHub.</a:t>
            </a:r>
            <a:endParaRPr lang="en-US" sz="1500" dirty="0"/>
          </a:p>
        </p:txBody>
      </p:sp>
      <p:sp>
        <p:nvSpPr>
          <p:cNvPr id="31" name="Text 29"/>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3" name="Text 11">
            <a:extLst>
              <a:ext uri="{FF2B5EF4-FFF2-40B4-BE49-F238E27FC236}">
                <a16:creationId xmlns:a16="http://schemas.microsoft.com/office/drawing/2014/main" id="{0A5DDE97-1FA2-0159-E052-2C2F1913ED03}"/>
              </a:ext>
            </a:extLst>
          </p:cNvPr>
          <p:cNvSpPr/>
          <p:nvPr/>
        </p:nvSpPr>
        <p:spPr>
          <a:xfrm>
            <a:off x="16934338" y="9725025"/>
            <a:ext cx="591661" cy="257175"/>
          </a:xfrm>
          <a:prstGeom prst="rect">
            <a:avLst/>
          </a:prstGeom>
          <a:noFill/>
          <a:ln/>
        </p:spPr>
        <p:txBody>
          <a:bodyPr wrap="square" lIns="25400" tIns="25400" rIns="25400" bIns="25400" rtlCol="0" anchor="t">
            <a:noAutofit/>
          </a:bodyPr>
          <a:lstStyle/>
          <a:p>
            <a:pPr marL="0" indent="0" algn="r">
              <a:buNone/>
            </a:pPr>
            <a:r>
              <a:rPr lang="en-US" sz="1200" b="1" kern="0" spc="27" dirty="0">
                <a:solidFill>
                  <a:srgbClr val="172144"/>
                </a:solidFill>
                <a:latin typeface="Century Gothic" pitchFamily="34" charset="0"/>
                <a:ea typeface="Century Gothic" pitchFamily="34" charset="-122"/>
                <a:cs typeface="Century Gothic" pitchFamily="34" charset="-120"/>
              </a:rPr>
              <a:t>30 </a:t>
            </a:r>
            <a:r>
              <a:rPr lang="en-US" sz="1200" kern="0" spc="27" dirty="0">
                <a:solidFill>
                  <a:srgbClr val="7A8099"/>
                </a:solidFill>
                <a:latin typeface="Century Gothic" pitchFamily="34" charset="0"/>
                <a:ea typeface="Century Gothic" pitchFamily="34" charset="-122"/>
                <a:cs typeface="Century Gothic" pitchFamily="34" charset="-120"/>
              </a:rPr>
              <a:t>/ 32</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1249">
        <p159:morph option="byObject"/>
      </p:transition>
    </mc:Choice>
    <mc:Fallback>
      <p:transition spd="slow" advTm="1249">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7C83B"/>
                </a:solidFill>
                <a:latin typeface="Century Gothic" pitchFamily="34" charset="0"/>
                <a:ea typeface="Century Gothic" pitchFamily="34" charset="-122"/>
                <a:cs typeface="Century Gothic" pitchFamily="34" charset="-120"/>
              </a:rPr>
              <a:t>ACT 5 · LIMITATIONS</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Limitations</a:t>
            </a:r>
            <a:endParaRPr lang="en-US" sz="3600" dirty="0"/>
          </a:p>
        </p:txBody>
      </p:sp>
      <p:sp>
        <p:nvSpPr>
          <p:cNvPr id="9" name="Text 7"/>
          <p:cNvSpPr/>
          <p:nvPr/>
        </p:nvSpPr>
        <p:spPr>
          <a:xfrm>
            <a:off x="779145" y="2729865"/>
            <a:ext cx="14537055" cy="4498612"/>
          </a:xfrm>
          <a:prstGeom prst="rect">
            <a:avLst/>
          </a:prstGeom>
          <a:noFill/>
          <a:ln/>
        </p:spPr>
        <p:txBody>
          <a:bodyPr wrap="square" lIns="25400" tIns="25400" rIns="25400" bIns="25400" rtlCol="0" anchor="t">
            <a:noAutofit/>
          </a:bodyPr>
          <a:lstStyle/>
          <a:p>
            <a:pPr marL="0" indent="0" algn="l">
              <a:lnSpc>
                <a:spcPct val="140000"/>
              </a:lnSpc>
              <a:buNone/>
            </a:pPr>
            <a:r>
              <a:rPr lang="en-US" sz="4000" dirty="0">
                <a:solidFill>
                  <a:srgbClr val="3A4368"/>
                </a:solidFill>
                <a:latin typeface="+mj-lt"/>
                <a:ea typeface="Calibri" pitchFamily="34" charset="-122"/>
                <a:cs typeface="Calibri" pitchFamily="34" charset="-120"/>
              </a:rPr>
              <a:t>Small dataset — under 5,000-line crops, narrow vocabulary</a:t>
            </a:r>
            <a:endParaRPr lang="en-US" sz="4000" dirty="0">
              <a:latin typeface="+mj-lt"/>
            </a:endParaRPr>
          </a:p>
          <a:p>
            <a:pPr marL="0" indent="0" algn="l">
              <a:lnSpc>
                <a:spcPct val="140000"/>
              </a:lnSpc>
              <a:buNone/>
            </a:pPr>
            <a:r>
              <a:rPr lang="en-US" sz="4000" dirty="0">
                <a:solidFill>
                  <a:srgbClr val="3A4368"/>
                </a:solidFill>
                <a:latin typeface="+mj-lt"/>
                <a:ea typeface="Calibri" pitchFamily="34" charset="-122"/>
                <a:cs typeface="Calibri" pitchFamily="34" charset="-120"/>
              </a:rPr>
              <a:t>Cascade pipeline — segmentation errors propagate to OCR</a:t>
            </a:r>
            <a:endParaRPr lang="en-US" sz="4000" dirty="0">
              <a:latin typeface="+mj-lt"/>
            </a:endParaRPr>
          </a:p>
          <a:p>
            <a:pPr marL="0" indent="0" algn="l">
              <a:lnSpc>
                <a:spcPct val="140000"/>
              </a:lnSpc>
              <a:buNone/>
            </a:pPr>
            <a:r>
              <a:rPr lang="en-US" sz="4000" dirty="0">
                <a:solidFill>
                  <a:srgbClr val="3A4368"/>
                </a:solidFill>
                <a:latin typeface="+mj-lt"/>
                <a:ea typeface="Calibri" pitchFamily="34" charset="-122"/>
                <a:cs typeface="Calibri" pitchFamily="34" charset="-120"/>
              </a:rPr>
              <a:t>No drug-formulary normalization or validity checks</a:t>
            </a:r>
            <a:endParaRPr lang="en-US" sz="4000" dirty="0">
              <a:latin typeface="+mj-lt"/>
            </a:endParaRPr>
          </a:p>
          <a:p>
            <a:pPr marL="0" indent="0" algn="l">
              <a:lnSpc>
                <a:spcPct val="140000"/>
              </a:lnSpc>
              <a:buNone/>
            </a:pPr>
            <a:r>
              <a:rPr lang="en-US" sz="4000" dirty="0">
                <a:solidFill>
                  <a:srgbClr val="3A4368"/>
                </a:solidFill>
                <a:latin typeface="+mj-lt"/>
                <a:ea typeface="Calibri" pitchFamily="34" charset="-122"/>
                <a:cs typeface="Calibri" pitchFamily="34" charset="-120"/>
              </a:rPr>
              <a:t>English only — no Arabic or French support</a:t>
            </a:r>
            <a:endParaRPr lang="en-US" sz="4000" dirty="0">
              <a:latin typeface="+mj-lt"/>
            </a:endParaRPr>
          </a:p>
          <a:p>
            <a:pPr marL="0" indent="0" algn="l">
              <a:lnSpc>
                <a:spcPct val="140000"/>
              </a:lnSpc>
              <a:buNone/>
            </a:pPr>
            <a:r>
              <a:rPr lang="en-US" sz="4000" dirty="0">
                <a:solidFill>
                  <a:srgbClr val="3A4368"/>
                </a:solidFill>
                <a:latin typeface="+mj-lt"/>
                <a:ea typeface="Calibri" pitchFamily="34" charset="-122"/>
                <a:cs typeface="Calibri" pitchFamily="34" charset="-120"/>
              </a:rPr>
              <a:t>Phone-photo robustness still limited by residual shadows</a:t>
            </a:r>
            <a:endParaRPr lang="en-US" sz="4000" dirty="0">
              <a:latin typeface="+mj-lt"/>
            </a:endParaRPr>
          </a:p>
        </p:txBody>
      </p:sp>
      <p:sp>
        <p:nvSpPr>
          <p:cNvPr id="10" name="Text 8"/>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11" name="Text 9"/>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31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776">
        <p159:morph option="byObject"/>
      </p:transition>
    </mc:Choice>
    <mc:Fallback>
      <p:transition spd="slow" advTm="776">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solidFill>
          <a:ln/>
        </p:spPr>
      </p:sp>
      <p:sp>
        <p:nvSpPr>
          <p:cNvPr id="3" name="Shape 1"/>
          <p:cNvSpPr/>
          <p:nvPr/>
        </p:nvSpPr>
        <p:spPr>
          <a:xfrm>
            <a:off x="3657600" y="0"/>
            <a:ext cx="3657600" cy="76200"/>
          </a:xfrm>
          <a:prstGeom prst="rect">
            <a:avLst/>
          </a:prstGeom>
          <a:solidFill>
            <a:srgbClr val="6070FF"/>
          </a:solidFill>
          <a:ln/>
        </p:spPr>
      </p:sp>
      <p:sp>
        <p:nvSpPr>
          <p:cNvPr id="4" name="Shape 2"/>
          <p:cNvSpPr/>
          <p:nvPr/>
        </p:nvSpPr>
        <p:spPr>
          <a:xfrm>
            <a:off x="7315200" y="0"/>
            <a:ext cx="3657600" cy="76200"/>
          </a:xfrm>
          <a:prstGeom prst="rect">
            <a:avLst/>
          </a:prstGeom>
          <a:solidFill>
            <a:srgbClr val="FA3585"/>
          </a:solidFill>
          <a:ln/>
        </p:spPr>
      </p:sp>
      <p:sp>
        <p:nvSpPr>
          <p:cNvPr id="5" name="Shape 3"/>
          <p:cNvSpPr/>
          <p:nvPr/>
        </p:nvSpPr>
        <p:spPr>
          <a:xfrm>
            <a:off x="10972800" y="0"/>
            <a:ext cx="3657600" cy="76200"/>
          </a:xfrm>
          <a:prstGeom prst="rect">
            <a:avLst/>
          </a:prstGeom>
          <a:solidFill>
            <a:srgbClr val="FF8E38"/>
          </a:solidFill>
          <a:ln/>
        </p:spPr>
      </p:sp>
      <p:sp>
        <p:nvSpPr>
          <p:cNvPr id="6" name="Shape 4"/>
          <p:cNvSpPr/>
          <p:nvPr/>
        </p:nvSpPr>
        <p:spPr>
          <a:xfrm>
            <a:off x="14630400" y="0"/>
            <a:ext cx="3657600" cy="76200"/>
          </a:xfrm>
          <a:prstGeom prst="rect">
            <a:avLst/>
          </a:prstGeom>
          <a:solidFill>
            <a:srgbClr val="F7C83B"/>
          </a:solidFill>
          <a:ln/>
        </p:spPr>
      </p:sp>
      <p:sp>
        <p:nvSpPr>
          <p:cNvPr id="7" name="Text 5"/>
          <p:cNvSpPr/>
          <p:nvPr/>
        </p:nvSpPr>
        <p:spPr>
          <a:xfrm>
            <a:off x="952500" y="952500"/>
            <a:ext cx="1687449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F7C83B"/>
                </a:solidFill>
                <a:latin typeface="Century Gothic" pitchFamily="34" charset="0"/>
                <a:ea typeface="Century Gothic" pitchFamily="34" charset="-122"/>
                <a:cs typeface="Century Gothic" pitchFamily="34" charset="-120"/>
              </a:rPr>
              <a:t>ACT 5 · FUTURE WORK</a:t>
            </a:r>
            <a:endParaRPr lang="en-US" sz="1650" dirty="0"/>
          </a:p>
        </p:txBody>
      </p:sp>
      <p:sp>
        <p:nvSpPr>
          <p:cNvPr id="8" name="Text 6"/>
          <p:cNvSpPr/>
          <p:nvPr/>
        </p:nvSpPr>
        <p:spPr>
          <a:xfrm>
            <a:off x="952500" y="1381125"/>
            <a:ext cx="16874490" cy="54102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3600" b="1" kern="0" spc="-18" dirty="0">
                <a:solidFill>
                  <a:srgbClr val="172144"/>
                </a:solidFill>
                <a:latin typeface="Century Gothic" pitchFamily="34" charset="0"/>
                <a:ea typeface="Century Gothic" pitchFamily="34" charset="-122"/>
                <a:cs typeface="Century Gothic" pitchFamily="34" charset="-120"/>
              </a:rPr>
              <a:t>Future work</a:t>
            </a:r>
            <a:endParaRPr lang="en-US" sz="3600" dirty="0"/>
          </a:p>
        </p:txBody>
      </p:sp>
      <p:sp>
        <p:nvSpPr>
          <p:cNvPr id="9" name="Shape 7"/>
          <p:cNvSpPr/>
          <p:nvPr/>
        </p:nvSpPr>
        <p:spPr>
          <a:xfrm>
            <a:off x="952500" y="2188845"/>
            <a:ext cx="5232400" cy="2133600"/>
          </a:xfrm>
          <a:prstGeom prst="roundRect">
            <a:avLst>
              <a:gd name="adj" fmla="val 7143"/>
            </a:avLst>
          </a:prstGeom>
          <a:solidFill>
            <a:srgbClr val="FFFFFF"/>
          </a:solidFill>
          <a:ln/>
        </p:spPr>
      </p:sp>
      <p:sp>
        <p:nvSpPr>
          <p:cNvPr id="10" name="Shape 8"/>
          <p:cNvSpPr/>
          <p:nvPr/>
        </p:nvSpPr>
        <p:spPr>
          <a:xfrm>
            <a:off x="952500" y="4312920"/>
            <a:ext cx="5232400" cy="9525"/>
          </a:xfrm>
          <a:prstGeom prst="rect">
            <a:avLst/>
          </a:prstGeom>
          <a:solidFill>
            <a:srgbClr val="E6E8F0"/>
          </a:solidFill>
          <a:ln/>
        </p:spPr>
      </p:sp>
      <p:sp>
        <p:nvSpPr>
          <p:cNvPr id="11" name="Shape 9"/>
          <p:cNvSpPr/>
          <p:nvPr/>
        </p:nvSpPr>
        <p:spPr>
          <a:xfrm>
            <a:off x="952500" y="2188845"/>
            <a:ext cx="5232400" cy="57150"/>
          </a:xfrm>
          <a:prstGeom prst="rect">
            <a:avLst/>
          </a:prstGeom>
          <a:solidFill>
            <a:srgbClr val="3BC8F1"/>
          </a:solidFill>
          <a:ln/>
        </p:spPr>
      </p:sp>
      <p:sp>
        <p:nvSpPr>
          <p:cNvPr id="12" name="Shape 10"/>
          <p:cNvSpPr/>
          <p:nvPr/>
        </p:nvSpPr>
        <p:spPr>
          <a:xfrm>
            <a:off x="952500" y="2188845"/>
            <a:ext cx="9525" cy="2133600"/>
          </a:xfrm>
          <a:prstGeom prst="rect">
            <a:avLst/>
          </a:prstGeom>
          <a:solidFill>
            <a:srgbClr val="E6E8F0"/>
          </a:solidFill>
          <a:ln/>
        </p:spPr>
      </p:sp>
      <p:sp>
        <p:nvSpPr>
          <p:cNvPr id="13" name="Shape 11"/>
          <p:cNvSpPr/>
          <p:nvPr/>
        </p:nvSpPr>
        <p:spPr>
          <a:xfrm>
            <a:off x="6175375" y="2188845"/>
            <a:ext cx="9525" cy="2133600"/>
          </a:xfrm>
          <a:prstGeom prst="rect">
            <a:avLst/>
          </a:prstGeom>
          <a:solidFill>
            <a:srgbClr val="E6E8F0"/>
          </a:solidFill>
          <a:ln/>
        </p:spPr>
      </p:sp>
      <p:sp>
        <p:nvSpPr>
          <p:cNvPr id="14" name="Text 12"/>
          <p:cNvSpPr/>
          <p:nvPr/>
        </p:nvSpPr>
        <p:spPr>
          <a:xfrm>
            <a:off x="1228725" y="251269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Layout-aware end-to-end</a:t>
            </a:r>
            <a:endParaRPr lang="en-US" sz="1950" dirty="0"/>
          </a:p>
        </p:txBody>
      </p:sp>
      <p:sp>
        <p:nvSpPr>
          <p:cNvPr id="15" name="Text 13"/>
          <p:cNvSpPr/>
          <p:nvPr/>
        </p:nvSpPr>
        <p:spPr>
          <a:xfrm>
            <a:off x="1228725" y="2912745"/>
            <a:ext cx="4820348"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Replace the cascade with Donut or LayoutLMv3 — image straight to structured JSON, no segmentation.</a:t>
            </a:r>
            <a:endParaRPr lang="en-US" sz="1500" dirty="0"/>
          </a:p>
        </p:txBody>
      </p:sp>
      <p:sp>
        <p:nvSpPr>
          <p:cNvPr id="16" name="Shape 14"/>
          <p:cNvSpPr/>
          <p:nvPr/>
        </p:nvSpPr>
        <p:spPr>
          <a:xfrm>
            <a:off x="6527800" y="2188845"/>
            <a:ext cx="5232400" cy="2133600"/>
          </a:xfrm>
          <a:prstGeom prst="roundRect">
            <a:avLst>
              <a:gd name="adj" fmla="val 7143"/>
            </a:avLst>
          </a:prstGeom>
          <a:solidFill>
            <a:srgbClr val="FFFFFF"/>
          </a:solidFill>
          <a:ln/>
        </p:spPr>
      </p:sp>
      <p:sp>
        <p:nvSpPr>
          <p:cNvPr id="17" name="Shape 15"/>
          <p:cNvSpPr/>
          <p:nvPr/>
        </p:nvSpPr>
        <p:spPr>
          <a:xfrm>
            <a:off x="6527800" y="4312920"/>
            <a:ext cx="5232400" cy="9525"/>
          </a:xfrm>
          <a:prstGeom prst="rect">
            <a:avLst/>
          </a:prstGeom>
          <a:solidFill>
            <a:srgbClr val="E6E8F0"/>
          </a:solidFill>
          <a:ln/>
        </p:spPr>
      </p:sp>
      <p:sp>
        <p:nvSpPr>
          <p:cNvPr id="18" name="Shape 16"/>
          <p:cNvSpPr/>
          <p:nvPr/>
        </p:nvSpPr>
        <p:spPr>
          <a:xfrm>
            <a:off x="6527800" y="2188845"/>
            <a:ext cx="5232400" cy="57150"/>
          </a:xfrm>
          <a:prstGeom prst="rect">
            <a:avLst/>
          </a:prstGeom>
          <a:solidFill>
            <a:srgbClr val="6070FF"/>
          </a:solidFill>
          <a:ln/>
        </p:spPr>
      </p:sp>
      <p:sp>
        <p:nvSpPr>
          <p:cNvPr id="19" name="Shape 17"/>
          <p:cNvSpPr/>
          <p:nvPr/>
        </p:nvSpPr>
        <p:spPr>
          <a:xfrm>
            <a:off x="6527800" y="2188845"/>
            <a:ext cx="9525" cy="2133600"/>
          </a:xfrm>
          <a:prstGeom prst="rect">
            <a:avLst/>
          </a:prstGeom>
          <a:solidFill>
            <a:srgbClr val="E6E8F0"/>
          </a:solidFill>
          <a:ln/>
        </p:spPr>
      </p:sp>
      <p:sp>
        <p:nvSpPr>
          <p:cNvPr id="20" name="Shape 18"/>
          <p:cNvSpPr/>
          <p:nvPr/>
        </p:nvSpPr>
        <p:spPr>
          <a:xfrm>
            <a:off x="11750675" y="2188845"/>
            <a:ext cx="9525" cy="2133600"/>
          </a:xfrm>
          <a:prstGeom prst="rect">
            <a:avLst/>
          </a:prstGeom>
          <a:solidFill>
            <a:srgbClr val="E6E8F0"/>
          </a:solidFill>
          <a:ln/>
        </p:spPr>
      </p:sp>
      <p:sp>
        <p:nvSpPr>
          <p:cNvPr id="21" name="Text 19"/>
          <p:cNvSpPr/>
          <p:nvPr/>
        </p:nvSpPr>
        <p:spPr>
          <a:xfrm>
            <a:off x="6804025" y="2512695"/>
            <a:ext cx="4820349"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Drug-formulary linker</a:t>
            </a:r>
            <a:endParaRPr lang="en-US" sz="1950" dirty="0"/>
          </a:p>
        </p:txBody>
      </p:sp>
      <p:sp>
        <p:nvSpPr>
          <p:cNvPr id="22" name="Text 20"/>
          <p:cNvSpPr/>
          <p:nvPr/>
        </p:nvSpPr>
        <p:spPr>
          <a:xfrm>
            <a:off x="6804025" y="2912745"/>
            <a:ext cx="482034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Map free-text drug strings to RxNorm or local formularies; flag impossible combinations.</a:t>
            </a:r>
            <a:endParaRPr lang="en-US" sz="1500" dirty="0"/>
          </a:p>
        </p:txBody>
      </p:sp>
      <p:sp>
        <p:nvSpPr>
          <p:cNvPr id="23" name="Shape 21"/>
          <p:cNvSpPr/>
          <p:nvPr/>
        </p:nvSpPr>
        <p:spPr>
          <a:xfrm>
            <a:off x="12103100" y="2188845"/>
            <a:ext cx="5232400" cy="2133600"/>
          </a:xfrm>
          <a:prstGeom prst="roundRect">
            <a:avLst>
              <a:gd name="adj" fmla="val 7143"/>
            </a:avLst>
          </a:prstGeom>
          <a:solidFill>
            <a:srgbClr val="FFFFFF"/>
          </a:solidFill>
          <a:ln/>
        </p:spPr>
      </p:sp>
      <p:sp>
        <p:nvSpPr>
          <p:cNvPr id="24" name="Shape 22"/>
          <p:cNvSpPr/>
          <p:nvPr/>
        </p:nvSpPr>
        <p:spPr>
          <a:xfrm>
            <a:off x="12103100" y="4312920"/>
            <a:ext cx="5232400" cy="9525"/>
          </a:xfrm>
          <a:prstGeom prst="rect">
            <a:avLst/>
          </a:prstGeom>
          <a:solidFill>
            <a:srgbClr val="E6E8F0"/>
          </a:solidFill>
          <a:ln/>
        </p:spPr>
      </p:sp>
      <p:sp>
        <p:nvSpPr>
          <p:cNvPr id="25" name="Shape 23"/>
          <p:cNvSpPr/>
          <p:nvPr/>
        </p:nvSpPr>
        <p:spPr>
          <a:xfrm>
            <a:off x="12103100" y="2188845"/>
            <a:ext cx="5232400" cy="57150"/>
          </a:xfrm>
          <a:prstGeom prst="rect">
            <a:avLst/>
          </a:prstGeom>
          <a:solidFill>
            <a:srgbClr val="FA3585"/>
          </a:solidFill>
          <a:ln/>
        </p:spPr>
      </p:sp>
      <p:sp>
        <p:nvSpPr>
          <p:cNvPr id="26" name="Shape 24"/>
          <p:cNvSpPr/>
          <p:nvPr/>
        </p:nvSpPr>
        <p:spPr>
          <a:xfrm>
            <a:off x="12103100" y="2188845"/>
            <a:ext cx="9525" cy="2133600"/>
          </a:xfrm>
          <a:prstGeom prst="rect">
            <a:avLst/>
          </a:prstGeom>
          <a:solidFill>
            <a:srgbClr val="E6E8F0"/>
          </a:solidFill>
          <a:ln/>
        </p:spPr>
      </p:sp>
      <p:sp>
        <p:nvSpPr>
          <p:cNvPr id="27" name="Shape 25"/>
          <p:cNvSpPr/>
          <p:nvPr/>
        </p:nvSpPr>
        <p:spPr>
          <a:xfrm>
            <a:off x="17325974" y="2188845"/>
            <a:ext cx="9525" cy="2133600"/>
          </a:xfrm>
          <a:prstGeom prst="rect">
            <a:avLst/>
          </a:prstGeom>
          <a:solidFill>
            <a:srgbClr val="E6E8F0"/>
          </a:solidFill>
          <a:ln/>
        </p:spPr>
      </p:sp>
      <p:sp>
        <p:nvSpPr>
          <p:cNvPr id="28" name="Text 26"/>
          <p:cNvSpPr/>
          <p:nvPr/>
        </p:nvSpPr>
        <p:spPr>
          <a:xfrm>
            <a:off x="12379325" y="2512695"/>
            <a:ext cx="4820348" cy="342900"/>
          </a:xfrm>
          <a:prstGeom prst="rect">
            <a:avLst/>
          </a:prstGeom>
          <a:noFill/>
          <a:ln/>
        </p:spPr>
        <p:txBody>
          <a:bodyPr wrap="square" lIns="25400" tIns="25400" rIns="25400" bIns="25400" rtlCol="0" anchor="t">
            <a:normAutofit lnSpcReduction="10000"/>
          </a:bodyPr>
          <a:lstStyle/>
          <a:p>
            <a:pPr marL="0" indent="0" algn="l">
              <a:buNone/>
            </a:pPr>
            <a:r>
              <a:rPr lang="en-US" sz="1950" b="1" dirty="0">
                <a:solidFill>
                  <a:srgbClr val="172144"/>
                </a:solidFill>
                <a:latin typeface="Century Gothic" pitchFamily="34" charset="0"/>
                <a:ea typeface="Century Gothic" pitchFamily="34" charset="-122"/>
                <a:cs typeface="Century Gothic" pitchFamily="34" charset="-120"/>
              </a:rPr>
              <a:t>Multilingual support</a:t>
            </a:r>
            <a:endParaRPr lang="en-US" sz="1950" dirty="0"/>
          </a:p>
        </p:txBody>
      </p:sp>
      <p:sp>
        <p:nvSpPr>
          <p:cNvPr id="29" name="Text 27"/>
          <p:cNvSpPr/>
          <p:nvPr/>
        </p:nvSpPr>
        <p:spPr>
          <a:xfrm>
            <a:off x="12379325" y="2912745"/>
            <a:ext cx="482034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3A4368"/>
                </a:solidFill>
                <a:latin typeface="Calibri" pitchFamily="34" charset="0"/>
                <a:ea typeface="Calibri" pitchFamily="34" charset="-122"/>
                <a:cs typeface="Calibri" pitchFamily="34" charset="-120"/>
              </a:rPr>
              <a:t>Arabic and French decoders for the Algerian clinical context.</a:t>
            </a:r>
            <a:endParaRPr lang="en-US" sz="1500" dirty="0"/>
          </a:p>
        </p:txBody>
      </p:sp>
      <p:sp>
        <p:nvSpPr>
          <p:cNvPr id="30" name="Shape 28"/>
          <p:cNvSpPr/>
          <p:nvPr/>
        </p:nvSpPr>
        <p:spPr>
          <a:xfrm>
            <a:off x="962025" y="4093845"/>
            <a:ext cx="16383000" cy="4164330"/>
          </a:xfrm>
          <a:prstGeom prst="roundRect">
            <a:avLst>
              <a:gd name="adj" fmla="val 4965"/>
            </a:avLst>
          </a:prstGeom>
          <a:solidFill>
            <a:srgbClr val="F7F8FC"/>
          </a:solidFill>
          <a:ln w="9525">
            <a:solidFill>
              <a:srgbClr val="E6E8F0"/>
            </a:solidFill>
            <a:prstDash val="solid"/>
          </a:ln>
        </p:spPr>
      </p:sp>
      <p:pic>
        <p:nvPicPr>
          <p:cNvPr id="31" name="Image 0" descr="preencoded.png"/>
          <p:cNvPicPr>
            <a:picLocks noChangeAspect="1"/>
          </p:cNvPicPr>
          <p:nvPr/>
        </p:nvPicPr>
        <p:blipFill>
          <a:blip r:embed="rId3"/>
          <a:srcRect/>
          <a:stretch/>
        </p:blipFill>
        <p:spPr>
          <a:xfrm>
            <a:off x="5413455" y="4179571"/>
            <a:ext cx="7461090" cy="3899536"/>
          </a:xfrm>
          <a:prstGeom prst="rect">
            <a:avLst/>
          </a:prstGeom>
        </p:spPr>
      </p:pic>
      <p:sp>
        <p:nvSpPr>
          <p:cNvPr id="32" name="Text 29"/>
          <p:cNvSpPr/>
          <p:nvPr/>
        </p:nvSpPr>
        <p:spPr>
          <a:xfrm>
            <a:off x="762000" y="9725025"/>
            <a:ext cx="4536000" cy="257175"/>
          </a:xfrm>
          <a:prstGeom prst="rect">
            <a:avLst/>
          </a:prstGeom>
          <a:noFill/>
          <a:ln/>
        </p:spPr>
        <p:txBody>
          <a:bodyPr wrap="square" lIns="25400" tIns="25400" rIns="25400" bIns="25400" rtlCol="0" anchor="t">
            <a:normAutofit fontScale="92500"/>
          </a:bodyPr>
          <a:lstStyle/>
          <a:p>
            <a:pPr marL="0" indent="0" algn="l">
              <a:buNone/>
            </a:pPr>
            <a:r>
              <a:rPr lang="en-US" sz="1350" kern="0" spc="27" dirty="0">
                <a:solidFill>
                  <a:srgbClr val="7A8099"/>
                </a:solidFill>
                <a:latin typeface="Century Gothic" pitchFamily="34" charset="0"/>
                <a:ea typeface="Century Gothic" pitchFamily="34" charset="-122"/>
                <a:cs typeface="Century Gothic" pitchFamily="34" charset="-120"/>
              </a:rPr>
              <a:t>Medical Prescription OCR with TrOCR — ESI, Mai 2025</a:t>
            </a:r>
            <a:endParaRPr lang="en-US" sz="1350" dirty="0"/>
          </a:p>
        </p:txBody>
      </p:sp>
      <p:sp>
        <p:nvSpPr>
          <p:cNvPr id="33" name="Text 30"/>
          <p:cNvSpPr/>
          <p:nvPr/>
        </p:nvSpPr>
        <p:spPr>
          <a:xfrm>
            <a:off x="16934338" y="9725025"/>
            <a:ext cx="591661" cy="257175"/>
          </a:xfrm>
          <a:prstGeom prst="rect">
            <a:avLst/>
          </a:prstGeom>
          <a:noFill/>
          <a:ln/>
        </p:spPr>
        <p:txBody>
          <a:bodyPr wrap="square" lIns="25400" tIns="25400" rIns="25400" bIns="25400" rtlCol="0" anchor="t">
            <a:normAutofit fontScale="92500"/>
          </a:bodyPr>
          <a:lstStyle/>
          <a:p>
            <a:pPr marL="0" indent="0" algn="r">
              <a:buNone/>
            </a:pPr>
            <a:r>
              <a:rPr lang="en-US" sz="1350" b="1" kern="0" spc="27" dirty="0">
                <a:solidFill>
                  <a:srgbClr val="172144"/>
                </a:solidFill>
                <a:latin typeface="Century Gothic" pitchFamily="34" charset="0"/>
                <a:ea typeface="Century Gothic" pitchFamily="34" charset="-122"/>
                <a:cs typeface="Century Gothic" pitchFamily="34" charset="-120"/>
              </a:rPr>
              <a:t>32 </a:t>
            </a:r>
            <a:r>
              <a:rPr lang="en-US" sz="1350" kern="0" spc="27" dirty="0">
                <a:solidFill>
                  <a:srgbClr val="7A8099"/>
                </a:solidFill>
                <a:latin typeface="Century Gothic" pitchFamily="34" charset="0"/>
                <a:ea typeface="Century Gothic" pitchFamily="34" charset="-122"/>
                <a:cs typeface="Century Gothic" pitchFamily="34" charset="-120"/>
              </a:rPr>
              <a:t>/ 32</a:t>
            </a:r>
            <a:endParaRPr lang="en-US" sz="13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766">
        <p159:morph option="byObject"/>
      </p:transition>
    </mc:Choice>
    <mc:Fallback>
      <p:transition spd="slow" advTm="766">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76200"/>
          </a:xfrm>
          <a:prstGeom prst="rect">
            <a:avLst/>
          </a:prstGeom>
          <a:solidFill>
            <a:srgbClr val="3BC8F1">
              <a:alpha val="90000"/>
            </a:srgbClr>
          </a:solidFill>
          <a:ln/>
        </p:spPr>
      </p:sp>
      <p:sp>
        <p:nvSpPr>
          <p:cNvPr id="3" name="Shape 1"/>
          <p:cNvSpPr/>
          <p:nvPr/>
        </p:nvSpPr>
        <p:spPr>
          <a:xfrm>
            <a:off x="3657600" y="0"/>
            <a:ext cx="3657600" cy="76200"/>
          </a:xfrm>
          <a:prstGeom prst="rect">
            <a:avLst/>
          </a:prstGeom>
          <a:solidFill>
            <a:srgbClr val="6070FF">
              <a:alpha val="90000"/>
            </a:srgbClr>
          </a:solidFill>
          <a:ln/>
        </p:spPr>
      </p:sp>
      <p:sp>
        <p:nvSpPr>
          <p:cNvPr id="4" name="Shape 2"/>
          <p:cNvSpPr/>
          <p:nvPr/>
        </p:nvSpPr>
        <p:spPr>
          <a:xfrm>
            <a:off x="7315200" y="0"/>
            <a:ext cx="3657600" cy="76200"/>
          </a:xfrm>
          <a:prstGeom prst="rect">
            <a:avLst/>
          </a:prstGeom>
          <a:solidFill>
            <a:srgbClr val="FA3585">
              <a:alpha val="90000"/>
            </a:srgbClr>
          </a:solidFill>
          <a:ln/>
        </p:spPr>
      </p:sp>
      <p:sp>
        <p:nvSpPr>
          <p:cNvPr id="5" name="Shape 3"/>
          <p:cNvSpPr/>
          <p:nvPr/>
        </p:nvSpPr>
        <p:spPr>
          <a:xfrm>
            <a:off x="10972800" y="0"/>
            <a:ext cx="3657600" cy="76200"/>
          </a:xfrm>
          <a:prstGeom prst="rect">
            <a:avLst/>
          </a:prstGeom>
          <a:solidFill>
            <a:srgbClr val="FF8E38">
              <a:alpha val="90000"/>
            </a:srgbClr>
          </a:solidFill>
          <a:ln/>
        </p:spPr>
      </p:sp>
      <p:sp>
        <p:nvSpPr>
          <p:cNvPr id="6" name="Shape 4"/>
          <p:cNvSpPr/>
          <p:nvPr/>
        </p:nvSpPr>
        <p:spPr>
          <a:xfrm>
            <a:off x="14630400" y="0"/>
            <a:ext cx="3657600" cy="76200"/>
          </a:xfrm>
          <a:prstGeom prst="rect">
            <a:avLst/>
          </a:prstGeom>
          <a:solidFill>
            <a:srgbClr val="F7C83B">
              <a:alpha val="90000"/>
            </a:srgbClr>
          </a:solidFill>
          <a:ln/>
        </p:spPr>
      </p:sp>
      <p:sp>
        <p:nvSpPr>
          <p:cNvPr id="7" name="Text 5"/>
          <p:cNvSpPr/>
          <p:nvPr/>
        </p:nvSpPr>
        <p:spPr>
          <a:xfrm>
            <a:off x="1143000" y="3338513"/>
            <a:ext cx="16482060" cy="295275"/>
          </a:xfrm>
          <a:prstGeom prst="rect">
            <a:avLst/>
          </a:prstGeom>
          <a:noFill/>
          <a:ln/>
        </p:spPr>
        <p:txBody>
          <a:bodyPr wrap="square" lIns="25400" tIns="25400" rIns="25400" bIns="25400" rtlCol="0" anchor="t">
            <a:normAutofit lnSpcReduction="10000"/>
          </a:bodyPr>
          <a:lstStyle/>
          <a:p>
            <a:pPr marL="0" indent="0" algn="l">
              <a:buNone/>
            </a:pPr>
            <a:r>
              <a:rPr lang="en-US" sz="1650" b="1" kern="0" spc="297" dirty="0">
                <a:solidFill>
                  <a:srgbClr val="3BC8F1"/>
                </a:solidFill>
                <a:latin typeface="Century Gothic" pitchFamily="34" charset="0"/>
                <a:ea typeface="Century Gothic" pitchFamily="34" charset="-122"/>
                <a:cs typeface="Century Gothic" pitchFamily="34" charset="-120"/>
              </a:rPr>
              <a:t>THANK YOU</a:t>
            </a:r>
            <a:endParaRPr lang="en-US" sz="1650" dirty="0"/>
          </a:p>
        </p:txBody>
      </p:sp>
      <p:sp>
        <p:nvSpPr>
          <p:cNvPr id="8" name="Text 6"/>
          <p:cNvSpPr/>
          <p:nvPr/>
        </p:nvSpPr>
        <p:spPr>
          <a:xfrm>
            <a:off x="1143000" y="3824288"/>
            <a:ext cx="14716125" cy="123825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9000" b="1" kern="0" spc="-90" dirty="0">
                <a:solidFill>
                  <a:srgbClr val="454A5C"/>
                </a:solidFill>
                <a:latin typeface="Century Gothic" pitchFamily="34" charset="0"/>
                <a:ea typeface="Century Gothic" pitchFamily="34" charset="-122"/>
                <a:cs typeface="Century Gothic" pitchFamily="34" charset="-120"/>
              </a:rPr>
              <a:t>Questions?</a:t>
            </a:r>
            <a:endParaRPr lang="en-US" sz="9000" dirty="0">
              <a:solidFill>
                <a:srgbClr val="454A5C"/>
              </a:solidFill>
            </a:endParaRPr>
          </a:p>
        </p:txBody>
      </p:sp>
      <p:sp>
        <p:nvSpPr>
          <p:cNvPr id="9" name="Text 7"/>
          <p:cNvSpPr/>
          <p:nvPr/>
        </p:nvSpPr>
        <p:spPr>
          <a:xfrm>
            <a:off x="1143000" y="5595938"/>
            <a:ext cx="13735050"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3BC8F1"/>
                </a:solidFill>
                <a:latin typeface="Century Gothic" pitchFamily="34" charset="0"/>
                <a:ea typeface="Century Gothic" pitchFamily="34" charset="-122"/>
                <a:cs typeface="Century Gothic" pitchFamily="34" charset="-120"/>
              </a:rPr>
              <a:t>Repository </a:t>
            </a:r>
            <a:r>
              <a:rPr lang="en-US" sz="2250" dirty="0">
                <a:solidFill>
                  <a:srgbClr val="777A86"/>
                </a:solidFill>
                <a:latin typeface="Century Gothic" pitchFamily="34" charset="0"/>
                <a:ea typeface="Century Gothic" pitchFamily="34" charset="-122"/>
                <a:cs typeface="Century Gothic" pitchFamily="34" charset="-120"/>
              </a:rPr>
              <a:t>github.com/lokmane-bnh/prescription-ocr</a:t>
            </a:r>
            <a:endParaRPr lang="en-US" sz="2250" dirty="0">
              <a:solidFill>
                <a:srgbClr val="777A86"/>
              </a:solidFill>
            </a:endParaRPr>
          </a:p>
        </p:txBody>
      </p:sp>
      <p:sp>
        <p:nvSpPr>
          <p:cNvPr id="10" name="Text 8"/>
          <p:cNvSpPr/>
          <p:nvPr/>
        </p:nvSpPr>
        <p:spPr>
          <a:xfrm>
            <a:off x="1143000" y="6091238"/>
            <a:ext cx="13735050"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3BC8F1"/>
                </a:solidFill>
                <a:latin typeface="Century Gothic" pitchFamily="34" charset="0"/>
                <a:ea typeface="Century Gothic" pitchFamily="34" charset="-122"/>
                <a:cs typeface="Century Gothic" pitchFamily="34" charset="-120"/>
              </a:rPr>
              <a:t>Hub checkpoint </a:t>
            </a:r>
            <a:r>
              <a:rPr lang="en-US" sz="2250" dirty="0">
                <a:solidFill>
                  <a:srgbClr val="777A86"/>
                </a:solidFill>
                <a:latin typeface="Century Gothic" pitchFamily="34" charset="0"/>
                <a:ea typeface="Century Gothic" pitchFamily="34" charset="-122"/>
                <a:cs typeface="Century Gothic" pitchFamily="34" charset="-120"/>
              </a:rPr>
              <a:t>huggingface.co/lokmane-bnh/trocr-prescriptions</a:t>
            </a:r>
            <a:endParaRPr lang="en-US" sz="2250" dirty="0">
              <a:solidFill>
                <a:srgbClr val="777A86"/>
              </a:solidFill>
            </a:endParaRPr>
          </a:p>
        </p:txBody>
      </p:sp>
      <p:sp>
        <p:nvSpPr>
          <p:cNvPr id="11" name="Text 9"/>
          <p:cNvSpPr/>
          <p:nvPr/>
        </p:nvSpPr>
        <p:spPr>
          <a:xfrm>
            <a:off x="1143000" y="6586538"/>
            <a:ext cx="13735050"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3BC8F1"/>
                </a:solidFill>
                <a:latin typeface="Century Gothic" pitchFamily="34" charset="0"/>
                <a:ea typeface="Century Gothic" pitchFamily="34" charset="-122"/>
                <a:cs typeface="Century Gothic" pitchFamily="34" charset="-120"/>
              </a:rPr>
              <a:t>Contact </a:t>
            </a:r>
            <a:r>
              <a:rPr lang="en-US" sz="2250" dirty="0">
                <a:solidFill>
                  <a:srgbClr val="777A86"/>
                </a:solidFill>
                <a:latin typeface="Century Gothic" pitchFamily="34" charset="0"/>
                <a:ea typeface="Century Gothic" pitchFamily="34" charset="-122"/>
                <a:cs typeface="Century Gothic" pitchFamily="34" charset="-120"/>
              </a:rPr>
              <a:t>lb_benhammadi@esi.dz</a:t>
            </a:r>
            <a:endParaRPr lang="en-US" sz="2250" dirty="0">
              <a:solidFill>
                <a:srgbClr val="777A86"/>
              </a:solidFill>
            </a:endParaRPr>
          </a:p>
        </p:txBody>
      </p:sp>
      <p:sp>
        <p:nvSpPr>
          <p:cNvPr id="12" name="Text 10"/>
          <p:cNvSpPr/>
          <p:nvPr/>
        </p:nvSpPr>
        <p:spPr>
          <a:xfrm>
            <a:off x="1143000" y="8439150"/>
            <a:ext cx="3558196" cy="400050"/>
          </a:xfrm>
          <a:prstGeom prst="rect">
            <a:avLst/>
          </a:prstGeom>
          <a:noFill/>
          <a:ln/>
        </p:spPr>
        <p:txBody>
          <a:bodyPr wrap="square" lIns="25400" tIns="25400" rIns="25400" bIns="25400" rtlCol="0" anchor="t">
            <a:normAutofit/>
          </a:bodyPr>
          <a:lstStyle/>
          <a:p>
            <a:pPr marL="0" indent="0" algn="l">
              <a:buNone/>
            </a:pPr>
            <a:r>
              <a:rPr lang="en-US" sz="2250" b="1" dirty="0">
                <a:solidFill>
                  <a:srgbClr val="FFFFFF"/>
                </a:solidFill>
                <a:latin typeface="Century Gothic" pitchFamily="34" charset="0"/>
                <a:ea typeface="Century Gothic" pitchFamily="34" charset="-122"/>
                <a:cs typeface="Century Gothic" pitchFamily="34" charset="-120"/>
              </a:rPr>
              <a:t>Benhammadi Lokmane</a:t>
            </a:r>
            <a:endParaRPr lang="en-US" sz="2250" dirty="0"/>
          </a:p>
        </p:txBody>
      </p:sp>
      <p:sp>
        <p:nvSpPr>
          <p:cNvPr id="13" name="Text 11"/>
          <p:cNvSpPr/>
          <p:nvPr/>
        </p:nvSpPr>
        <p:spPr>
          <a:xfrm>
            <a:off x="1143000" y="8858250"/>
            <a:ext cx="3558196" cy="323850"/>
          </a:xfrm>
          <a:prstGeom prst="rect">
            <a:avLst/>
          </a:prstGeom>
          <a:noFill/>
          <a:ln/>
        </p:spPr>
        <p:txBody>
          <a:bodyPr wrap="square" lIns="0" tIns="0" rIns="0" bIns="0" rtlCol="0" anchor="t">
            <a:normAutofit fontScale="85000" lnSpcReduction="10000"/>
          </a:bodyPr>
          <a:lstStyle/>
          <a:p>
            <a:pPr marL="0" indent="0" algn="l">
              <a:buNone/>
            </a:pPr>
            <a:r>
              <a:rPr lang="en-US" sz="1800" dirty="0">
                <a:solidFill>
                  <a:srgbClr val="777A86"/>
                </a:solidFill>
                <a:latin typeface="Century Gothic" pitchFamily="34" charset="0"/>
                <a:ea typeface="Century Gothic" pitchFamily="34" charset="-122"/>
                <a:cs typeface="Century Gothic" pitchFamily="34" charset="-120"/>
              </a:rPr>
              <a:t>École Supérieure d'Informatique (ESI)</a:t>
            </a:r>
            <a:endParaRPr lang="en-US" sz="1800" dirty="0">
              <a:solidFill>
                <a:srgbClr val="777A86"/>
              </a:solidFill>
            </a:endParaRPr>
          </a:p>
        </p:txBody>
      </p:sp>
      <p:sp>
        <p:nvSpPr>
          <p:cNvPr id="14" name="Text 12"/>
          <p:cNvSpPr/>
          <p:nvPr/>
        </p:nvSpPr>
        <p:spPr>
          <a:xfrm>
            <a:off x="15715773" y="8886825"/>
            <a:ext cx="1429226" cy="295275"/>
          </a:xfrm>
          <a:prstGeom prst="rect">
            <a:avLst/>
          </a:prstGeom>
          <a:noFill/>
          <a:ln/>
        </p:spPr>
        <p:txBody>
          <a:bodyPr wrap="square" lIns="25400" tIns="25400" rIns="25400" bIns="25400" rtlCol="0" anchor="t">
            <a:normAutofit lnSpcReduction="10000"/>
          </a:bodyPr>
          <a:lstStyle/>
          <a:p>
            <a:pPr marL="0" indent="0" algn="r">
              <a:buNone/>
            </a:pPr>
            <a:r>
              <a:rPr lang="en-US" sz="1650" dirty="0">
                <a:solidFill>
                  <a:srgbClr val="777A86"/>
                </a:solidFill>
                <a:latin typeface="Century Gothic" pitchFamily="34" charset="0"/>
                <a:ea typeface="Century Gothic" pitchFamily="34" charset="-122"/>
                <a:cs typeface="Century Gothic" pitchFamily="34" charset="-120"/>
              </a:rPr>
              <a:t>Mai 2025</a:t>
            </a:r>
            <a:endParaRPr lang="en-US" sz="1650" dirty="0">
              <a:solidFill>
                <a:srgbClr val="777A86"/>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638">
        <p159:morph option="byObject"/>
      </p:transition>
    </mc:Choice>
    <mc:Fallback>
      <p:transition spd="slow" advTm="638">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TotalTime>
  <Words>4464</Words>
  <Application>Microsoft Office PowerPoint</Application>
  <PresentationFormat>Custom</PresentationFormat>
  <Paragraphs>553</Paragraphs>
  <Slides>33</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Caveat</vt:lpstr>
      <vt:lpstr>Century Gothic</vt:lpstr>
      <vt:lpstr>Consolas</vt:lpstr>
      <vt:lpstr>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Lokmane Benhammadi</cp:lastModifiedBy>
  <cp:revision>27</cp:revision>
  <dcterms:created xsi:type="dcterms:W3CDTF">2026-05-03T09:49:36Z</dcterms:created>
  <dcterms:modified xsi:type="dcterms:W3CDTF">2026-05-03T12:05:15Z</dcterms:modified>
</cp:coreProperties>
</file>